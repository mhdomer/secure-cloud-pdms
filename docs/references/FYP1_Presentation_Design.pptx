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panel members and supervisor. My name is Mohammed Moqbel Ali, matric number A21EC0000, a final-year Bachelor of Computer Science in Computer Network and Security student under the supervision of Mr. Johan Mohamad Sharif. Today I will present the analysis and design of my Final Year Project Part 1, titled the United Arab Towers Contracting Company Web Application. The presentation will take roughly ten minutes, after which I welcome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Across modern industries, web applications have become the standard medium for service delivery and client engagement. Yet many small and medium contracting companies in the construction sector still depend on manual channels. The client of this project, United Arab Towers Contracting Company, runs all its client interaction through phone calls and WhatsApp messages, and has no digital presence to showcase its portfolio. The project addresses this gap with a lightweight, cloud-based web application tailored to a SME contractor.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Stakeholder interviews and workflow observation surfaced five concrete problems. Three are operational: clients send unstructured requests that are missing key details, no platform exists to display the company's portfolio, and repetitive enquiries about services and contact details all reach an administrator manually. Two are administrative: there is no central record of past requests, and project listings are managed informally. Two of these problems are rated high impact because they directly affect every client interaction. These five problems anchor every functional requirement in Chapter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aim is to develop a web application that improves client communication, organises service requests, and provides a more efficient platform for project and content management at UATCC. Three measurable objectives support this aim. First, build the project and service showcase together with a structured submission form, replacing informal WhatsApp messages. Second, integrate that form with WhatsApp through pre-filled messages to reduce follow-up rounds. Third, ship a rule-based chatbot and admin dashboard so routine enquiries and content updates no longer consume administrator time. Each objective traces directly into the functional requirements in Chapter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scope is bounded by two user roles. Clients are the unauthenticated public side. They can browse projects and services, submit a structured service request, hand over to WhatsApp, and ask the chatbot. Administrators are the authenticated side, with secure login through Firebase Authentication, full CRUD over projects, and management of website content. The system is built with React on the frontend and Firebase for authentication, Firestore, and hosting, with WhatsApp as the communication channel. Out of scope are payment processing, multi-language UI, and a native mobile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commercial construction-management platforms were studied — Houzz Pro, Procore, and Buildertrend. All three handle project showcase, request forms, dashboards, and cloud storage well, but they are designed for large enterprises. None of them integrates WhatsApp as the primary communication channel, none includes a rule-based chatbot, and none is sized for a SME with limited technical staff or budget. The research gap is therefore the combination of structured online request capture with WhatsApp messaging, a rule-based chatbot, and a SME-appropriate admin platform — all delivered as a single lightweight system. The proposed system is positioned in that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Agile was chosen because the project consists of several relatively independent components — the portfolio, the request form, the WhatsApp integration, the chatbot, and the admin dashboard — and an iterative approach lets each one be developed, reviewed, and refined incrementally. The five Agile phases used are Requirements, Design, Development, Testing, and Deployment. PSM 1 covers the first two and a small slice of the third; PSM 2 will complete development, testing, and deployment via Firebase Hosting.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is a client-server, cloud-backed Single Page Application. The browser runs the React frontend, which talks to three Firebase services: Authentication for admin login with JWT, Firestore as the NoSQL document store, and Hosting which serves the SPA over HTTPS through a global CDN. A separate WhatsApp branch carries pre-filled wa.me messages from the request form straight to the company's WhatsApp Business number. Firestore Security Rules and JWT-protected routes enforce role separation independently of the frontend, so even a tampered client cannot bypass write controls.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left is the use-case view. Two actors — Client and Administrator — connect to nine use cases, with formal include and extend relationships. For example, Submit Service Request includes Validate Input and Generate WhatsApp Message, and Manage Projects includes Admin Login. On the right is the ERD. Three Firestore collections are used: admins, projects, and requests. The admin entity intentionally has no password attribute because Firebase Authentication handles credential storage outside Firestore. The projects collection is publicly readable but admin-only writable. The requests collection accepts public writes but is admin-only readable — a deliberate asymmetry enforced by Firestore Security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features make up the system. The project showcase serves public read traffic from Firestore. The structured request form replaces unstructured WhatsApp text with a validated multi-field submission. The WhatsApp redirect packs that submission into a pre-filled wa.me message — clients land in WhatsApp with the company already addressed and the request already typed. The rule-based chatbot answers six common intents with a WhatsApp fallback. The admin dashboard provides full CRUD on projects and visibility into stored requests. Underpinning everything is the security layer: HTTPS-only traffic, JWT-protected admin routes, Firestore Security Rules, and brute-force rate limiting.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wireframes were produced in Appendix C — Homepage, Services, Service Request, Admin Analytics, Admin Project Management, and the chatbot in both collapsed and expanded states. The previews on this slide are stylised representations: they show the page anchors, navigation, and primary controls that the wireframes pin down. Each is the blueprint a PSM 2 React implementation will follow.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evaluation plan has three layers. Functional testing covers fourteen test cases across the public and admin features, with both positive and negative scenarios — for example TC04 verifies that an empty required field is rejected, and TC10 verifies brute-force lockout. User acceptance testing involves the company representative plus a minimum of five client users, and the pass criterion is eighty percent task completion. Performance testing measures six criteria including a two-second homepage load on a ten Mbps connection, a five-hundred-millisecond Firestore read, and a one-second chatbot response. The targets are measurable and tied directly to the non-functional requirements.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PSM 1 delivered all design artefacts: stakeholder interview, problem catalogue, full traceability matrix mapping problems to functional requirements, system architecture, ten functional requirements, twelve measurable non-functional requirements, ERD, use case diagram with include and extend relationships, six wireframes, ten API specifications, security design including Firestore rules, and the full evaluation plan. PSM 2 will implement the React frontend, wire up Firebase Authentication and Firestore with the security rules, deliver the request form with WhatsApp integration and the rule-based chatbot, execute the test plan, and deploy to Firebase Hosting.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attention. I would be glad to take any questions on the requirements, the design, the security model, or the evaluation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287000" cy="10287000"/>
          </a:xfrm>
          <a:prstGeom prst="rect">
            <a:avLst/>
          </a:prstGeom>
          <a:solidFill>
            <a:srgbClr val="74121D"/>
          </a:solidFill>
          <a:ln/>
        </p:spPr>
      </p:sp>
      <p:pic>
        <p:nvPicPr>
          <p:cNvPr id="3" name="Image 0" descr="preencoded.png">    </p:cNvPr>
          <p:cNvPicPr>
            <a:picLocks noChangeAspect="1"/>
          </p:cNvPicPr>
          <p:nvPr/>
        </p:nvPicPr>
        <p:blipFill>
          <a:blip r:embed="rId1"/>
          <a:stretch>
            <a:fillRect/>
          </a:stretch>
        </p:blipFill>
        <p:spPr>
          <a:xfrm>
            <a:off x="857250" y="857250"/>
            <a:ext cx="2000250" cy="674370"/>
          </a:xfrm>
          <a:prstGeom prst="rect">
            <a:avLst/>
          </a:prstGeom>
        </p:spPr>
      </p:pic>
      <p:sp>
        <p:nvSpPr>
          <p:cNvPr id="4" name="Text 1"/>
          <p:cNvSpPr/>
          <p:nvPr/>
        </p:nvSpPr>
        <p:spPr>
          <a:xfrm>
            <a:off x="857250" y="1703070"/>
            <a:ext cx="9429750" cy="297180"/>
          </a:xfrm>
          <a:prstGeom prst="rect">
            <a:avLst/>
          </a:prstGeom>
          <a:noFill/>
          <a:ln/>
        </p:spPr>
        <p:txBody>
          <a:bodyPr wrap="square" lIns="25400" tIns="25400" rIns="25400" bIns="25400" rtlCol="0" anchor="t">
            <a:normAutofit/>
          </a:bodyPr>
          <a:lstStyle/>
          <a:p>
            <a:pPr algn="l" indent="0" marL="0">
              <a:buNone/>
            </a:pPr>
            <a:r>
              <a:rPr lang="en-US" sz="1800" spc="300" kern="0" dirty="0">
                <a:solidFill>
                  <a:srgbClr val="E7D7C1"/>
                </a:solidFill>
                <a:latin typeface="Arial" pitchFamily="34" charset="0"/>
                <a:ea typeface="Arial" pitchFamily="34" charset="-122"/>
                <a:cs typeface="Arial" pitchFamily="34" charset="-120"/>
              </a:rPr>
              <a:t>FINAL YEAR PROJECT · PSM 1</a:t>
            </a:r>
            <a:endParaRPr lang="en-US" sz="1800" dirty="0"/>
          </a:p>
        </p:txBody>
      </p:sp>
      <p:sp>
        <p:nvSpPr>
          <p:cNvPr id="5" name="Text 2"/>
          <p:cNvSpPr/>
          <p:nvPr/>
        </p:nvSpPr>
        <p:spPr>
          <a:xfrm>
            <a:off x="857250" y="4152424"/>
            <a:ext cx="9429750" cy="297180"/>
          </a:xfrm>
          <a:prstGeom prst="rect">
            <a:avLst/>
          </a:prstGeom>
          <a:noFill/>
          <a:ln/>
        </p:spPr>
        <p:txBody>
          <a:bodyPr wrap="square" lIns="25400" tIns="25400" rIns="25400" bIns="25400" rtlCol="0" anchor="t">
            <a:normAutofit/>
          </a:bodyPr>
          <a:lstStyle/>
          <a:p>
            <a:pPr algn="l" indent="0" marL="0">
              <a:buNone/>
            </a:pPr>
            <a:r>
              <a:rPr lang="en-US" sz="1800" spc="375" kern="0" dirty="0">
                <a:solidFill>
                  <a:srgbClr val="E7D7C1"/>
                </a:solidFill>
                <a:latin typeface="Arial" pitchFamily="34" charset="0"/>
                <a:ea typeface="Arial" pitchFamily="34" charset="-122"/>
                <a:cs typeface="Arial" pitchFamily="34" charset="-120"/>
              </a:rPr>
              <a:t>FACULTY OF COMPUTING</a:t>
            </a:r>
            <a:endParaRPr lang="en-US" sz="1800" dirty="0"/>
          </a:p>
        </p:txBody>
      </p:sp>
      <p:sp>
        <p:nvSpPr>
          <p:cNvPr id="6" name="Text 3"/>
          <p:cNvSpPr/>
          <p:nvPr/>
        </p:nvSpPr>
        <p:spPr>
          <a:xfrm>
            <a:off x="857250" y="4640104"/>
            <a:ext cx="8633460" cy="1951196"/>
          </a:xfrm>
          <a:prstGeom prst="rect">
            <a:avLst/>
          </a:prstGeom>
          <a:noFill/>
          <a:ln/>
        </p:spPr>
        <p:txBody>
          <a:bodyPr wrap="square" lIns="25400" tIns="25400" rIns="25400" bIns="25400" rtlCol="0" anchor="t">
            <a:normAutofit/>
          </a:bodyPr>
          <a:lstStyle/>
          <a:p>
            <a:pPr algn="l" indent="0" marL="0">
              <a:lnSpc>
                <a:spcPct val="108000"/>
              </a:lnSpc>
              <a:buNone/>
            </a:pPr>
            <a:r>
              <a:rPr lang="en-US" sz="4650" b="1" spc="-37" kern="0" dirty="0">
                <a:solidFill>
                  <a:srgbClr val="FFFFFF"/>
                </a:solidFill>
                <a:latin typeface="Arial" pitchFamily="34" charset="0"/>
                <a:ea typeface="Arial" pitchFamily="34" charset="-122"/>
                <a:cs typeface="Arial" pitchFamily="34" charset="-120"/>
              </a:rPr>
              <a:t>United Arab Towers Contracting Company Web Application</a:t>
            </a:r>
            <a:endParaRPr lang="en-US" sz="4650" dirty="0"/>
          </a:p>
        </p:txBody>
      </p:sp>
      <p:sp>
        <p:nvSpPr>
          <p:cNvPr id="7" name="Shape 4"/>
          <p:cNvSpPr/>
          <p:nvPr/>
        </p:nvSpPr>
        <p:spPr>
          <a:xfrm>
            <a:off x="857250" y="6896100"/>
            <a:ext cx="1143000" cy="57150"/>
          </a:xfrm>
          <a:prstGeom prst="roundRect">
            <a:avLst>
              <a:gd name="adj" fmla="val 50000"/>
            </a:avLst>
          </a:prstGeom>
          <a:solidFill>
            <a:srgbClr val="B19C7D"/>
          </a:solidFill>
          <a:ln/>
        </p:spPr>
      </p:sp>
      <p:sp>
        <p:nvSpPr>
          <p:cNvPr id="8" name="Text 5"/>
          <p:cNvSpPr/>
          <p:nvPr/>
        </p:nvSpPr>
        <p:spPr>
          <a:xfrm>
            <a:off x="857250" y="7258050"/>
            <a:ext cx="1481780" cy="297180"/>
          </a:xfrm>
          <a:prstGeom prst="rect">
            <a:avLst/>
          </a:prstGeom>
          <a:noFill/>
          <a:ln/>
        </p:spPr>
        <p:txBody>
          <a:bodyPr wrap="square" lIns="25400" tIns="25400" rIns="25400" bIns="25400" rtlCol="0" anchor="t">
            <a:normAutofit/>
          </a:bodyPr>
          <a:lstStyle/>
          <a:p>
            <a:pPr algn="l" indent="0" marL="0">
              <a:buNone/>
            </a:pPr>
            <a:r>
              <a:rPr lang="en-US" sz="1800" dirty="0">
                <a:solidFill>
                  <a:srgbClr val="E7D7C1"/>
                </a:solidFill>
                <a:latin typeface="Arial" pitchFamily="34" charset="0"/>
                <a:ea typeface="Arial" pitchFamily="34" charset="-122"/>
                <a:cs typeface="Arial" pitchFamily="34" charset="-120"/>
              </a:rPr>
              <a:t>Presented by</a:t>
            </a:r>
            <a:endParaRPr lang="en-US" sz="1800" dirty="0"/>
          </a:p>
        </p:txBody>
      </p:sp>
      <p:sp>
        <p:nvSpPr>
          <p:cNvPr id="9" name="Text 6"/>
          <p:cNvSpPr/>
          <p:nvPr/>
        </p:nvSpPr>
        <p:spPr>
          <a:xfrm>
            <a:off x="2490073" y="7258050"/>
            <a:ext cx="7633645" cy="297180"/>
          </a:xfrm>
          <a:prstGeom prst="rect">
            <a:avLst/>
          </a:prstGeom>
          <a:noFill/>
          <a:ln/>
        </p:spPr>
        <p:txBody>
          <a:bodyPr wrap="square" lIns="25400" tIns="25400" rIns="25400" bIns="25400" rtlCol="0" anchor="t">
            <a:normAutofit/>
          </a:bodyPr>
          <a:lstStyle/>
          <a:p>
            <a:pPr algn="l" indent="0" marL="0">
              <a:buNone/>
            </a:pPr>
            <a:r>
              <a:rPr lang="en-US" sz="1800" b="1" dirty="0">
                <a:solidFill>
                  <a:srgbClr val="FFFFFF"/>
                </a:solidFill>
                <a:latin typeface="Arial" pitchFamily="34" charset="0"/>
                <a:ea typeface="Arial" pitchFamily="34" charset="-122"/>
                <a:cs typeface="Arial" pitchFamily="34" charset="-120"/>
              </a:rPr>
              <a:t>Mohammed Moqbel Ali</a:t>
            </a:r>
            <a:endParaRPr lang="en-US" sz="1800" dirty="0"/>
          </a:p>
        </p:txBody>
      </p:sp>
      <p:sp>
        <p:nvSpPr>
          <p:cNvPr id="10" name="Text 7"/>
          <p:cNvSpPr/>
          <p:nvPr/>
        </p:nvSpPr>
        <p:spPr>
          <a:xfrm>
            <a:off x="857250" y="7650480"/>
            <a:ext cx="1481780" cy="297180"/>
          </a:xfrm>
          <a:prstGeom prst="rect">
            <a:avLst/>
          </a:prstGeom>
          <a:noFill/>
          <a:ln/>
        </p:spPr>
        <p:txBody>
          <a:bodyPr wrap="square" lIns="25400" tIns="25400" rIns="25400" bIns="25400" rtlCol="0" anchor="t">
            <a:normAutofit/>
          </a:bodyPr>
          <a:lstStyle/>
          <a:p>
            <a:pPr algn="l" indent="0" marL="0">
              <a:buNone/>
            </a:pPr>
            <a:r>
              <a:rPr lang="en-US" sz="1800" dirty="0">
                <a:solidFill>
                  <a:srgbClr val="E7D7C1"/>
                </a:solidFill>
                <a:latin typeface="Arial" pitchFamily="34" charset="0"/>
                <a:ea typeface="Arial" pitchFamily="34" charset="-122"/>
                <a:cs typeface="Arial" pitchFamily="34" charset="-120"/>
              </a:rPr>
              <a:t>Programme</a:t>
            </a:r>
            <a:endParaRPr lang="en-US" sz="1800" dirty="0"/>
          </a:p>
        </p:txBody>
      </p:sp>
      <p:sp>
        <p:nvSpPr>
          <p:cNvPr id="11" name="Text 8"/>
          <p:cNvSpPr/>
          <p:nvPr/>
        </p:nvSpPr>
        <p:spPr>
          <a:xfrm>
            <a:off x="2490073" y="7650480"/>
            <a:ext cx="7633645" cy="297180"/>
          </a:xfrm>
          <a:prstGeom prst="rect">
            <a:avLst/>
          </a:prstGeom>
          <a:noFill/>
          <a:ln/>
        </p:spPr>
        <p:txBody>
          <a:bodyPr wrap="square" lIns="25400" tIns="25400" rIns="25400" bIns="25400" rtlCol="0" anchor="t">
            <a:normAutofit/>
          </a:bodyPr>
          <a:lstStyle/>
          <a:p>
            <a:pPr algn="l" indent="0" marL="0">
              <a:buNone/>
            </a:pPr>
            <a:r>
              <a:rPr lang="en-US" sz="1800" dirty="0">
                <a:solidFill>
                  <a:srgbClr val="FFFFFF"/>
                </a:solidFill>
                <a:latin typeface="Arial" pitchFamily="34" charset="0"/>
                <a:ea typeface="Arial" pitchFamily="34" charset="-122"/>
                <a:cs typeface="Arial" pitchFamily="34" charset="-120"/>
              </a:rPr>
              <a:t>BSc Computer Network and Security</a:t>
            </a:r>
            <a:endParaRPr lang="en-US" sz="1800" dirty="0"/>
          </a:p>
        </p:txBody>
      </p:sp>
      <p:sp>
        <p:nvSpPr>
          <p:cNvPr id="12" name="Text 9"/>
          <p:cNvSpPr/>
          <p:nvPr/>
        </p:nvSpPr>
        <p:spPr>
          <a:xfrm>
            <a:off x="857250" y="8042910"/>
            <a:ext cx="1481780" cy="297180"/>
          </a:xfrm>
          <a:prstGeom prst="rect">
            <a:avLst/>
          </a:prstGeom>
          <a:noFill/>
          <a:ln/>
        </p:spPr>
        <p:txBody>
          <a:bodyPr wrap="square" lIns="25400" tIns="25400" rIns="25400" bIns="25400" rtlCol="0" anchor="t">
            <a:normAutofit/>
          </a:bodyPr>
          <a:lstStyle/>
          <a:p>
            <a:pPr algn="l" indent="0" marL="0">
              <a:buNone/>
            </a:pPr>
            <a:r>
              <a:rPr lang="en-US" sz="1800" dirty="0">
                <a:solidFill>
                  <a:srgbClr val="E7D7C1"/>
                </a:solidFill>
                <a:latin typeface="Arial" pitchFamily="34" charset="0"/>
                <a:ea typeface="Arial" pitchFamily="34" charset="-122"/>
                <a:cs typeface="Arial" pitchFamily="34" charset="-120"/>
              </a:rPr>
              <a:t>Supervisor</a:t>
            </a:r>
            <a:endParaRPr lang="en-US" sz="1800" dirty="0"/>
          </a:p>
        </p:txBody>
      </p:sp>
      <p:sp>
        <p:nvSpPr>
          <p:cNvPr id="13" name="Text 10"/>
          <p:cNvSpPr/>
          <p:nvPr/>
        </p:nvSpPr>
        <p:spPr>
          <a:xfrm>
            <a:off x="2490073" y="8042910"/>
            <a:ext cx="7633645" cy="297180"/>
          </a:xfrm>
          <a:prstGeom prst="rect">
            <a:avLst/>
          </a:prstGeom>
          <a:noFill/>
          <a:ln/>
        </p:spPr>
        <p:txBody>
          <a:bodyPr wrap="square" lIns="25400" tIns="25400" rIns="25400" bIns="25400" rtlCol="0" anchor="t">
            <a:normAutofit/>
          </a:bodyPr>
          <a:lstStyle/>
          <a:p>
            <a:pPr algn="l" indent="0" marL="0">
              <a:buNone/>
            </a:pPr>
            <a:r>
              <a:rPr lang="en-US" sz="1800" dirty="0">
                <a:solidFill>
                  <a:srgbClr val="FFFFFF"/>
                </a:solidFill>
                <a:latin typeface="Arial" pitchFamily="34" charset="0"/>
                <a:ea typeface="Arial" pitchFamily="34" charset="-122"/>
                <a:cs typeface="Arial" pitchFamily="34" charset="-120"/>
              </a:rPr>
              <a:t>Mr. Johan Mohamad Sharif</a:t>
            </a:r>
            <a:endParaRPr lang="en-US" sz="1800" dirty="0"/>
          </a:p>
        </p:txBody>
      </p:sp>
      <p:sp>
        <p:nvSpPr>
          <p:cNvPr id="14" name="Text 11"/>
          <p:cNvSpPr/>
          <p:nvPr/>
        </p:nvSpPr>
        <p:spPr>
          <a:xfrm>
            <a:off x="857250" y="8435340"/>
            <a:ext cx="1481780" cy="297180"/>
          </a:xfrm>
          <a:prstGeom prst="rect">
            <a:avLst/>
          </a:prstGeom>
          <a:noFill/>
          <a:ln/>
        </p:spPr>
        <p:txBody>
          <a:bodyPr wrap="square" lIns="25400" tIns="25400" rIns="25400" bIns="25400" rtlCol="0" anchor="t">
            <a:normAutofit/>
          </a:bodyPr>
          <a:lstStyle/>
          <a:p>
            <a:pPr algn="l" indent="0" marL="0">
              <a:buNone/>
            </a:pPr>
            <a:r>
              <a:rPr lang="en-US" sz="1800" dirty="0">
                <a:solidFill>
                  <a:srgbClr val="E7D7C1"/>
                </a:solidFill>
                <a:latin typeface="Arial" pitchFamily="34" charset="0"/>
                <a:ea typeface="Arial" pitchFamily="34" charset="-122"/>
                <a:cs typeface="Arial" pitchFamily="34" charset="-120"/>
              </a:rPr>
              <a:t>Date</a:t>
            </a:r>
            <a:endParaRPr lang="en-US" sz="1800" dirty="0"/>
          </a:p>
        </p:txBody>
      </p:sp>
      <p:sp>
        <p:nvSpPr>
          <p:cNvPr id="15" name="Text 12"/>
          <p:cNvSpPr/>
          <p:nvPr/>
        </p:nvSpPr>
        <p:spPr>
          <a:xfrm>
            <a:off x="2490073" y="8435340"/>
            <a:ext cx="7633645" cy="297180"/>
          </a:xfrm>
          <a:prstGeom prst="rect">
            <a:avLst/>
          </a:prstGeom>
          <a:noFill/>
          <a:ln/>
        </p:spPr>
        <p:txBody>
          <a:bodyPr wrap="square" lIns="25400" tIns="25400" rIns="25400" bIns="25400" rtlCol="0" anchor="t">
            <a:normAutofit/>
          </a:bodyPr>
          <a:lstStyle/>
          <a:p>
            <a:pPr algn="l" indent="0" marL="0">
              <a:buNone/>
            </a:pPr>
            <a:r>
              <a:rPr lang="en-US" sz="1800" dirty="0">
                <a:solidFill>
                  <a:srgbClr val="FFFFFF"/>
                </a:solidFill>
                <a:latin typeface="Arial" pitchFamily="34" charset="0"/>
                <a:ea typeface="Arial" pitchFamily="34" charset="-122"/>
                <a:cs typeface="Arial" pitchFamily="34" charset="-120"/>
              </a:rPr>
              <a:t>June 2026</a:t>
            </a:r>
            <a:endParaRPr lang="en-US" sz="1800" dirty="0"/>
          </a:p>
        </p:txBody>
      </p:sp>
      <p:sp>
        <p:nvSpPr>
          <p:cNvPr id="16" name="Text 13"/>
          <p:cNvSpPr/>
          <p:nvPr/>
        </p:nvSpPr>
        <p:spPr>
          <a:xfrm>
            <a:off x="857250" y="9265920"/>
            <a:ext cx="8829675" cy="297180"/>
          </a:xfrm>
          <a:prstGeom prst="rect">
            <a:avLst/>
          </a:prstGeom>
          <a:noFill/>
          <a:ln/>
        </p:spPr>
        <p:txBody>
          <a:bodyPr wrap="square" lIns="25400" tIns="25400" rIns="25400" bIns="25400" rtlCol="0" anchor="t">
            <a:normAutofit/>
          </a:bodyPr>
          <a:lstStyle/>
          <a:p>
            <a:pPr algn="l" indent="0" marL="0">
              <a:buNone/>
            </a:pPr>
            <a:r>
              <a:rPr lang="en-US" sz="1800" i="1" spc="75" kern="0" dirty="0">
                <a:solidFill>
                  <a:srgbClr val="B19C7D"/>
                </a:solidFill>
                <a:latin typeface="Arial" pitchFamily="34" charset="0"/>
                <a:ea typeface="Arial" pitchFamily="34" charset="-122"/>
                <a:cs typeface="Arial" pitchFamily="34" charset="-120"/>
              </a:rPr>
              <a:t>Innovating Solutions</a:t>
            </a:r>
            <a:endParaRPr lang="en-US" sz="1800" dirty="0"/>
          </a:p>
        </p:txBody>
      </p:sp>
      <p:pic>
        <p:nvPicPr>
          <p:cNvPr id="17" name="Image 1" descr="preencoded.png">    </p:cNvPr>
          <p:cNvPicPr>
            <a:picLocks noChangeAspect="1"/>
          </p:cNvPicPr>
          <p:nvPr/>
        </p:nvPicPr>
        <p:blipFill>
          <a:blip r:embed="rId2"/>
          <a:srcRect l="14563" r="14563" t="0" b="0"/>
          <a:stretch/>
        </p:blipFill>
        <p:spPr>
          <a:xfrm>
            <a:off x="10287000" y="0"/>
            <a:ext cx="8001000" cy="10287000"/>
          </a:xfrm>
          <a:prstGeom prst="rect">
            <a:avLst/>
          </a:prstGeom>
        </p:spPr>
      </p:pic>
      <p:sp>
        <p:nvSpPr>
          <p:cNvPr id="18" name="Shape 14"/>
          <p:cNvSpPr/>
          <p:nvPr/>
        </p:nvSpPr>
        <p:spPr>
          <a:xfrm>
            <a:off x="10287000" y="0"/>
            <a:ext cx="1333500" cy="10287000"/>
          </a:xfrm>
          <a:prstGeom prst="rect">
            <a:avLst/>
          </a:prstGeom>
          <a:gradFill rotWithShape="1">
            <a:gsLst>
              <a:gs pos="0">
                <a:srgbClr val="74121D">
                  <a:alpha val="55000"/>
                </a:srgbClr>
              </a:gs>
              <a:gs pos="100000">
                <a:srgbClr val="74121D">
                  <a:alpha val="0"/>
                </a:srgbClr>
              </a:gs>
            </a:gsLst>
            <a:lin ang="0" scaled="0"/>
          </a:gra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0" cy="133350"/>
          </a:xfrm>
          <a:prstGeom prst="rect">
            <a:avLst/>
          </a:prstGeom>
          <a:solidFill>
            <a:srgbClr val="74121D"/>
          </a:solidFill>
          <a:ln/>
        </p:spPr>
      </p:sp>
      <p:pic>
        <p:nvPicPr>
          <p:cNvPr id="3" name="Image 0" descr="preencoded.png">    </p:cNvPr>
          <p:cNvPicPr>
            <a:picLocks noChangeAspect="1"/>
          </p:cNvPicPr>
          <p:nvPr/>
        </p:nvPicPr>
        <p:blipFill>
          <a:blip r:embed="rId1"/>
          <a:stretch>
            <a:fillRect/>
          </a:stretch>
        </p:blipFill>
        <p:spPr>
          <a:xfrm>
            <a:off x="16004143" y="361950"/>
            <a:ext cx="1521857" cy="514350"/>
          </a:xfrm>
          <a:prstGeom prst="rect">
            <a:avLst/>
          </a:prstGeom>
        </p:spPr>
      </p:pic>
      <p:sp>
        <p:nvSpPr>
          <p:cNvPr id="4" name="Text 1"/>
          <p:cNvSpPr/>
          <p:nvPr/>
        </p:nvSpPr>
        <p:spPr>
          <a:xfrm>
            <a:off x="952500" y="1238250"/>
            <a:ext cx="18021300" cy="297180"/>
          </a:xfrm>
          <a:prstGeom prst="rect">
            <a:avLst/>
          </a:prstGeom>
          <a:noFill/>
          <a:ln/>
        </p:spPr>
        <p:txBody>
          <a:bodyPr wrap="square" lIns="25400" tIns="25400" rIns="25400" bIns="25400" rtlCol="0" anchor="t">
            <a:normAutofit/>
          </a:bodyPr>
          <a:lstStyle/>
          <a:p>
            <a:pPr algn="l" indent="0" marL="0">
              <a:buNone/>
            </a:pPr>
            <a:r>
              <a:rPr lang="en-US" sz="1800" b="1" spc="225" kern="0" dirty="0">
                <a:solidFill>
                  <a:srgbClr val="B19C7D"/>
                </a:solidFill>
                <a:latin typeface="Arial" pitchFamily="34" charset="0"/>
                <a:ea typeface="Arial" pitchFamily="34" charset="-122"/>
                <a:cs typeface="Arial" pitchFamily="34" charset="-120"/>
              </a:rPr>
              <a:t>CHAPTER 1</a:t>
            </a:r>
            <a:endParaRPr lang="en-US" sz="1800" dirty="0"/>
          </a:p>
        </p:txBody>
      </p:sp>
      <p:sp>
        <p:nvSpPr>
          <p:cNvPr id="5" name="Text 2"/>
          <p:cNvSpPr/>
          <p:nvPr/>
        </p:nvSpPr>
        <p:spPr>
          <a:xfrm>
            <a:off x="952500" y="1611630"/>
            <a:ext cx="18021300" cy="638175"/>
          </a:xfrm>
          <a:prstGeom prst="rect">
            <a:avLst/>
          </a:prstGeom>
          <a:noFill/>
          <a:ln/>
        </p:spPr>
        <p:txBody>
          <a:bodyPr wrap="square" lIns="25400" tIns="25400" rIns="25400" bIns="25400" rtlCol="0" anchor="t">
            <a:normAutofit/>
          </a:bodyPr>
          <a:lstStyle/>
          <a:p>
            <a:pPr algn="l" indent="0" marL="0">
              <a:lnSpc>
                <a:spcPct val="105000"/>
              </a:lnSpc>
              <a:buNone/>
            </a:pPr>
            <a:r>
              <a:rPr lang="en-US" sz="4500" b="1" spc="-37" kern="0" dirty="0">
                <a:solidFill>
                  <a:srgbClr val="74121D"/>
                </a:solidFill>
                <a:latin typeface="Arial" pitchFamily="34" charset="0"/>
                <a:ea typeface="Arial" pitchFamily="34" charset="-122"/>
                <a:cs typeface="Arial" pitchFamily="34" charset="-120"/>
              </a:rPr>
              <a:t>Introduction</a:t>
            </a:r>
            <a:endParaRPr lang="en-US" sz="4500" dirty="0"/>
          </a:p>
        </p:txBody>
      </p:sp>
      <p:sp>
        <p:nvSpPr>
          <p:cNvPr id="6" name="Shape 3"/>
          <p:cNvSpPr/>
          <p:nvPr/>
        </p:nvSpPr>
        <p:spPr>
          <a:xfrm>
            <a:off x="952500" y="2402205"/>
            <a:ext cx="857250" cy="47625"/>
          </a:xfrm>
          <a:prstGeom prst="roundRect">
            <a:avLst>
              <a:gd name="adj" fmla="val 50000"/>
            </a:avLst>
          </a:prstGeom>
          <a:solidFill>
            <a:srgbClr val="B19C7D"/>
          </a:solidFill>
          <a:ln/>
        </p:spPr>
      </p:sp>
      <p:sp>
        <p:nvSpPr>
          <p:cNvPr id="7" name="Text 4"/>
          <p:cNvSpPr/>
          <p:nvPr/>
        </p:nvSpPr>
        <p:spPr>
          <a:xfrm>
            <a:off x="952500" y="2868930"/>
            <a:ext cx="8643938" cy="320040"/>
          </a:xfrm>
          <a:prstGeom prst="rect">
            <a:avLst/>
          </a:prstGeom>
          <a:noFill/>
          <a:ln/>
        </p:spPr>
        <p:txBody>
          <a:bodyPr wrap="square" lIns="25400" tIns="25400" rIns="25400" bIns="25400" rtlCol="0" anchor="t">
            <a:normAutofit/>
          </a:bodyPr>
          <a:lstStyle/>
          <a:p>
            <a:pPr algn="l" indent="0" marL="0">
              <a:buNone/>
            </a:pPr>
            <a:r>
              <a:rPr lang="en-US" sz="1950" b="1" spc="150" kern="0" dirty="0">
                <a:solidFill>
                  <a:srgbClr val="74121D"/>
                </a:solidFill>
                <a:latin typeface="Arial" pitchFamily="34" charset="0"/>
                <a:ea typeface="Arial" pitchFamily="34" charset="-122"/>
                <a:cs typeface="Arial" pitchFamily="34" charset="-120"/>
              </a:rPr>
              <a:t>BACKGROUND</a:t>
            </a:r>
            <a:endParaRPr lang="en-US" sz="1950" dirty="0"/>
          </a:p>
        </p:txBody>
      </p:sp>
      <p:sp>
        <p:nvSpPr>
          <p:cNvPr id="8" name="Text 5"/>
          <p:cNvSpPr/>
          <p:nvPr/>
        </p:nvSpPr>
        <p:spPr>
          <a:xfrm>
            <a:off x="952500" y="3284220"/>
            <a:ext cx="8093869" cy="1323975"/>
          </a:xfrm>
          <a:prstGeom prst="rect">
            <a:avLst/>
          </a:prstGeom>
          <a:noFill/>
          <a:ln/>
        </p:spPr>
        <p:txBody>
          <a:bodyPr wrap="square" lIns="25400" tIns="25400" rIns="25400" bIns="25400" rtlCol="0" anchor="t">
            <a:normAutofit/>
          </a:bodyPr>
          <a:lstStyle/>
          <a:p>
            <a:pPr algn="l" indent="0" marL="0">
              <a:lnSpc>
                <a:spcPct val="150000"/>
              </a:lnSpc>
              <a:buNone/>
            </a:pPr>
            <a:r>
              <a:rPr lang="en-US" sz="2250" dirty="0">
                <a:solidFill>
                  <a:srgbClr val="3A3A3A"/>
                </a:solidFill>
                <a:latin typeface="Arial" pitchFamily="34" charset="0"/>
                <a:ea typeface="Arial" pitchFamily="34" charset="-122"/>
                <a:cs typeface="Arial" pitchFamily="34" charset="-120"/>
              </a:rPr>
              <a:t>Web-based platforms have become essential for showcasing portfolios, structuring service requests, and supporting client communication across modern industries.</a:t>
            </a:r>
            <a:endParaRPr lang="en-US" sz="2250" dirty="0"/>
          </a:p>
        </p:txBody>
      </p:sp>
      <p:sp>
        <p:nvSpPr>
          <p:cNvPr id="9" name="Text 6"/>
          <p:cNvSpPr/>
          <p:nvPr/>
        </p:nvSpPr>
        <p:spPr>
          <a:xfrm>
            <a:off x="9477375" y="2868930"/>
            <a:ext cx="8643938" cy="320040"/>
          </a:xfrm>
          <a:prstGeom prst="rect">
            <a:avLst/>
          </a:prstGeom>
          <a:noFill/>
          <a:ln/>
        </p:spPr>
        <p:txBody>
          <a:bodyPr wrap="square" lIns="25400" tIns="25400" rIns="25400" bIns="25400" rtlCol="0" anchor="t">
            <a:normAutofit/>
          </a:bodyPr>
          <a:lstStyle/>
          <a:p>
            <a:pPr algn="l" indent="0" marL="0">
              <a:buNone/>
            </a:pPr>
            <a:r>
              <a:rPr lang="en-US" sz="1950" b="1" spc="150" kern="0" dirty="0">
                <a:solidFill>
                  <a:srgbClr val="74121D"/>
                </a:solidFill>
                <a:latin typeface="Arial" pitchFamily="34" charset="0"/>
                <a:ea typeface="Arial" pitchFamily="34" charset="-122"/>
                <a:cs typeface="Arial" pitchFamily="34" charset="-120"/>
              </a:rPr>
              <a:t>REALITY AT UATCC</a:t>
            </a:r>
            <a:endParaRPr lang="en-US" sz="1950" dirty="0"/>
          </a:p>
        </p:txBody>
      </p:sp>
      <p:sp>
        <p:nvSpPr>
          <p:cNvPr id="10" name="Text 7"/>
          <p:cNvSpPr/>
          <p:nvPr/>
        </p:nvSpPr>
        <p:spPr>
          <a:xfrm>
            <a:off x="9477375" y="3284220"/>
            <a:ext cx="8093869" cy="1323975"/>
          </a:xfrm>
          <a:prstGeom prst="rect">
            <a:avLst/>
          </a:prstGeom>
          <a:noFill/>
          <a:ln/>
        </p:spPr>
        <p:txBody>
          <a:bodyPr wrap="square" lIns="25400" tIns="25400" rIns="25400" bIns="25400" rtlCol="0" anchor="t">
            <a:normAutofit/>
          </a:bodyPr>
          <a:lstStyle/>
          <a:p>
            <a:pPr algn="l" indent="0" marL="0">
              <a:lnSpc>
                <a:spcPct val="150000"/>
              </a:lnSpc>
              <a:buNone/>
            </a:pPr>
            <a:r>
              <a:rPr lang="en-US" sz="2250" dirty="0">
                <a:solidFill>
                  <a:srgbClr val="3A3A3A"/>
                </a:solidFill>
                <a:latin typeface="Arial" pitchFamily="34" charset="0"/>
                <a:ea typeface="Arial" pitchFamily="34" charset="-122"/>
                <a:cs typeface="Arial" pitchFamily="34" charset="-120"/>
              </a:rPr>
              <a:t>Today the company still depends entirely on phone calls and WhatsApp, with no central platform for projects, services, or client records.</a:t>
            </a:r>
            <a:endParaRPr lang="en-US" sz="2250" dirty="0"/>
          </a:p>
        </p:txBody>
      </p:sp>
      <p:sp>
        <p:nvSpPr>
          <p:cNvPr id="11" name="Shape 8"/>
          <p:cNvSpPr/>
          <p:nvPr/>
        </p:nvSpPr>
        <p:spPr>
          <a:xfrm>
            <a:off x="952500" y="5141595"/>
            <a:ext cx="15201900" cy="1811655"/>
          </a:xfrm>
          <a:prstGeom prst="rect">
            <a:avLst/>
          </a:prstGeom>
          <a:solidFill>
            <a:srgbClr val="FBF6EE"/>
          </a:solidFill>
          <a:ln/>
        </p:spPr>
      </p:sp>
      <p:sp>
        <p:nvSpPr>
          <p:cNvPr id="12" name="Shape 9"/>
          <p:cNvSpPr/>
          <p:nvPr/>
        </p:nvSpPr>
        <p:spPr>
          <a:xfrm>
            <a:off x="952500" y="5141595"/>
            <a:ext cx="76200" cy="1811655"/>
          </a:xfrm>
          <a:prstGeom prst="rect">
            <a:avLst/>
          </a:prstGeom>
          <a:solidFill>
            <a:srgbClr val="B19C7D"/>
          </a:solidFill>
          <a:ln/>
        </p:spPr>
      </p:sp>
      <p:sp>
        <p:nvSpPr>
          <p:cNvPr id="13" name="Text 10"/>
          <p:cNvSpPr/>
          <p:nvPr/>
        </p:nvSpPr>
        <p:spPr>
          <a:xfrm>
            <a:off x="1447800" y="5465445"/>
            <a:ext cx="15716250" cy="297180"/>
          </a:xfrm>
          <a:prstGeom prst="rect">
            <a:avLst/>
          </a:prstGeom>
          <a:noFill/>
          <a:ln/>
        </p:spPr>
        <p:txBody>
          <a:bodyPr wrap="square" lIns="25400" tIns="25400" rIns="25400" bIns="25400" rtlCol="0" anchor="t">
            <a:normAutofit/>
          </a:bodyPr>
          <a:lstStyle/>
          <a:p>
            <a:pPr algn="l" indent="0" marL="0">
              <a:buNone/>
            </a:pPr>
            <a:r>
              <a:rPr lang="en-US" sz="1800" b="1" spc="113" kern="0" dirty="0">
                <a:solidFill>
                  <a:srgbClr val="74121D"/>
                </a:solidFill>
                <a:latin typeface="Arial" pitchFamily="34" charset="0"/>
                <a:ea typeface="Arial" pitchFamily="34" charset="-122"/>
                <a:cs typeface="Arial" pitchFamily="34" charset="-120"/>
              </a:rPr>
              <a:t>THIS PROJECT PROPOSES</a:t>
            </a:r>
            <a:endParaRPr lang="en-US" sz="1800" dirty="0"/>
          </a:p>
        </p:txBody>
      </p:sp>
      <p:sp>
        <p:nvSpPr>
          <p:cNvPr id="14" name="Text 11"/>
          <p:cNvSpPr/>
          <p:nvPr/>
        </p:nvSpPr>
        <p:spPr>
          <a:xfrm>
            <a:off x="1447800" y="5800725"/>
            <a:ext cx="14716125" cy="866775"/>
          </a:xfrm>
          <a:prstGeom prst="rect">
            <a:avLst/>
          </a:prstGeom>
          <a:noFill/>
          <a:ln/>
        </p:spPr>
        <p:txBody>
          <a:bodyPr wrap="square" lIns="25400" tIns="25400" rIns="25400" bIns="25400" rtlCol="0" anchor="t">
            <a:normAutofit/>
          </a:bodyPr>
          <a:lstStyle/>
          <a:p>
            <a:pPr algn="l" indent="0" marL="0">
              <a:lnSpc>
                <a:spcPct val="145000"/>
              </a:lnSpc>
              <a:buNone/>
            </a:pPr>
            <a:r>
              <a:rPr lang="en-US" sz="2250" dirty="0">
                <a:solidFill>
                  <a:srgbClr val="2A2A2A"/>
                </a:solidFill>
                <a:latin typeface="Arial" pitchFamily="34" charset="0"/>
                <a:ea typeface="Arial" pitchFamily="34" charset="-122"/>
                <a:cs typeface="Arial" pitchFamily="34" charset="-120"/>
              </a:rPr>
              <a:t>A lightweight web application that centralises projects, captures structured requests, integrates with WhatsApp, and includes a rule-based chatbot and admin dashboard.</a:t>
            </a:r>
            <a:endParaRPr lang="en-US" sz="2250" dirty="0"/>
          </a:p>
        </p:txBody>
      </p:sp>
      <p:sp>
        <p:nvSpPr>
          <p:cNvPr id="15" name="Text 12"/>
          <p:cNvSpPr/>
          <p:nvPr/>
        </p:nvSpPr>
        <p:spPr>
          <a:xfrm>
            <a:off x="952500" y="9761220"/>
            <a:ext cx="4426744" cy="297180"/>
          </a:xfrm>
          <a:prstGeom prst="rect">
            <a:avLst/>
          </a:prstGeom>
          <a:noFill/>
          <a:ln/>
        </p:spPr>
        <p:txBody>
          <a:bodyPr wrap="square" lIns="25400" tIns="25400" rIns="25400" bIns="25400" rtlCol="0" anchor="t">
            <a:normAutofit/>
          </a:bodyPr>
          <a:lstStyle/>
          <a:p>
            <a:pPr algn="l" indent="0" marL="0">
              <a:buNone/>
            </a:pPr>
            <a:r>
              <a:rPr lang="en-US" sz="1800" spc="38" kern="0" dirty="0">
                <a:solidFill>
                  <a:srgbClr val="9A8C7E"/>
                </a:solidFill>
                <a:latin typeface="Arial" pitchFamily="34" charset="0"/>
                <a:ea typeface="Arial" pitchFamily="34" charset="-122"/>
                <a:cs typeface="Arial" pitchFamily="34" charset="-120"/>
              </a:rPr>
              <a:t>UATCC Web Application · PSM 1 Viva</a:t>
            </a:r>
            <a:endParaRPr lang="en-US" sz="1800" dirty="0"/>
          </a:p>
        </p:txBody>
      </p:sp>
      <p:sp>
        <p:nvSpPr>
          <p:cNvPr id="16" name="Text 13"/>
          <p:cNvSpPr/>
          <p:nvPr/>
        </p:nvSpPr>
        <p:spPr>
          <a:xfrm>
            <a:off x="16603027" y="9761220"/>
            <a:ext cx="808673" cy="297180"/>
          </a:xfrm>
          <a:prstGeom prst="rect">
            <a:avLst/>
          </a:prstGeom>
          <a:noFill/>
          <a:ln/>
        </p:spPr>
        <p:txBody>
          <a:bodyPr wrap="square" lIns="25400" tIns="25400" rIns="25400" bIns="25400" rtlCol="0" anchor="t">
            <a:normAutofit/>
          </a:bodyPr>
          <a:lstStyle/>
          <a:p>
            <a:pPr algn="l" indent="0" marL="0">
              <a:buNone/>
            </a:pPr>
            <a:r>
              <a:rPr lang="en-US" sz="1800" spc="38" kern="0" dirty="0">
                <a:solidFill>
                  <a:srgbClr val="9A8C7E"/>
                </a:solidFill>
                <a:latin typeface="Arial" pitchFamily="34" charset="0"/>
                <a:ea typeface="Arial" pitchFamily="34" charset="-122"/>
                <a:cs typeface="Arial" pitchFamily="34" charset="-120"/>
              </a:rPr>
              <a:t>02 / 14</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0" cy="133350"/>
          </a:xfrm>
          <a:prstGeom prst="rect">
            <a:avLst/>
          </a:prstGeom>
          <a:solidFill>
            <a:srgbClr val="74121D"/>
          </a:solidFill>
          <a:ln/>
        </p:spPr>
      </p:sp>
      <p:pic>
        <p:nvPicPr>
          <p:cNvPr id="3" name="Image 0" descr="preencoded.png">    </p:cNvPr>
          <p:cNvPicPr>
            <a:picLocks noChangeAspect="1"/>
          </p:cNvPicPr>
          <p:nvPr/>
        </p:nvPicPr>
        <p:blipFill>
          <a:blip r:embed="rId1"/>
          <a:stretch>
            <a:fillRect/>
          </a:stretch>
        </p:blipFill>
        <p:spPr>
          <a:xfrm>
            <a:off x="16004143" y="361950"/>
            <a:ext cx="1521857" cy="514350"/>
          </a:xfrm>
          <a:prstGeom prst="rect">
            <a:avLst/>
          </a:prstGeom>
        </p:spPr>
      </p:pic>
      <p:sp>
        <p:nvSpPr>
          <p:cNvPr id="4" name="Text 1"/>
          <p:cNvSpPr/>
          <p:nvPr/>
        </p:nvSpPr>
        <p:spPr>
          <a:xfrm>
            <a:off x="952500" y="1238250"/>
            <a:ext cx="18021300" cy="297180"/>
          </a:xfrm>
          <a:prstGeom prst="rect">
            <a:avLst/>
          </a:prstGeom>
          <a:noFill/>
          <a:ln/>
        </p:spPr>
        <p:txBody>
          <a:bodyPr wrap="square" lIns="25400" tIns="25400" rIns="25400" bIns="25400" rtlCol="0" anchor="t">
            <a:normAutofit/>
          </a:bodyPr>
          <a:lstStyle/>
          <a:p>
            <a:pPr algn="l" indent="0" marL="0">
              <a:buNone/>
            </a:pPr>
            <a:r>
              <a:rPr lang="en-US" sz="1800" b="1" spc="225" kern="0" dirty="0">
                <a:solidFill>
                  <a:srgbClr val="B19C7D"/>
                </a:solidFill>
                <a:latin typeface="Arial" pitchFamily="34" charset="0"/>
                <a:ea typeface="Arial" pitchFamily="34" charset="-122"/>
                <a:cs typeface="Arial" pitchFamily="34" charset="-120"/>
              </a:rPr>
              <a:t>CHAPTER 1.2</a:t>
            </a:r>
            <a:endParaRPr lang="en-US" sz="1800" dirty="0"/>
          </a:p>
        </p:txBody>
      </p:sp>
      <p:sp>
        <p:nvSpPr>
          <p:cNvPr id="5" name="Text 2"/>
          <p:cNvSpPr/>
          <p:nvPr/>
        </p:nvSpPr>
        <p:spPr>
          <a:xfrm>
            <a:off x="952500" y="1611630"/>
            <a:ext cx="18021300" cy="638175"/>
          </a:xfrm>
          <a:prstGeom prst="rect">
            <a:avLst/>
          </a:prstGeom>
          <a:noFill/>
          <a:ln/>
        </p:spPr>
        <p:txBody>
          <a:bodyPr wrap="square" lIns="25400" tIns="25400" rIns="25400" bIns="25400" rtlCol="0" anchor="t">
            <a:normAutofit/>
          </a:bodyPr>
          <a:lstStyle/>
          <a:p>
            <a:pPr algn="l" indent="0" marL="0">
              <a:lnSpc>
                <a:spcPct val="105000"/>
              </a:lnSpc>
              <a:buNone/>
            </a:pPr>
            <a:r>
              <a:rPr lang="en-US" sz="4500" b="1" spc="-37" kern="0" dirty="0">
                <a:solidFill>
                  <a:srgbClr val="74121D"/>
                </a:solidFill>
                <a:latin typeface="Arial" pitchFamily="34" charset="0"/>
                <a:ea typeface="Arial" pitchFamily="34" charset="-122"/>
                <a:cs typeface="Arial" pitchFamily="34" charset="-120"/>
              </a:rPr>
              <a:t>Problem Statement</a:t>
            </a:r>
            <a:endParaRPr lang="en-US" sz="4500" dirty="0"/>
          </a:p>
        </p:txBody>
      </p:sp>
      <p:sp>
        <p:nvSpPr>
          <p:cNvPr id="6" name="Shape 3"/>
          <p:cNvSpPr/>
          <p:nvPr/>
        </p:nvSpPr>
        <p:spPr>
          <a:xfrm>
            <a:off x="952500" y="2402205"/>
            <a:ext cx="857250" cy="47625"/>
          </a:xfrm>
          <a:prstGeom prst="roundRect">
            <a:avLst>
              <a:gd name="adj" fmla="val 50000"/>
            </a:avLst>
          </a:prstGeom>
          <a:solidFill>
            <a:srgbClr val="B19C7D"/>
          </a:solidFill>
          <a:ln/>
        </p:spPr>
      </p:sp>
      <p:sp>
        <p:nvSpPr>
          <p:cNvPr id="7" name="Text 4"/>
          <p:cNvSpPr/>
          <p:nvPr/>
        </p:nvSpPr>
        <p:spPr>
          <a:xfrm>
            <a:off x="952500" y="2868930"/>
            <a:ext cx="15716250" cy="452438"/>
          </a:xfrm>
          <a:prstGeom prst="rect">
            <a:avLst/>
          </a:prstGeom>
          <a:noFill/>
          <a:ln/>
        </p:spPr>
        <p:txBody>
          <a:bodyPr wrap="square" lIns="25400" tIns="25400" rIns="25400" bIns="25400" rtlCol="0" anchor="t">
            <a:normAutofit/>
          </a:bodyPr>
          <a:lstStyle/>
          <a:p>
            <a:pPr algn="l" indent="0" marL="0">
              <a:lnSpc>
                <a:spcPct val="145000"/>
              </a:lnSpc>
              <a:buNone/>
            </a:pPr>
            <a:r>
              <a:rPr lang="en-US" sz="2250" dirty="0">
                <a:solidFill>
                  <a:srgbClr val="3A3A3A"/>
                </a:solidFill>
                <a:latin typeface="Arial" pitchFamily="34" charset="0"/>
                <a:ea typeface="Arial" pitchFamily="34" charset="-122"/>
                <a:cs typeface="Arial" pitchFamily="34" charset="-120"/>
              </a:rPr>
              <a:t>Manual phone-and-WhatsApp operation creates five recurring problems for the company:</a:t>
            </a:r>
            <a:endParaRPr lang="en-US" sz="2250" dirty="0"/>
          </a:p>
        </p:txBody>
      </p:sp>
      <p:sp>
        <p:nvSpPr>
          <p:cNvPr id="8" name="Shape 5"/>
          <p:cNvSpPr/>
          <p:nvPr/>
        </p:nvSpPr>
        <p:spPr>
          <a:xfrm>
            <a:off x="952500" y="3645218"/>
            <a:ext cx="3108960" cy="3745230"/>
          </a:xfrm>
          <a:prstGeom prst="rect">
            <a:avLst/>
          </a:prstGeom>
          <a:solidFill>
            <a:srgbClr val="FFFFFF"/>
          </a:solidFill>
          <a:ln/>
        </p:spPr>
      </p:sp>
      <p:sp>
        <p:nvSpPr>
          <p:cNvPr id="9" name="Shape 6"/>
          <p:cNvSpPr/>
          <p:nvPr/>
        </p:nvSpPr>
        <p:spPr>
          <a:xfrm>
            <a:off x="952500" y="7375208"/>
            <a:ext cx="3108960" cy="15240"/>
          </a:xfrm>
          <a:prstGeom prst="rect">
            <a:avLst/>
          </a:prstGeom>
          <a:solidFill>
            <a:srgbClr val="EFE6DA"/>
          </a:solidFill>
          <a:ln/>
        </p:spPr>
      </p:sp>
      <p:sp>
        <p:nvSpPr>
          <p:cNvPr id="10" name="Shape 7"/>
          <p:cNvSpPr/>
          <p:nvPr/>
        </p:nvSpPr>
        <p:spPr>
          <a:xfrm>
            <a:off x="952500" y="3645218"/>
            <a:ext cx="3108960" cy="53340"/>
          </a:xfrm>
          <a:prstGeom prst="rect">
            <a:avLst/>
          </a:prstGeom>
          <a:solidFill>
            <a:srgbClr val="A7333F"/>
          </a:solidFill>
          <a:ln/>
        </p:spPr>
      </p:sp>
      <p:sp>
        <p:nvSpPr>
          <p:cNvPr id="11" name="Shape 8"/>
          <p:cNvSpPr/>
          <p:nvPr/>
        </p:nvSpPr>
        <p:spPr>
          <a:xfrm>
            <a:off x="952500" y="3645218"/>
            <a:ext cx="15240" cy="3745230"/>
          </a:xfrm>
          <a:prstGeom prst="rect">
            <a:avLst/>
          </a:prstGeom>
          <a:solidFill>
            <a:srgbClr val="EFE6DA"/>
          </a:solidFill>
          <a:ln/>
        </p:spPr>
      </p:sp>
      <p:sp>
        <p:nvSpPr>
          <p:cNvPr id="12" name="Shape 9"/>
          <p:cNvSpPr/>
          <p:nvPr/>
        </p:nvSpPr>
        <p:spPr>
          <a:xfrm>
            <a:off x="4046220" y="3645218"/>
            <a:ext cx="15240" cy="3745230"/>
          </a:xfrm>
          <a:prstGeom prst="rect">
            <a:avLst/>
          </a:prstGeom>
          <a:solidFill>
            <a:srgbClr val="EFE6DA"/>
          </a:solidFill>
          <a:ln/>
        </p:spPr>
      </p:sp>
      <p:sp>
        <p:nvSpPr>
          <p:cNvPr id="13" name="Text 10"/>
          <p:cNvSpPr/>
          <p:nvPr/>
        </p:nvSpPr>
        <p:spPr>
          <a:xfrm>
            <a:off x="1177290" y="3965258"/>
            <a:ext cx="2925318" cy="297180"/>
          </a:xfrm>
          <a:prstGeom prst="rect">
            <a:avLst/>
          </a:prstGeom>
          <a:noFill/>
          <a:ln/>
        </p:spPr>
        <p:txBody>
          <a:bodyPr wrap="square" lIns="25400" tIns="25400" rIns="25400" bIns="25400" rtlCol="0" anchor="t">
            <a:normAutofit/>
          </a:bodyPr>
          <a:lstStyle/>
          <a:p>
            <a:pPr algn="l" indent="0" marL="0">
              <a:buNone/>
            </a:pPr>
            <a:r>
              <a:rPr lang="en-US" sz="1800" b="1" spc="150" kern="0" dirty="0">
                <a:solidFill>
                  <a:srgbClr val="A7333F"/>
                </a:solidFill>
                <a:latin typeface="Arial" pitchFamily="34" charset="0"/>
                <a:ea typeface="Arial" pitchFamily="34" charset="-122"/>
                <a:cs typeface="Arial" pitchFamily="34" charset="-120"/>
              </a:rPr>
              <a:t>P1</a:t>
            </a:r>
            <a:endParaRPr lang="en-US" sz="1800" dirty="0"/>
          </a:p>
        </p:txBody>
      </p:sp>
      <p:sp>
        <p:nvSpPr>
          <p:cNvPr id="14" name="Text 11"/>
          <p:cNvSpPr/>
          <p:nvPr/>
        </p:nvSpPr>
        <p:spPr>
          <a:xfrm>
            <a:off x="1177290" y="4319588"/>
            <a:ext cx="2739162" cy="633412"/>
          </a:xfrm>
          <a:prstGeom prst="rect">
            <a:avLst/>
          </a:prstGeom>
          <a:noFill/>
          <a:ln/>
        </p:spPr>
        <p:txBody>
          <a:bodyPr wrap="square" lIns="25400" tIns="25400" rIns="25400" bIns="25400" rtlCol="0" anchor="t">
            <a:normAutofit/>
          </a:bodyPr>
          <a:lstStyle/>
          <a:p>
            <a:pPr algn="l" indent="0" marL="0">
              <a:lnSpc>
                <a:spcPct val="125000"/>
              </a:lnSpc>
              <a:buNone/>
            </a:pPr>
            <a:r>
              <a:rPr lang="en-US" sz="1875" b="1" dirty="0">
                <a:solidFill>
                  <a:srgbClr val="2A2A2A"/>
                </a:solidFill>
                <a:latin typeface="Arial" pitchFamily="34" charset="0"/>
                <a:ea typeface="Arial" pitchFamily="34" charset="-122"/>
                <a:cs typeface="Arial" pitchFamily="34" charset="-120"/>
              </a:rPr>
              <a:t>Unstructured client requests</a:t>
            </a:r>
            <a:endParaRPr lang="en-US" sz="1875" dirty="0"/>
          </a:p>
        </p:txBody>
      </p:sp>
      <p:sp>
        <p:nvSpPr>
          <p:cNvPr id="15" name="Text 12"/>
          <p:cNvSpPr/>
          <p:nvPr/>
        </p:nvSpPr>
        <p:spPr>
          <a:xfrm>
            <a:off x="1177290" y="5048250"/>
            <a:ext cx="2739162" cy="1705928"/>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5A5A5A"/>
                </a:solidFill>
                <a:latin typeface="Arial" pitchFamily="34" charset="0"/>
                <a:ea typeface="Arial" pitchFamily="34" charset="-122"/>
                <a:cs typeface="Arial" pitchFamily="34" charset="-120"/>
              </a:rPr>
              <a:t>WhatsApp messages arrive without a standard format and miss key details.</a:t>
            </a:r>
            <a:endParaRPr lang="en-US" sz="1800" dirty="0"/>
          </a:p>
        </p:txBody>
      </p:sp>
      <p:sp>
        <p:nvSpPr>
          <p:cNvPr id="16" name="Text 13"/>
          <p:cNvSpPr/>
          <p:nvPr/>
        </p:nvSpPr>
        <p:spPr>
          <a:xfrm>
            <a:off x="1177290" y="6849428"/>
            <a:ext cx="2925318" cy="297180"/>
          </a:xfrm>
          <a:prstGeom prst="rect">
            <a:avLst/>
          </a:prstGeom>
          <a:noFill/>
          <a:ln/>
        </p:spPr>
        <p:txBody>
          <a:bodyPr wrap="square" lIns="25400" tIns="25400" rIns="25400" bIns="25400" rtlCol="0" anchor="t">
            <a:normAutofit/>
          </a:bodyPr>
          <a:lstStyle/>
          <a:p>
            <a:pPr algn="l" indent="0" marL="0">
              <a:buNone/>
            </a:pPr>
            <a:r>
              <a:rPr lang="en-US" sz="1800" b="1" spc="75" kern="0" dirty="0">
                <a:solidFill>
                  <a:srgbClr val="A7333F"/>
                </a:solidFill>
                <a:latin typeface="Arial" pitchFamily="34" charset="0"/>
                <a:ea typeface="Arial" pitchFamily="34" charset="-122"/>
                <a:cs typeface="Arial" pitchFamily="34" charset="-120"/>
              </a:rPr>
              <a:t>HIGH IMPACT</a:t>
            </a:r>
            <a:endParaRPr lang="en-US" sz="1800" dirty="0"/>
          </a:p>
        </p:txBody>
      </p:sp>
      <p:sp>
        <p:nvSpPr>
          <p:cNvPr id="17" name="Shape 14"/>
          <p:cNvSpPr/>
          <p:nvPr/>
        </p:nvSpPr>
        <p:spPr>
          <a:xfrm>
            <a:off x="4271010" y="3645218"/>
            <a:ext cx="3108960" cy="3745230"/>
          </a:xfrm>
          <a:prstGeom prst="rect">
            <a:avLst/>
          </a:prstGeom>
          <a:solidFill>
            <a:srgbClr val="FFFFFF"/>
          </a:solidFill>
          <a:ln/>
        </p:spPr>
      </p:sp>
      <p:sp>
        <p:nvSpPr>
          <p:cNvPr id="18" name="Shape 15"/>
          <p:cNvSpPr/>
          <p:nvPr/>
        </p:nvSpPr>
        <p:spPr>
          <a:xfrm>
            <a:off x="4271010" y="7375208"/>
            <a:ext cx="3108960" cy="15240"/>
          </a:xfrm>
          <a:prstGeom prst="rect">
            <a:avLst/>
          </a:prstGeom>
          <a:solidFill>
            <a:srgbClr val="EFE6DA"/>
          </a:solidFill>
          <a:ln/>
        </p:spPr>
      </p:sp>
      <p:sp>
        <p:nvSpPr>
          <p:cNvPr id="19" name="Shape 16"/>
          <p:cNvSpPr/>
          <p:nvPr/>
        </p:nvSpPr>
        <p:spPr>
          <a:xfrm>
            <a:off x="4271010" y="3645218"/>
            <a:ext cx="3108960" cy="53340"/>
          </a:xfrm>
          <a:prstGeom prst="rect">
            <a:avLst/>
          </a:prstGeom>
          <a:solidFill>
            <a:srgbClr val="A7333F"/>
          </a:solidFill>
          <a:ln/>
        </p:spPr>
      </p:sp>
      <p:sp>
        <p:nvSpPr>
          <p:cNvPr id="20" name="Shape 17"/>
          <p:cNvSpPr/>
          <p:nvPr/>
        </p:nvSpPr>
        <p:spPr>
          <a:xfrm>
            <a:off x="4271010" y="3645218"/>
            <a:ext cx="15240" cy="3745230"/>
          </a:xfrm>
          <a:prstGeom prst="rect">
            <a:avLst/>
          </a:prstGeom>
          <a:solidFill>
            <a:srgbClr val="EFE6DA"/>
          </a:solidFill>
          <a:ln/>
        </p:spPr>
      </p:sp>
      <p:sp>
        <p:nvSpPr>
          <p:cNvPr id="21" name="Shape 18"/>
          <p:cNvSpPr/>
          <p:nvPr/>
        </p:nvSpPr>
        <p:spPr>
          <a:xfrm>
            <a:off x="7364730" y="3645218"/>
            <a:ext cx="15240" cy="3745230"/>
          </a:xfrm>
          <a:prstGeom prst="rect">
            <a:avLst/>
          </a:prstGeom>
          <a:solidFill>
            <a:srgbClr val="EFE6DA"/>
          </a:solidFill>
          <a:ln/>
        </p:spPr>
      </p:sp>
      <p:sp>
        <p:nvSpPr>
          <p:cNvPr id="22" name="Text 19"/>
          <p:cNvSpPr/>
          <p:nvPr/>
        </p:nvSpPr>
        <p:spPr>
          <a:xfrm>
            <a:off x="4495800" y="3965258"/>
            <a:ext cx="2925318" cy="297180"/>
          </a:xfrm>
          <a:prstGeom prst="rect">
            <a:avLst/>
          </a:prstGeom>
          <a:noFill/>
          <a:ln/>
        </p:spPr>
        <p:txBody>
          <a:bodyPr wrap="square" lIns="25400" tIns="25400" rIns="25400" bIns="25400" rtlCol="0" anchor="t">
            <a:normAutofit/>
          </a:bodyPr>
          <a:lstStyle/>
          <a:p>
            <a:pPr algn="l" indent="0" marL="0">
              <a:buNone/>
            </a:pPr>
            <a:r>
              <a:rPr lang="en-US" sz="1800" b="1" spc="150" kern="0" dirty="0">
                <a:solidFill>
                  <a:srgbClr val="A7333F"/>
                </a:solidFill>
                <a:latin typeface="Arial" pitchFamily="34" charset="0"/>
                <a:ea typeface="Arial" pitchFamily="34" charset="-122"/>
                <a:cs typeface="Arial" pitchFamily="34" charset="-120"/>
              </a:rPr>
              <a:t>P2</a:t>
            </a:r>
            <a:endParaRPr lang="en-US" sz="1800" dirty="0"/>
          </a:p>
        </p:txBody>
      </p:sp>
      <p:sp>
        <p:nvSpPr>
          <p:cNvPr id="23" name="Text 20"/>
          <p:cNvSpPr/>
          <p:nvPr/>
        </p:nvSpPr>
        <p:spPr>
          <a:xfrm>
            <a:off x="4495800" y="4319588"/>
            <a:ext cx="2925318" cy="335756"/>
          </a:xfrm>
          <a:prstGeom prst="rect">
            <a:avLst/>
          </a:prstGeom>
          <a:noFill/>
          <a:ln/>
        </p:spPr>
        <p:txBody>
          <a:bodyPr wrap="square" lIns="25400" tIns="25400" rIns="25400" bIns="25400" rtlCol="0" anchor="t">
            <a:normAutofit/>
          </a:bodyPr>
          <a:lstStyle/>
          <a:p>
            <a:pPr algn="l" indent="0" marL="0">
              <a:lnSpc>
                <a:spcPct val="125000"/>
              </a:lnSpc>
              <a:buNone/>
            </a:pPr>
            <a:r>
              <a:rPr lang="en-US" sz="1875" b="1" dirty="0">
                <a:solidFill>
                  <a:srgbClr val="2A2A2A"/>
                </a:solidFill>
                <a:latin typeface="Arial" pitchFamily="34" charset="0"/>
                <a:ea typeface="Arial" pitchFamily="34" charset="-122"/>
                <a:cs typeface="Arial" pitchFamily="34" charset="-120"/>
              </a:rPr>
              <a:t>No project showcase</a:t>
            </a:r>
            <a:endParaRPr lang="en-US" sz="1875" dirty="0"/>
          </a:p>
        </p:txBody>
      </p:sp>
      <p:sp>
        <p:nvSpPr>
          <p:cNvPr id="24" name="Text 21"/>
          <p:cNvSpPr/>
          <p:nvPr/>
        </p:nvSpPr>
        <p:spPr>
          <a:xfrm>
            <a:off x="4495800" y="4750594"/>
            <a:ext cx="2739162" cy="2003584"/>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5A5A5A"/>
                </a:solidFill>
                <a:latin typeface="Arial" pitchFamily="34" charset="0"/>
                <a:ea typeface="Arial" pitchFamily="34" charset="-122"/>
                <a:cs typeface="Arial" pitchFamily="34" charset="-120"/>
              </a:rPr>
              <a:t>No platform exists to present completed projects or service capabilities.</a:t>
            </a:r>
            <a:endParaRPr lang="en-US" sz="1800" dirty="0"/>
          </a:p>
        </p:txBody>
      </p:sp>
      <p:sp>
        <p:nvSpPr>
          <p:cNvPr id="25" name="Text 22"/>
          <p:cNvSpPr/>
          <p:nvPr/>
        </p:nvSpPr>
        <p:spPr>
          <a:xfrm>
            <a:off x="4495800" y="6849428"/>
            <a:ext cx="2925318" cy="297180"/>
          </a:xfrm>
          <a:prstGeom prst="rect">
            <a:avLst/>
          </a:prstGeom>
          <a:noFill/>
          <a:ln/>
        </p:spPr>
        <p:txBody>
          <a:bodyPr wrap="square" lIns="25400" tIns="25400" rIns="25400" bIns="25400" rtlCol="0" anchor="t">
            <a:normAutofit/>
          </a:bodyPr>
          <a:lstStyle/>
          <a:p>
            <a:pPr algn="l" indent="0" marL="0">
              <a:buNone/>
            </a:pPr>
            <a:r>
              <a:rPr lang="en-US" sz="1800" b="1" spc="75" kern="0" dirty="0">
                <a:solidFill>
                  <a:srgbClr val="A7333F"/>
                </a:solidFill>
                <a:latin typeface="Arial" pitchFamily="34" charset="0"/>
                <a:ea typeface="Arial" pitchFamily="34" charset="-122"/>
                <a:cs typeface="Arial" pitchFamily="34" charset="-120"/>
              </a:rPr>
              <a:t>HIGH IMPACT</a:t>
            </a:r>
            <a:endParaRPr lang="en-US" sz="1800" dirty="0"/>
          </a:p>
        </p:txBody>
      </p:sp>
      <p:sp>
        <p:nvSpPr>
          <p:cNvPr id="26" name="Shape 23"/>
          <p:cNvSpPr/>
          <p:nvPr/>
        </p:nvSpPr>
        <p:spPr>
          <a:xfrm>
            <a:off x="7589520" y="3645218"/>
            <a:ext cx="3108960" cy="3745230"/>
          </a:xfrm>
          <a:prstGeom prst="rect">
            <a:avLst/>
          </a:prstGeom>
          <a:solidFill>
            <a:srgbClr val="FFFFFF"/>
          </a:solidFill>
          <a:ln/>
        </p:spPr>
      </p:sp>
      <p:sp>
        <p:nvSpPr>
          <p:cNvPr id="27" name="Shape 24"/>
          <p:cNvSpPr/>
          <p:nvPr/>
        </p:nvSpPr>
        <p:spPr>
          <a:xfrm>
            <a:off x="7589520" y="7375208"/>
            <a:ext cx="3108960" cy="15240"/>
          </a:xfrm>
          <a:prstGeom prst="rect">
            <a:avLst/>
          </a:prstGeom>
          <a:solidFill>
            <a:srgbClr val="EFE6DA"/>
          </a:solidFill>
          <a:ln/>
        </p:spPr>
      </p:sp>
      <p:sp>
        <p:nvSpPr>
          <p:cNvPr id="28" name="Shape 25"/>
          <p:cNvSpPr/>
          <p:nvPr/>
        </p:nvSpPr>
        <p:spPr>
          <a:xfrm>
            <a:off x="7589520" y="3645218"/>
            <a:ext cx="3108960" cy="53340"/>
          </a:xfrm>
          <a:prstGeom prst="rect">
            <a:avLst/>
          </a:prstGeom>
          <a:solidFill>
            <a:srgbClr val="B19C7D"/>
          </a:solidFill>
          <a:ln/>
        </p:spPr>
      </p:sp>
      <p:sp>
        <p:nvSpPr>
          <p:cNvPr id="29" name="Shape 26"/>
          <p:cNvSpPr/>
          <p:nvPr/>
        </p:nvSpPr>
        <p:spPr>
          <a:xfrm>
            <a:off x="7589520" y="3645218"/>
            <a:ext cx="15240" cy="3745230"/>
          </a:xfrm>
          <a:prstGeom prst="rect">
            <a:avLst/>
          </a:prstGeom>
          <a:solidFill>
            <a:srgbClr val="EFE6DA"/>
          </a:solidFill>
          <a:ln/>
        </p:spPr>
      </p:sp>
      <p:sp>
        <p:nvSpPr>
          <p:cNvPr id="30" name="Shape 27"/>
          <p:cNvSpPr/>
          <p:nvPr/>
        </p:nvSpPr>
        <p:spPr>
          <a:xfrm>
            <a:off x="10683240" y="3645218"/>
            <a:ext cx="15240" cy="3745230"/>
          </a:xfrm>
          <a:prstGeom prst="rect">
            <a:avLst/>
          </a:prstGeom>
          <a:solidFill>
            <a:srgbClr val="EFE6DA"/>
          </a:solidFill>
          <a:ln/>
        </p:spPr>
      </p:sp>
      <p:sp>
        <p:nvSpPr>
          <p:cNvPr id="31" name="Text 28"/>
          <p:cNvSpPr/>
          <p:nvPr/>
        </p:nvSpPr>
        <p:spPr>
          <a:xfrm>
            <a:off x="7814310" y="3965258"/>
            <a:ext cx="2925318" cy="297180"/>
          </a:xfrm>
          <a:prstGeom prst="rect">
            <a:avLst/>
          </a:prstGeom>
          <a:noFill/>
          <a:ln/>
        </p:spPr>
        <p:txBody>
          <a:bodyPr wrap="square" lIns="25400" tIns="25400" rIns="25400" bIns="25400" rtlCol="0" anchor="t">
            <a:normAutofit/>
          </a:bodyPr>
          <a:lstStyle/>
          <a:p>
            <a:pPr algn="l" indent="0" marL="0">
              <a:buNone/>
            </a:pPr>
            <a:r>
              <a:rPr lang="en-US" sz="1800" b="1" spc="150" kern="0" dirty="0">
                <a:solidFill>
                  <a:srgbClr val="B19C7D"/>
                </a:solidFill>
                <a:latin typeface="Arial" pitchFamily="34" charset="0"/>
                <a:ea typeface="Arial" pitchFamily="34" charset="-122"/>
                <a:cs typeface="Arial" pitchFamily="34" charset="-120"/>
              </a:rPr>
              <a:t>P3</a:t>
            </a:r>
            <a:endParaRPr lang="en-US" sz="1800" dirty="0"/>
          </a:p>
        </p:txBody>
      </p:sp>
      <p:sp>
        <p:nvSpPr>
          <p:cNvPr id="32" name="Text 29"/>
          <p:cNvSpPr/>
          <p:nvPr/>
        </p:nvSpPr>
        <p:spPr>
          <a:xfrm>
            <a:off x="7814310" y="4319588"/>
            <a:ext cx="2739162" cy="633412"/>
          </a:xfrm>
          <a:prstGeom prst="rect">
            <a:avLst/>
          </a:prstGeom>
          <a:noFill/>
          <a:ln/>
        </p:spPr>
        <p:txBody>
          <a:bodyPr wrap="square" lIns="25400" tIns="25400" rIns="25400" bIns="25400" rtlCol="0" anchor="t">
            <a:normAutofit/>
          </a:bodyPr>
          <a:lstStyle/>
          <a:p>
            <a:pPr algn="l" indent="0" marL="0">
              <a:lnSpc>
                <a:spcPct val="125000"/>
              </a:lnSpc>
              <a:buNone/>
            </a:pPr>
            <a:r>
              <a:rPr lang="en-US" sz="1875" b="1" dirty="0">
                <a:solidFill>
                  <a:srgbClr val="2A2A2A"/>
                </a:solidFill>
                <a:latin typeface="Arial" pitchFamily="34" charset="0"/>
                <a:ea typeface="Arial" pitchFamily="34" charset="-122"/>
                <a:cs typeface="Arial" pitchFamily="34" charset="-120"/>
              </a:rPr>
              <a:t>Repetitive routine enquiries</a:t>
            </a:r>
            <a:endParaRPr lang="en-US" sz="1875" dirty="0"/>
          </a:p>
        </p:txBody>
      </p:sp>
      <p:sp>
        <p:nvSpPr>
          <p:cNvPr id="33" name="Text 30"/>
          <p:cNvSpPr/>
          <p:nvPr/>
        </p:nvSpPr>
        <p:spPr>
          <a:xfrm>
            <a:off x="7814310" y="5048250"/>
            <a:ext cx="2739162" cy="1705928"/>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5A5A5A"/>
                </a:solidFill>
                <a:latin typeface="Arial" pitchFamily="34" charset="0"/>
                <a:ea typeface="Arial" pitchFamily="34" charset="-122"/>
                <a:cs typeface="Arial" pitchFamily="34" charset="-120"/>
              </a:rPr>
              <a:t>Common questions on services, location, and contact reach staff manually.</a:t>
            </a:r>
            <a:endParaRPr lang="en-US" sz="1800" dirty="0"/>
          </a:p>
        </p:txBody>
      </p:sp>
      <p:sp>
        <p:nvSpPr>
          <p:cNvPr id="34" name="Text 31"/>
          <p:cNvSpPr/>
          <p:nvPr/>
        </p:nvSpPr>
        <p:spPr>
          <a:xfrm>
            <a:off x="7814310" y="6849428"/>
            <a:ext cx="2925318" cy="297180"/>
          </a:xfrm>
          <a:prstGeom prst="rect">
            <a:avLst/>
          </a:prstGeom>
          <a:noFill/>
          <a:ln/>
        </p:spPr>
        <p:txBody>
          <a:bodyPr wrap="square" lIns="25400" tIns="25400" rIns="25400" bIns="25400" rtlCol="0" anchor="t">
            <a:normAutofit/>
          </a:bodyPr>
          <a:lstStyle/>
          <a:p>
            <a:pPr algn="l" indent="0" marL="0">
              <a:buNone/>
            </a:pPr>
            <a:r>
              <a:rPr lang="en-US" sz="1800" b="1" spc="75" kern="0" dirty="0">
                <a:solidFill>
                  <a:srgbClr val="B19C7D"/>
                </a:solidFill>
                <a:latin typeface="Arial" pitchFamily="34" charset="0"/>
                <a:ea typeface="Arial" pitchFamily="34" charset="-122"/>
                <a:cs typeface="Arial" pitchFamily="34" charset="-120"/>
              </a:rPr>
              <a:t>MEDIUM</a:t>
            </a:r>
            <a:endParaRPr lang="en-US" sz="1800" dirty="0"/>
          </a:p>
        </p:txBody>
      </p:sp>
      <p:sp>
        <p:nvSpPr>
          <p:cNvPr id="35" name="Shape 32"/>
          <p:cNvSpPr/>
          <p:nvPr/>
        </p:nvSpPr>
        <p:spPr>
          <a:xfrm>
            <a:off x="10908031" y="3645218"/>
            <a:ext cx="3108960" cy="3745230"/>
          </a:xfrm>
          <a:prstGeom prst="rect">
            <a:avLst/>
          </a:prstGeom>
          <a:solidFill>
            <a:srgbClr val="FFFFFF"/>
          </a:solidFill>
          <a:ln/>
        </p:spPr>
      </p:sp>
      <p:sp>
        <p:nvSpPr>
          <p:cNvPr id="36" name="Shape 33"/>
          <p:cNvSpPr/>
          <p:nvPr/>
        </p:nvSpPr>
        <p:spPr>
          <a:xfrm>
            <a:off x="10908031" y="7375208"/>
            <a:ext cx="3108960" cy="15240"/>
          </a:xfrm>
          <a:prstGeom prst="rect">
            <a:avLst/>
          </a:prstGeom>
          <a:solidFill>
            <a:srgbClr val="EFE6DA"/>
          </a:solidFill>
          <a:ln/>
        </p:spPr>
      </p:sp>
      <p:sp>
        <p:nvSpPr>
          <p:cNvPr id="37" name="Shape 34"/>
          <p:cNvSpPr/>
          <p:nvPr/>
        </p:nvSpPr>
        <p:spPr>
          <a:xfrm>
            <a:off x="10908031" y="3645218"/>
            <a:ext cx="3108960" cy="53340"/>
          </a:xfrm>
          <a:prstGeom prst="rect">
            <a:avLst/>
          </a:prstGeom>
          <a:solidFill>
            <a:srgbClr val="B19C7D"/>
          </a:solidFill>
          <a:ln/>
        </p:spPr>
      </p:sp>
      <p:sp>
        <p:nvSpPr>
          <p:cNvPr id="38" name="Shape 35"/>
          <p:cNvSpPr/>
          <p:nvPr/>
        </p:nvSpPr>
        <p:spPr>
          <a:xfrm>
            <a:off x="10908031" y="3645218"/>
            <a:ext cx="15240" cy="3745230"/>
          </a:xfrm>
          <a:prstGeom prst="rect">
            <a:avLst/>
          </a:prstGeom>
          <a:solidFill>
            <a:srgbClr val="EFE6DA"/>
          </a:solidFill>
          <a:ln/>
        </p:spPr>
      </p:sp>
      <p:sp>
        <p:nvSpPr>
          <p:cNvPr id="39" name="Shape 36"/>
          <p:cNvSpPr/>
          <p:nvPr/>
        </p:nvSpPr>
        <p:spPr>
          <a:xfrm>
            <a:off x="14001751" y="3645218"/>
            <a:ext cx="15240" cy="3745230"/>
          </a:xfrm>
          <a:prstGeom prst="rect">
            <a:avLst/>
          </a:prstGeom>
          <a:solidFill>
            <a:srgbClr val="EFE6DA"/>
          </a:solidFill>
          <a:ln/>
        </p:spPr>
      </p:sp>
      <p:sp>
        <p:nvSpPr>
          <p:cNvPr id="40" name="Text 37"/>
          <p:cNvSpPr/>
          <p:nvPr/>
        </p:nvSpPr>
        <p:spPr>
          <a:xfrm>
            <a:off x="11132820" y="3965258"/>
            <a:ext cx="2925318" cy="297180"/>
          </a:xfrm>
          <a:prstGeom prst="rect">
            <a:avLst/>
          </a:prstGeom>
          <a:noFill/>
          <a:ln/>
        </p:spPr>
        <p:txBody>
          <a:bodyPr wrap="square" lIns="25400" tIns="25400" rIns="25400" bIns="25400" rtlCol="0" anchor="t">
            <a:normAutofit/>
          </a:bodyPr>
          <a:lstStyle/>
          <a:p>
            <a:pPr algn="l" indent="0" marL="0">
              <a:buNone/>
            </a:pPr>
            <a:r>
              <a:rPr lang="en-US" sz="1800" b="1" spc="150" kern="0" dirty="0">
                <a:solidFill>
                  <a:srgbClr val="B19C7D"/>
                </a:solidFill>
                <a:latin typeface="Arial" pitchFamily="34" charset="0"/>
                <a:ea typeface="Arial" pitchFamily="34" charset="-122"/>
                <a:cs typeface="Arial" pitchFamily="34" charset="-120"/>
              </a:rPr>
              <a:t>P4</a:t>
            </a:r>
            <a:endParaRPr lang="en-US" sz="1800" dirty="0"/>
          </a:p>
        </p:txBody>
      </p:sp>
      <p:sp>
        <p:nvSpPr>
          <p:cNvPr id="41" name="Text 38"/>
          <p:cNvSpPr/>
          <p:nvPr/>
        </p:nvSpPr>
        <p:spPr>
          <a:xfrm>
            <a:off x="11132820" y="4319588"/>
            <a:ext cx="2739162" cy="633412"/>
          </a:xfrm>
          <a:prstGeom prst="rect">
            <a:avLst/>
          </a:prstGeom>
          <a:noFill/>
          <a:ln/>
        </p:spPr>
        <p:txBody>
          <a:bodyPr wrap="square" lIns="25400" tIns="25400" rIns="25400" bIns="25400" rtlCol="0" anchor="t">
            <a:normAutofit/>
          </a:bodyPr>
          <a:lstStyle/>
          <a:p>
            <a:pPr algn="l" indent="0" marL="0">
              <a:lnSpc>
                <a:spcPct val="125000"/>
              </a:lnSpc>
              <a:buNone/>
            </a:pPr>
            <a:r>
              <a:rPr lang="en-US" sz="1875" b="1" dirty="0">
                <a:solidFill>
                  <a:srgbClr val="2A2A2A"/>
                </a:solidFill>
                <a:latin typeface="Arial" pitchFamily="34" charset="0"/>
                <a:ea typeface="Arial" pitchFamily="34" charset="-122"/>
                <a:cs typeface="Arial" pitchFamily="34" charset="-120"/>
              </a:rPr>
              <a:t>No central request record</a:t>
            </a:r>
            <a:endParaRPr lang="en-US" sz="1875" dirty="0"/>
          </a:p>
        </p:txBody>
      </p:sp>
      <p:sp>
        <p:nvSpPr>
          <p:cNvPr id="42" name="Text 39"/>
          <p:cNvSpPr/>
          <p:nvPr/>
        </p:nvSpPr>
        <p:spPr>
          <a:xfrm>
            <a:off x="11132820" y="5048250"/>
            <a:ext cx="2739162" cy="1705928"/>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5A5A5A"/>
                </a:solidFill>
                <a:latin typeface="Arial" pitchFamily="34" charset="0"/>
                <a:ea typeface="Arial" pitchFamily="34" charset="-122"/>
                <a:cs typeface="Arial" pitchFamily="34" charset="-120"/>
              </a:rPr>
              <a:t>Past enquiries are scattered across chat threads with no audit trail.</a:t>
            </a:r>
            <a:endParaRPr lang="en-US" sz="1800" dirty="0"/>
          </a:p>
        </p:txBody>
      </p:sp>
      <p:sp>
        <p:nvSpPr>
          <p:cNvPr id="43" name="Text 40"/>
          <p:cNvSpPr/>
          <p:nvPr/>
        </p:nvSpPr>
        <p:spPr>
          <a:xfrm>
            <a:off x="11132820" y="6849428"/>
            <a:ext cx="2925318" cy="297180"/>
          </a:xfrm>
          <a:prstGeom prst="rect">
            <a:avLst/>
          </a:prstGeom>
          <a:noFill/>
          <a:ln/>
        </p:spPr>
        <p:txBody>
          <a:bodyPr wrap="square" lIns="25400" tIns="25400" rIns="25400" bIns="25400" rtlCol="0" anchor="t">
            <a:normAutofit/>
          </a:bodyPr>
          <a:lstStyle/>
          <a:p>
            <a:pPr algn="l" indent="0" marL="0">
              <a:buNone/>
            </a:pPr>
            <a:r>
              <a:rPr lang="en-US" sz="1800" b="1" spc="75" kern="0" dirty="0">
                <a:solidFill>
                  <a:srgbClr val="B19C7D"/>
                </a:solidFill>
                <a:latin typeface="Arial" pitchFamily="34" charset="0"/>
                <a:ea typeface="Arial" pitchFamily="34" charset="-122"/>
                <a:cs typeface="Arial" pitchFamily="34" charset="-120"/>
              </a:rPr>
              <a:t>MEDIUM</a:t>
            </a:r>
            <a:endParaRPr lang="en-US" sz="1800" dirty="0"/>
          </a:p>
        </p:txBody>
      </p:sp>
      <p:sp>
        <p:nvSpPr>
          <p:cNvPr id="44" name="Shape 41"/>
          <p:cNvSpPr/>
          <p:nvPr/>
        </p:nvSpPr>
        <p:spPr>
          <a:xfrm>
            <a:off x="14226540" y="3645218"/>
            <a:ext cx="3108960" cy="3745230"/>
          </a:xfrm>
          <a:prstGeom prst="rect">
            <a:avLst/>
          </a:prstGeom>
          <a:solidFill>
            <a:srgbClr val="FFFFFF"/>
          </a:solidFill>
          <a:ln/>
        </p:spPr>
      </p:sp>
      <p:sp>
        <p:nvSpPr>
          <p:cNvPr id="45" name="Shape 42"/>
          <p:cNvSpPr/>
          <p:nvPr/>
        </p:nvSpPr>
        <p:spPr>
          <a:xfrm>
            <a:off x="14226540" y="7375208"/>
            <a:ext cx="3108960" cy="15240"/>
          </a:xfrm>
          <a:prstGeom prst="rect">
            <a:avLst/>
          </a:prstGeom>
          <a:solidFill>
            <a:srgbClr val="EFE6DA"/>
          </a:solidFill>
          <a:ln/>
        </p:spPr>
      </p:sp>
      <p:sp>
        <p:nvSpPr>
          <p:cNvPr id="46" name="Shape 43"/>
          <p:cNvSpPr/>
          <p:nvPr/>
        </p:nvSpPr>
        <p:spPr>
          <a:xfrm>
            <a:off x="14226540" y="3645218"/>
            <a:ext cx="3108960" cy="53340"/>
          </a:xfrm>
          <a:prstGeom prst="rect">
            <a:avLst/>
          </a:prstGeom>
          <a:solidFill>
            <a:srgbClr val="B19C7D"/>
          </a:solidFill>
          <a:ln/>
        </p:spPr>
      </p:sp>
      <p:sp>
        <p:nvSpPr>
          <p:cNvPr id="47" name="Shape 44"/>
          <p:cNvSpPr/>
          <p:nvPr/>
        </p:nvSpPr>
        <p:spPr>
          <a:xfrm>
            <a:off x="14226540" y="3645218"/>
            <a:ext cx="15240" cy="3745230"/>
          </a:xfrm>
          <a:prstGeom prst="rect">
            <a:avLst/>
          </a:prstGeom>
          <a:solidFill>
            <a:srgbClr val="EFE6DA"/>
          </a:solidFill>
          <a:ln/>
        </p:spPr>
      </p:sp>
      <p:sp>
        <p:nvSpPr>
          <p:cNvPr id="48" name="Shape 45"/>
          <p:cNvSpPr/>
          <p:nvPr/>
        </p:nvSpPr>
        <p:spPr>
          <a:xfrm>
            <a:off x="17320260" y="3645218"/>
            <a:ext cx="15240" cy="3745230"/>
          </a:xfrm>
          <a:prstGeom prst="rect">
            <a:avLst/>
          </a:prstGeom>
          <a:solidFill>
            <a:srgbClr val="EFE6DA"/>
          </a:solidFill>
          <a:ln/>
        </p:spPr>
      </p:sp>
      <p:sp>
        <p:nvSpPr>
          <p:cNvPr id="49" name="Text 46"/>
          <p:cNvSpPr/>
          <p:nvPr/>
        </p:nvSpPr>
        <p:spPr>
          <a:xfrm>
            <a:off x="14451331" y="3965258"/>
            <a:ext cx="2925318" cy="297180"/>
          </a:xfrm>
          <a:prstGeom prst="rect">
            <a:avLst/>
          </a:prstGeom>
          <a:noFill/>
          <a:ln/>
        </p:spPr>
        <p:txBody>
          <a:bodyPr wrap="square" lIns="25400" tIns="25400" rIns="25400" bIns="25400" rtlCol="0" anchor="t">
            <a:normAutofit/>
          </a:bodyPr>
          <a:lstStyle/>
          <a:p>
            <a:pPr algn="l" indent="0" marL="0">
              <a:buNone/>
            </a:pPr>
            <a:r>
              <a:rPr lang="en-US" sz="1800" b="1" spc="150" kern="0" dirty="0">
                <a:solidFill>
                  <a:srgbClr val="B19C7D"/>
                </a:solidFill>
                <a:latin typeface="Arial" pitchFamily="34" charset="0"/>
                <a:ea typeface="Arial" pitchFamily="34" charset="-122"/>
                <a:cs typeface="Arial" pitchFamily="34" charset="-120"/>
              </a:rPr>
              <a:t>P5</a:t>
            </a:r>
            <a:endParaRPr lang="en-US" sz="1800" dirty="0"/>
          </a:p>
        </p:txBody>
      </p:sp>
      <p:sp>
        <p:nvSpPr>
          <p:cNvPr id="50" name="Text 47"/>
          <p:cNvSpPr/>
          <p:nvPr/>
        </p:nvSpPr>
        <p:spPr>
          <a:xfrm>
            <a:off x="14451331" y="4319588"/>
            <a:ext cx="2739162" cy="633412"/>
          </a:xfrm>
          <a:prstGeom prst="rect">
            <a:avLst/>
          </a:prstGeom>
          <a:noFill/>
          <a:ln/>
        </p:spPr>
        <p:txBody>
          <a:bodyPr wrap="square" lIns="25400" tIns="25400" rIns="25400" bIns="25400" rtlCol="0" anchor="t">
            <a:normAutofit/>
          </a:bodyPr>
          <a:lstStyle/>
          <a:p>
            <a:pPr algn="l" indent="0" marL="0">
              <a:lnSpc>
                <a:spcPct val="125000"/>
              </a:lnSpc>
              <a:buNone/>
            </a:pPr>
            <a:r>
              <a:rPr lang="en-US" sz="1875" b="1" dirty="0">
                <a:solidFill>
                  <a:srgbClr val="2A2A2A"/>
                </a:solidFill>
                <a:latin typeface="Arial" pitchFamily="34" charset="0"/>
                <a:ea typeface="Arial" pitchFamily="34" charset="-122"/>
                <a:cs typeface="Arial" pitchFamily="34" charset="-120"/>
              </a:rPr>
              <a:t>Unstructured content management</a:t>
            </a:r>
            <a:endParaRPr lang="en-US" sz="1875" dirty="0"/>
          </a:p>
        </p:txBody>
      </p:sp>
      <p:sp>
        <p:nvSpPr>
          <p:cNvPr id="51" name="Text 48"/>
          <p:cNvSpPr/>
          <p:nvPr/>
        </p:nvSpPr>
        <p:spPr>
          <a:xfrm>
            <a:off x="14451331" y="5048250"/>
            <a:ext cx="2739162" cy="1705928"/>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5A5A5A"/>
                </a:solidFill>
                <a:latin typeface="Arial" pitchFamily="34" charset="0"/>
                <a:ea typeface="Arial" pitchFamily="34" charset="-122"/>
                <a:cs typeface="Arial" pitchFamily="34" charset="-120"/>
              </a:rPr>
              <a:t>Website content and project listings are updated manually without a system.</a:t>
            </a:r>
            <a:endParaRPr lang="en-US" sz="1800" dirty="0"/>
          </a:p>
        </p:txBody>
      </p:sp>
      <p:sp>
        <p:nvSpPr>
          <p:cNvPr id="52" name="Text 49"/>
          <p:cNvSpPr/>
          <p:nvPr/>
        </p:nvSpPr>
        <p:spPr>
          <a:xfrm>
            <a:off x="14451331" y="6849428"/>
            <a:ext cx="2925318" cy="297180"/>
          </a:xfrm>
          <a:prstGeom prst="rect">
            <a:avLst/>
          </a:prstGeom>
          <a:noFill/>
          <a:ln/>
        </p:spPr>
        <p:txBody>
          <a:bodyPr wrap="square" lIns="25400" tIns="25400" rIns="25400" bIns="25400" rtlCol="0" anchor="t">
            <a:normAutofit/>
          </a:bodyPr>
          <a:lstStyle/>
          <a:p>
            <a:pPr algn="l" indent="0" marL="0">
              <a:buNone/>
            </a:pPr>
            <a:r>
              <a:rPr lang="en-US" sz="1800" b="1" spc="75" kern="0" dirty="0">
                <a:solidFill>
                  <a:srgbClr val="B19C7D"/>
                </a:solidFill>
                <a:latin typeface="Arial" pitchFamily="34" charset="0"/>
                <a:ea typeface="Arial" pitchFamily="34" charset="-122"/>
                <a:cs typeface="Arial" pitchFamily="34" charset="-120"/>
              </a:rPr>
              <a:t>MEDIUM</a:t>
            </a:r>
            <a:endParaRPr lang="en-US" sz="1800" dirty="0"/>
          </a:p>
        </p:txBody>
      </p:sp>
      <p:sp>
        <p:nvSpPr>
          <p:cNvPr id="53" name="Text 50"/>
          <p:cNvSpPr/>
          <p:nvPr/>
        </p:nvSpPr>
        <p:spPr>
          <a:xfrm>
            <a:off x="952500" y="7714298"/>
            <a:ext cx="18021300" cy="297180"/>
          </a:xfrm>
          <a:prstGeom prst="rect">
            <a:avLst/>
          </a:prstGeom>
          <a:noFill/>
          <a:ln/>
        </p:spPr>
        <p:txBody>
          <a:bodyPr wrap="square" lIns="25400" tIns="25400" rIns="25400" bIns="25400" rtlCol="0" anchor="t">
            <a:normAutofit/>
          </a:bodyPr>
          <a:lstStyle/>
          <a:p>
            <a:pPr algn="l" indent="0" marL="0">
              <a:buNone/>
            </a:pPr>
            <a:r>
              <a:rPr lang="en-US" sz="1800" i="1" dirty="0">
                <a:solidFill>
                  <a:srgbClr val="74121D"/>
                </a:solidFill>
                <a:latin typeface="Arial" pitchFamily="34" charset="0"/>
                <a:ea typeface="Arial" pitchFamily="34" charset="-122"/>
                <a:cs typeface="Arial" pitchFamily="34" charset="-120"/>
              </a:rPr>
              <a:t>Source: Stakeholder interview &amp; workflow observation — Table 3.1</a:t>
            </a:r>
            <a:endParaRPr lang="en-US" sz="1800" dirty="0"/>
          </a:p>
        </p:txBody>
      </p:sp>
      <p:sp>
        <p:nvSpPr>
          <p:cNvPr id="54" name="Text 51"/>
          <p:cNvSpPr/>
          <p:nvPr/>
        </p:nvSpPr>
        <p:spPr>
          <a:xfrm>
            <a:off x="952500" y="9761220"/>
            <a:ext cx="4426744" cy="297180"/>
          </a:xfrm>
          <a:prstGeom prst="rect">
            <a:avLst/>
          </a:prstGeom>
          <a:noFill/>
          <a:ln/>
        </p:spPr>
        <p:txBody>
          <a:bodyPr wrap="square" lIns="25400" tIns="25400" rIns="25400" bIns="25400" rtlCol="0" anchor="t">
            <a:normAutofit/>
          </a:bodyPr>
          <a:lstStyle/>
          <a:p>
            <a:pPr algn="l" indent="0" marL="0">
              <a:buNone/>
            </a:pPr>
            <a:r>
              <a:rPr lang="en-US" sz="1800" spc="38" kern="0" dirty="0">
                <a:solidFill>
                  <a:srgbClr val="9A8C7E"/>
                </a:solidFill>
                <a:latin typeface="Arial" pitchFamily="34" charset="0"/>
                <a:ea typeface="Arial" pitchFamily="34" charset="-122"/>
                <a:cs typeface="Arial" pitchFamily="34" charset="-120"/>
              </a:rPr>
              <a:t>UATCC Web Application · PSM 1 Viva</a:t>
            </a:r>
            <a:endParaRPr lang="en-US" sz="1800" dirty="0"/>
          </a:p>
        </p:txBody>
      </p:sp>
      <p:sp>
        <p:nvSpPr>
          <p:cNvPr id="55" name="Text 52"/>
          <p:cNvSpPr/>
          <p:nvPr/>
        </p:nvSpPr>
        <p:spPr>
          <a:xfrm>
            <a:off x="16603027" y="9761220"/>
            <a:ext cx="808673" cy="297180"/>
          </a:xfrm>
          <a:prstGeom prst="rect">
            <a:avLst/>
          </a:prstGeom>
          <a:noFill/>
          <a:ln/>
        </p:spPr>
        <p:txBody>
          <a:bodyPr wrap="square" lIns="25400" tIns="25400" rIns="25400" bIns="25400" rtlCol="0" anchor="t">
            <a:normAutofit/>
          </a:bodyPr>
          <a:lstStyle/>
          <a:p>
            <a:pPr algn="l" indent="0" marL="0">
              <a:buNone/>
            </a:pPr>
            <a:r>
              <a:rPr lang="en-US" sz="1800" spc="38" kern="0" dirty="0">
                <a:solidFill>
                  <a:srgbClr val="9A8C7E"/>
                </a:solidFill>
                <a:latin typeface="Arial" pitchFamily="34" charset="0"/>
                <a:ea typeface="Arial" pitchFamily="34" charset="-122"/>
                <a:cs typeface="Arial" pitchFamily="34" charset="-120"/>
              </a:rPr>
              <a:t>03 / 14</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0" cy="133350"/>
          </a:xfrm>
          <a:prstGeom prst="rect">
            <a:avLst/>
          </a:prstGeom>
          <a:solidFill>
            <a:srgbClr val="74121D"/>
          </a:solidFill>
          <a:ln/>
        </p:spPr>
      </p:sp>
      <p:pic>
        <p:nvPicPr>
          <p:cNvPr id="3" name="Image 0" descr="preencoded.png">    </p:cNvPr>
          <p:cNvPicPr>
            <a:picLocks noChangeAspect="1"/>
          </p:cNvPicPr>
          <p:nvPr/>
        </p:nvPicPr>
        <p:blipFill>
          <a:blip r:embed="rId1"/>
          <a:stretch>
            <a:fillRect/>
          </a:stretch>
        </p:blipFill>
        <p:spPr>
          <a:xfrm>
            <a:off x="16004143" y="361950"/>
            <a:ext cx="1521857" cy="514350"/>
          </a:xfrm>
          <a:prstGeom prst="rect">
            <a:avLst/>
          </a:prstGeom>
        </p:spPr>
      </p:pic>
      <p:sp>
        <p:nvSpPr>
          <p:cNvPr id="4" name="Text 1"/>
          <p:cNvSpPr/>
          <p:nvPr/>
        </p:nvSpPr>
        <p:spPr>
          <a:xfrm>
            <a:off x="952500" y="1238250"/>
            <a:ext cx="18021300" cy="297180"/>
          </a:xfrm>
          <a:prstGeom prst="rect">
            <a:avLst/>
          </a:prstGeom>
          <a:noFill/>
          <a:ln/>
        </p:spPr>
        <p:txBody>
          <a:bodyPr wrap="square" lIns="25400" tIns="25400" rIns="25400" bIns="25400" rtlCol="0" anchor="t">
            <a:normAutofit/>
          </a:bodyPr>
          <a:lstStyle/>
          <a:p>
            <a:pPr algn="l" indent="0" marL="0">
              <a:buNone/>
            </a:pPr>
            <a:r>
              <a:rPr lang="en-US" sz="1800" b="1" spc="225" kern="0" dirty="0">
                <a:solidFill>
                  <a:srgbClr val="B19C7D"/>
                </a:solidFill>
                <a:latin typeface="Arial" pitchFamily="34" charset="0"/>
                <a:ea typeface="Arial" pitchFamily="34" charset="-122"/>
                <a:cs typeface="Arial" pitchFamily="34" charset="-120"/>
              </a:rPr>
              <a:t>CHAPTER 1.3 – 1.4</a:t>
            </a:r>
            <a:endParaRPr lang="en-US" sz="1800" dirty="0"/>
          </a:p>
        </p:txBody>
      </p:sp>
      <p:sp>
        <p:nvSpPr>
          <p:cNvPr id="5" name="Text 2"/>
          <p:cNvSpPr/>
          <p:nvPr/>
        </p:nvSpPr>
        <p:spPr>
          <a:xfrm>
            <a:off x="952500" y="1611630"/>
            <a:ext cx="18021300" cy="638175"/>
          </a:xfrm>
          <a:prstGeom prst="rect">
            <a:avLst/>
          </a:prstGeom>
          <a:noFill/>
          <a:ln/>
        </p:spPr>
        <p:txBody>
          <a:bodyPr wrap="square" lIns="25400" tIns="25400" rIns="25400" bIns="25400" rtlCol="0" anchor="t">
            <a:normAutofit/>
          </a:bodyPr>
          <a:lstStyle/>
          <a:p>
            <a:pPr algn="l" indent="0" marL="0">
              <a:lnSpc>
                <a:spcPct val="105000"/>
              </a:lnSpc>
              <a:buNone/>
            </a:pPr>
            <a:r>
              <a:rPr lang="en-US" sz="4500" b="1" spc="-37" kern="0" dirty="0">
                <a:solidFill>
                  <a:srgbClr val="74121D"/>
                </a:solidFill>
                <a:latin typeface="Arial" pitchFamily="34" charset="0"/>
                <a:ea typeface="Arial" pitchFamily="34" charset="-122"/>
                <a:cs typeface="Arial" pitchFamily="34" charset="-120"/>
              </a:rPr>
              <a:t>Project Aim and Objectives</a:t>
            </a:r>
            <a:endParaRPr lang="en-US" sz="4500" dirty="0"/>
          </a:p>
        </p:txBody>
      </p:sp>
      <p:sp>
        <p:nvSpPr>
          <p:cNvPr id="6" name="Shape 3"/>
          <p:cNvSpPr/>
          <p:nvPr/>
        </p:nvSpPr>
        <p:spPr>
          <a:xfrm>
            <a:off x="952500" y="2402205"/>
            <a:ext cx="857250" cy="47625"/>
          </a:xfrm>
          <a:prstGeom prst="roundRect">
            <a:avLst>
              <a:gd name="adj" fmla="val 50000"/>
            </a:avLst>
          </a:prstGeom>
          <a:solidFill>
            <a:srgbClr val="B19C7D"/>
          </a:solidFill>
          <a:ln/>
        </p:spPr>
      </p:sp>
      <p:sp>
        <p:nvSpPr>
          <p:cNvPr id="7" name="Shape 4"/>
          <p:cNvSpPr/>
          <p:nvPr/>
        </p:nvSpPr>
        <p:spPr>
          <a:xfrm>
            <a:off x="952500" y="2868930"/>
            <a:ext cx="16383000" cy="1630680"/>
          </a:xfrm>
          <a:prstGeom prst="rect">
            <a:avLst/>
          </a:prstGeom>
          <a:solidFill>
            <a:srgbClr val="74121D"/>
          </a:solidFill>
          <a:ln/>
        </p:spPr>
      </p:sp>
      <p:sp>
        <p:nvSpPr>
          <p:cNvPr id="8" name="Text 5"/>
          <p:cNvSpPr/>
          <p:nvPr/>
        </p:nvSpPr>
        <p:spPr>
          <a:xfrm>
            <a:off x="1295400" y="3116580"/>
            <a:ext cx="17266920" cy="297180"/>
          </a:xfrm>
          <a:prstGeom prst="rect">
            <a:avLst/>
          </a:prstGeom>
          <a:noFill/>
          <a:ln/>
        </p:spPr>
        <p:txBody>
          <a:bodyPr wrap="square" lIns="25400" tIns="25400" rIns="25400" bIns="25400" rtlCol="0" anchor="t">
            <a:normAutofit/>
          </a:bodyPr>
          <a:lstStyle/>
          <a:p>
            <a:pPr algn="l" indent="0" marL="0">
              <a:buNone/>
            </a:pPr>
            <a:r>
              <a:rPr lang="en-US" sz="1800" b="1" spc="225" kern="0" dirty="0">
                <a:solidFill>
                  <a:srgbClr val="E7D7C1"/>
                </a:solidFill>
                <a:latin typeface="Arial" pitchFamily="34" charset="0"/>
                <a:ea typeface="Arial" pitchFamily="34" charset="-122"/>
                <a:cs typeface="Arial" pitchFamily="34" charset="-120"/>
              </a:rPr>
              <a:t>AIM</a:t>
            </a:r>
            <a:endParaRPr lang="en-US" sz="1800" dirty="0"/>
          </a:p>
        </p:txBody>
      </p:sp>
      <p:sp>
        <p:nvSpPr>
          <p:cNvPr id="9" name="Text 6"/>
          <p:cNvSpPr/>
          <p:nvPr/>
        </p:nvSpPr>
        <p:spPr>
          <a:xfrm>
            <a:off x="1295400" y="3451860"/>
            <a:ext cx="16168116" cy="83820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FFFFFF"/>
                </a:solidFill>
                <a:latin typeface="Arial" pitchFamily="34" charset="0"/>
                <a:ea typeface="Arial" pitchFamily="34" charset="-122"/>
                <a:cs typeface="Arial" pitchFamily="34" charset="-120"/>
              </a:rPr>
              <a:t>Develop a web application that improves client communication, organises service requests, and provides a more efficient platform for project and content management.</a:t>
            </a:r>
            <a:endParaRPr lang="en-US" sz="2250" dirty="0"/>
          </a:p>
        </p:txBody>
      </p:sp>
      <p:sp>
        <p:nvSpPr>
          <p:cNvPr id="10" name="Shape 7"/>
          <p:cNvSpPr/>
          <p:nvPr/>
        </p:nvSpPr>
        <p:spPr>
          <a:xfrm>
            <a:off x="952500" y="4975860"/>
            <a:ext cx="5245061" cy="3752850"/>
          </a:xfrm>
          <a:prstGeom prst="rect">
            <a:avLst/>
          </a:prstGeom>
          <a:solidFill>
            <a:srgbClr val="FBF6EE"/>
          </a:solidFill>
          <a:ln/>
        </p:spPr>
      </p:sp>
      <p:sp>
        <p:nvSpPr>
          <p:cNvPr id="11" name="Shape 8"/>
          <p:cNvSpPr/>
          <p:nvPr/>
        </p:nvSpPr>
        <p:spPr>
          <a:xfrm>
            <a:off x="1219200" y="4766310"/>
            <a:ext cx="609600" cy="609600"/>
          </a:xfrm>
          <a:prstGeom prst="ellipse">
            <a:avLst/>
          </a:prstGeom>
          <a:solidFill>
            <a:srgbClr val="74121D"/>
          </a:solidFill>
          <a:ln/>
        </p:spPr>
      </p:sp>
      <p:sp>
        <p:nvSpPr>
          <p:cNvPr id="12" name="Text 9"/>
          <p:cNvSpPr/>
          <p:nvPr/>
        </p:nvSpPr>
        <p:spPr>
          <a:xfrm>
            <a:off x="1181100" y="4766310"/>
            <a:ext cx="685800" cy="647700"/>
          </a:xfrm>
          <a:prstGeom prst="rect">
            <a:avLst/>
          </a:prstGeom>
          <a:noFill/>
          <a:ln/>
        </p:spPr>
        <p:txBody>
          <a:bodyPr wrap="square" lIns="25400" tIns="25400" rIns="25400" bIns="25400" rtlCol="0" anchor="ctr">
            <a:normAutofit/>
          </a:bodyPr>
          <a:lstStyle/>
          <a:p>
            <a:pPr algn="ctr" indent="0" marL="0">
              <a:buNone/>
            </a:pPr>
            <a:r>
              <a:rPr lang="en-US" sz="1950" b="1" dirty="0">
                <a:solidFill>
                  <a:srgbClr val="FFFFFF"/>
                </a:solidFill>
                <a:latin typeface="Arial" pitchFamily="34" charset="0"/>
                <a:ea typeface="Arial" pitchFamily="34" charset="-122"/>
                <a:cs typeface="Arial" pitchFamily="34" charset="-120"/>
              </a:rPr>
              <a:t>01</a:t>
            </a:r>
            <a:endParaRPr lang="en-US" sz="1950" dirty="0"/>
          </a:p>
        </p:txBody>
      </p:sp>
      <p:sp>
        <p:nvSpPr>
          <p:cNvPr id="13" name="Text 10"/>
          <p:cNvSpPr/>
          <p:nvPr/>
        </p:nvSpPr>
        <p:spPr>
          <a:xfrm>
            <a:off x="1238250" y="5509260"/>
            <a:ext cx="5140916" cy="297180"/>
          </a:xfrm>
          <a:prstGeom prst="rect">
            <a:avLst/>
          </a:prstGeom>
          <a:noFill/>
          <a:ln/>
        </p:spPr>
        <p:txBody>
          <a:bodyPr wrap="square" lIns="25400" tIns="25400" rIns="25400" bIns="25400" rtlCol="0" anchor="t">
            <a:normAutofit/>
          </a:bodyPr>
          <a:lstStyle/>
          <a:p>
            <a:pPr algn="l" indent="0" marL="0">
              <a:buNone/>
            </a:pPr>
            <a:r>
              <a:rPr lang="en-US" sz="1800" b="1" spc="113" kern="0" dirty="0">
                <a:solidFill>
                  <a:srgbClr val="74121D"/>
                </a:solidFill>
                <a:latin typeface="Arial" pitchFamily="34" charset="0"/>
                <a:ea typeface="Arial" pitchFamily="34" charset="-122"/>
                <a:cs typeface="Arial" pitchFamily="34" charset="-120"/>
              </a:rPr>
              <a:t>SHOWCASE &amp; STRUCTURE</a:t>
            </a:r>
            <a:endParaRPr lang="en-US" sz="1800" dirty="0"/>
          </a:p>
        </p:txBody>
      </p:sp>
      <p:sp>
        <p:nvSpPr>
          <p:cNvPr id="14" name="Text 11"/>
          <p:cNvSpPr/>
          <p:nvPr/>
        </p:nvSpPr>
        <p:spPr>
          <a:xfrm>
            <a:off x="1238250" y="5901690"/>
            <a:ext cx="4813767" cy="1073944"/>
          </a:xfrm>
          <a:prstGeom prst="rect">
            <a:avLst/>
          </a:prstGeom>
          <a:noFill/>
          <a:ln/>
        </p:spPr>
        <p:txBody>
          <a:bodyPr wrap="square" lIns="25400" tIns="25400" rIns="25400" bIns="25400" rtlCol="0" anchor="t">
            <a:normAutofit/>
          </a:bodyPr>
          <a:lstStyle/>
          <a:p>
            <a:pPr algn="l" indent="0" marL="0">
              <a:lnSpc>
                <a:spcPct val="145000"/>
              </a:lnSpc>
              <a:buNone/>
            </a:pPr>
            <a:r>
              <a:rPr lang="en-US" sz="1875" dirty="0">
                <a:solidFill>
                  <a:srgbClr val="3A3A3A"/>
                </a:solidFill>
                <a:latin typeface="Arial" pitchFamily="34" charset="0"/>
                <a:ea typeface="Arial" pitchFamily="34" charset="-122"/>
                <a:cs typeface="Arial" pitchFamily="34" charset="-120"/>
              </a:rPr>
              <a:t>Browse company projects and services in a structured, professional manner via a standardised digital submission form.</a:t>
            </a:r>
            <a:endParaRPr lang="en-US" sz="1875" dirty="0"/>
          </a:p>
        </p:txBody>
      </p:sp>
      <p:sp>
        <p:nvSpPr>
          <p:cNvPr id="15" name="Shape 12"/>
          <p:cNvSpPr/>
          <p:nvPr/>
        </p:nvSpPr>
        <p:spPr>
          <a:xfrm>
            <a:off x="6521411" y="4975860"/>
            <a:ext cx="5245061" cy="3752850"/>
          </a:xfrm>
          <a:prstGeom prst="rect">
            <a:avLst/>
          </a:prstGeom>
          <a:solidFill>
            <a:srgbClr val="FBF6EE"/>
          </a:solidFill>
          <a:ln/>
        </p:spPr>
      </p:sp>
      <p:sp>
        <p:nvSpPr>
          <p:cNvPr id="16" name="Shape 13"/>
          <p:cNvSpPr/>
          <p:nvPr/>
        </p:nvSpPr>
        <p:spPr>
          <a:xfrm>
            <a:off x="6788111" y="4766310"/>
            <a:ext cx="609600" cy="609600"/>
          </a:xfrm>
          <a:prstGeom prst="ellipse">
            <a:avLst/>
          </a:prstGeom>
          <a:solidFill>
            <a:srgbClr val="74121D"/>
          </a:solidFill>
          <a:ln/>
        </p:spPr>
      </p:sp>
      <p:sp>
        <p:nvSpPr>
          <p:cNvPr id="17" name="Text 14"/>
          <p:cNvSpPr/>
          <p:nvPr/>
        </p:nvSpPr>
        <p:spPr>
          <a:xfrm>
            <a:off x="6750011" y="4766310"/>
            <a:ext cx="685800" cy="647700"/>
          </a:xfrm>
          <a:prstGeom prst="rect">
            <a:avLst/>
          </a:prstGeom>
          <a:noFill/>
          <a:ln/>
        </p:spPr>
        <p:txBody>
          <a:bodyPr wrap="square" lIns="25400" tIns="25400" rIns="25400" bIns="25400" rtlCol="0" anchor="ctr">
            <a:normAutofit/>
          </a:bodyPr>
          <a:lstStyle/>
          <a:p>
            <a:pPr algn="ctr" indent="0" marL="0">
              <a:buNone/>
            </a:pPr>
            <a:r>
              <a:rPr lang="en-US" sz="1950" b="1" dirty="0">
                <a:solidFill>
                  <a:srgbClr val="FFFFFF"/>
                </a:solidFill>
                <a:latin typeface="Arial" pitchFamily="34" charset="0"/>
                <a:ea typeface="Arial" pitchFamily="34" charset="-122"/>
                <a:cs typeface="Arial" pitchFamily="34" charset="-120"/>
              </a:rPr>
              <a:t>02</a:t>
            </a:r>
            <a:endParaRPr lang="en-US" sz="1950" dirty="0"/>
          </a:p>
        </p:txBody>
      </p:sp>
      <p:sp>
        <p:nvSpPr>
          <p:cNvPr id="18" name="Text 15"/>
          <p:cNvSpPr/>
          <p:nvPr/>
        </p:nvSpPr>
        <p:spPr>
          <a:xfrm>
            <a:off x="6807161" y="5509260"/>
            <a:ext cx="5140916" cy="297180"/>
          </a:xfrm>
          <a:prstGeom prst="rect">
            <a:avLst/>
          </a:prstGeom>
          <a:noFill/>
          <a:ln/>
        </p:spPr>
        <p:txBody>
          <a:bodyPr wrap="square" lIns="25400" tIns="25400" rIns="25400" bIns="25400" rtlCol="0" anchor="t">
            <a:normAutofit/>
          </a:bodyPr>
          <a:lstStyle/>
          <a:p>
            <a:pPr algn="l" indent="0" marL="0">
              <a:buNone/>
            </a:pPr>
            <a:r>
              <a:rPr lang="en-US" sz="1800" b="1" spc="113" kern="0" dirty="0">
                <a:solidFill>
                  <a:srgbClr val="74121D"/>
                </a:solidFill>
                <a:latin typeface="Arial" pitchFamily="34" charset="0"/>
                <a:ea typeface="Arial" pitchFamily="34" charset="-122"/>
                <a:cs typeface="Arial" pitchFamily="34" charset="-120"/>
              </a:rPr>
              <a:t>INTEGRATE WHATSAPP</a:t>
            </a:r>
            <a:endParaRPr lang="en-US" sz="1800" dirty="0"/>
          </a:p>
        </p:txBody>
      </p:sp>
      <p:sp>
        <p:nvSpPr>
          <p:cNvPr id="19" name="Text 16"/>
          <p:cNvSpPr/>
          <p:nvPr/>
        </p:nvSpPr>
        <p:spPr>
          <a:xfrm>
            <a:off x="6807161" y="5901690"/>
            <a:ext cx="4813767" cy="1073944"/>
          </a:xfrm>
          <a:prstGeom prst="rect">
            <a:avLst/>
          </a:prstGeom>
          <a:noFill/>
          <a:ln/>
        </p:spPr>
        <p:txBody>
          <a:bodyPr wrap="square" lIns="25400" tIns="25400" rIns="25400" bIns="25400" rtlCol="0" anchor="t">
            <a:normAutofit/>
          </a:bodyPr>
          <a:lstStyle/>
          <a:p>
            <a:pPr algn="l" indent="0" marL="0">
              <a:lnSpc>
                <a:spcPct val="145000"/>
              </a:lnSpc>
              <a:buNone/>
            </a:pPr>
            <a:r>
              <a:rPr lang="en-US" sz="1875" dirty="0">
                <a:solidFill>
                  <a:srgbClr val="3A3A3A"/>
                </a:solidFill>
                <a:latin typeface="Arial" pitchFamily="34" charset="0"/>
                <a:ea typeface="Arial" pitchFamily="34" charset="-122"/>
                <a:cs typeface="Arial" pitchFamily="34" charset="-120"/>
              </a:rPr>
              <a:t>Auto-convert each submission into a pre-formatted WhatsApp message to reduce repeated follow-up.</a:t>
            </a:r>
            <a:endParaRPr lang="en-US" sz="1875" dirty="0"/>
          </a:p>
        </p:txBody>
      </p:sp>
      <p:sp>
        <p:nvSpPr>
          <p:cNvPr id="20" name="Shape 17"/>
          <p:cNvSpPr/>
          <p:nvPr/>
        </p:nvSpPr>
        <p:spPr>
          <a:xfrm>
            <a:off x="12090321" y="4975860"/>
            <a:ext cx="5245061" cy="3752850"/>
          </a:xfrm>
          <a:prstGeom prst="rect">
            <a:avLst/>
          </a:prstGeom>
          <a:solidFill>
            <a:srgbClr val="FBF6EE"/>
          </a:solidFill>
          <a:ln/>
        </p:spPr>
      </p:sp>
      <p:sp>
        <p:nvSpPr>
          <p:cNvPr id="21" name="Shape 18"/>
          <p:cNvSpPr/>
          <p:nvPr/>
        </p:nvSpPr>
        <p:spPr>
          <a:xfrm>
            <a:off x="12357021" y="4766310"/>
            <a:ext cx="609600" cy="609600"/>
          </a:xfrm>
          <a:prstGeom prst="ellipse">
            <a:avLst/>
          </a:prstGeom>
          <a:solidFill>
            <a:srgbClr val="74121D"/>
          </a:solidFill>
          <a:ln/>
        </p:spPr>
      </p:sp>
      <p:sp>
        <p:nvSpPr>
          <p:cNvPr id="22" name="Text 19"/>
          <p:cNvSpPr/>
          <p:nvPr/>
        </p:nvSpPr>
        <p:spPr>
          <a:xfrm>
            <a:off x="12318921" y="4766310"/>
            <a:ext cx="685800" cy="647700"/>
          </a:xfrm>
          <a:prstGeom prst="rect">
            <a:avLst/>
          </a:prstGeom>
          <a:noFill/>
          <a:ln/>
        </p:spPr>
        <p:txBody>
          <a:bodyPr wrap="square" lIns="25400" tIns="25400" rIns="25400" bIns="25400" rtlCol="0" anchor="ctr">
            <a:normAutofit/>
          </a:bodyPr>
          <a:lstStyle/>
          <a:p>
            <a:pPr algn="ctr" indent="0" marL="0">
              <a:buNone/>
            </a:pPr>
            <a:r>
              <a:rPr lang="en-US" sz="1950" b="1" dirty="0">
                <a:solidFill>
                  <a:srgbClr val="FFFFFF"/>
                </a:solidFill>
                <a:latin typeface="Arial" pitchFamily="34" charset="0"/>
                <a:ea typeface="Arial" pitchFamily="34" charset="-122"/>
                <a:cs typeface="Arial" pitchFamily="34" charset="-120"/>
              </a:rPr>
              <a:t>03</a:t>
            </a:r>
            <a:endParaRPr lang="en-US" sz="1950" dirty="0"/>
          </a:p>
        </p:txBody>
      </p:sp>
      <p:sp>
        <p:nvSpPr>
          <p:cNvPr id="23" name="Text 20"/>
          <p:cNvSpPr/>
          <p:nvPr/>
        </p:nvSpPr>
        <p:spPr>
          <a:xfrm>
            <a:off x="12376071" y="5509260"/>
            <a:ext cx="5140916" cy="297180"/>
          </a:xfrm>
          <a:prstGeom prst="rect">
            <a:avLst/>
          </a:prstGeom>
          <a:noFill/>
          <a:ln/>
        </p:spPr>
        <p:txBody>
          <a:bodyPr wrap="square" lIns="25400" tIns="25400" rIns="25400" bIns="25400" rtlCol="0" anchor="t">
            <a:normAutofit/>
          </a:bodyPr>
          <a:lstStyle/>
          <a:p>
            <a:pPr algn="l" indent="0" marL="0">
              <a:buNone/>
            </a:pPr>
            <a:r>
              <a:rPr lang="en-US" sz="1800" b="1" spc="113" kern="0" dirty="0">
                <a:solidFill>
                  <a:srgbClr val="74121D"/>
                </a:solidFill>
                <a:latin typeface="Arial" pitchFamily="34" charset="0"/>
                <a:ea typeface="Arial" pitchFamily="34" charset="-122"/>
                <a:cs typeface="Arial" pitchFamily="34" charset="-120"/>
              </a:rPr>
              <a:t>AUTOMATE ROUTINE LOAD</a:t>
            </a:r>
            <a:endParaRPr lang="en-US" sz="1800" dirty="0"/>
          </a:p>
        </p:txBody>
      </p:sp>
      <p:sp>
        <p:nvSpPr>
          <p:cNvPr id="24" name="Text 21"/>
          <p:cNvSpPr/>
          <p:nvPr/>
        </p:nvSpPr>
        <p:spPr>
          <a:xfrm>
            <a:off x="12376071" y="5901690"/>
            <a:ext cx="4813767" cy="1073944"/>
          </a:xfrm>
          <a:prstGeom prst="rect">
            <a:avLst/>
          </a:prstGeom>
          <a:noFill/>
          <a:ln/>
        </p:spPr>
        <p:txBody>
          <a:bodyPr wrap="square" lIns="25400" tIns="25400" rIns="25400" bIns="25400" rtlCol="0" anchor="t">
            <a:normAutofit/>
          </a:bodyPr>
          <a:lstStyle/>
          <a:p>
            <a:pPr algn="l" indent="0" marL="0">
              <a:lnSpc>
                <a:spcPct val="145000"/>
              </a:lnSpc>
              <a:buNone/>
            </a:pPr>
            <a:r>
              <a:rPr lang="en-US" sz="1875" dirty="0">
                <a:solidFill>
                  <a:srgbClr val="3A3A3A"/>
                </a:solidFill>
                <a:latin typeface="Arial" pitchFamily="34" charset="0"/>
                <a:ea typeface="Arial" pitchFamily="34" charset="-122"/>
                <a:cs typeface="Arial" pitchFamily="34" charset="-120"/>
              </a:rPr>
              <a:t>Provide a rule-based chatbot and admin dashboard to handle recurring enquiries and manual content updates.</a:t>
            </a:r>
            <a:endParaRPr lang="en-US" sz="1875" dirty="0"/>
          </a:p>
        </p:txBody>
      </p:sp>
      <p:sp>
        <p:nvSpPr>
          <p:cNvPr id="25" name="Text 22"/>
          <p:cNvSpPr/>
          <p:nvPr/>
        </p:nvSpPr>
        <p:spPr>
          <a:xfrm>
            <a:off x="952500" y="9761220"/>
            <a:ext cx="4426744" cy="297180"/>
          </a:xfrm>
          <a:prstGeom prst="rect">
            <a:avLst/>
          </a:prstGeom>
          <a:noFill/>
          <a:ln/>
        </p:spPr>
        <p:txBody>
          <a:bodyPr wrap="square" lIns="25400" tIns="25400" rIns="25400" bIns="25400" rtlCol="0" anchor="t">
            <a:normAutofit/>
          </a:bodyPr>
          <a:lstStyle/>
          <a:p>
            <a:pPr algn="l" indent="0" marL="0">
              <a:buNone/>
            </a:pPr>
            <a:r>
              <a:rPr lang="en-US" sz="1800" spc="38" kern="0" dirty="0">
                <a:solidFill>
                  <a:srgbClr val="9A8C7E"/>
                </a:solidFill>
                <a:latin typeface="Arial" pitchFamily="34" charset="0"/>
                <a:ea typeface="Arial" pitchFamily="34" charset="-122"/>
                <a:cs typeface="Arial" pitchFamily="34" charset="-120"/>
              </a:rPr>
              <a:t>UATCC Web Application · PSM 1 Viva</a:t>
            </a:r>
            <a:endParaRPr lang="en-US" sz="1800" dirty="0"/>
          </a:p>
        </p:txBody>
      </p:sp>
      <p:sp>
        <p:nvSpPr>
          <p:cNvPr id="26" name="Text 23"/>
          <p:cNvSpPr/>
          <p:nvPr/>
        </p:nvSpPr>
        <p:spPr>
          <a:xfrm>
            <a:off x="16603027" y="9761220"/>
            <a:ext cx="808673" cy="297180"/>
          </a:xfrm>
          <a:prstGeom prst="rect">
            <a:avLst/>
          </a:prstGeom>
          <a:noFill/>
          <a:ln/>
        </p:spPr>
        <p:txBody>
          <a:bodyPr wrap="square" lIns="25400" tIns="25400" rIns="25400" bIns="25400" rtlCol="0" anchor="t">
            <a:normAutofit/>
          </a:bodyPr>
          <a:lstStyle/>
          <a:p>
            <a:pPr algn="l" indent="0" marL="0">
              <a:buNone/>
            </a:pPr>
            <a:r>
              <a:rPr lang="en-US" sz="1800" spc="38" kern="0" dirty="0">
                <a:solidFill>
                  <a:srgbClr val="9A8C7E"/>
                </a:solidFill>
                <a:latin typeface="Arial" pitchFamily="34" charset="0"/>
                <a:ea typeface="Arial" pitchFamily="34" charset="-122"/>
                <a:cs typeface="Arial" pitchFamily="34" charset="-120"/>
              </a:rPr>
              <a:t>04 / 14</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0" cy="133350"/>
          </a:xfrm>
          <a:prstGeom prst="rect">
            <a:avLst/>
          </a:prstGeom>
          <a:solidFill>
            <a:srgbClr val="74121D"/>
          </a:solidFill>
          <a:ln/>
        </p:spPr>
      </p:sp>
      <p:pic>
        <p:nvPicPr>
          <p:cNvPr id="3" name="Image 0" descr="preencoded.png">    </p:cNvPr>
          <p:cNvPicPr>
            <a:picLocks noChangeAspect="1"/>
          </p:cNvPicPr>
          <p:nvPr/>
        </p:nvPicPr>
        <p:blipFill>
          <a:blip r:embed="rId1"/>
          <a:stretch>
            <a:fillRect/>
          </a:stretch>
        </p:blipFill>
        <p:spPr>
          <a:xfrm>
            <a:off x="16004143" y="361950"/>
            <a:ext cx="1521857" cy="514350"/>
          </a:xfrm>
          <a:prstGeom prst="rect">
            <a:avLst/>
          </a:prstGeom>
        </p:spPr>
      </p:pic>
      <p:sp>
        <p:nvSpPr>
          <p:cNvPr id="4" name="Text 1"/>
          <p:cNvSpPr/>
          <p:nvPr/>
        </p:nvSpPr>
        <p:spPr>
          <a:xfrm>
            <a:off x="952500" y="1238250"/>
            <a:ext cx="18021300" cy="297180"/>
          </a:xfrm>
          <a:prstGeom prst="rect">
            <a:avLst/>
          </a:prstGeom>
          <a:noFill/>
          <a:ln/>
        </p:spPr>
        <p:txBody>
          <a:bodyPr wrap="square" lIns="25400" tIns="25400" rIns="25400" bIns="25400" rtlCol="0" anchor="t">
            <a:normAutofit/>
          </a:bodyPr>
          <a:lstStyle/>
          <a:p>
            <a:pPr algn="l" indent="0" marL="0">
              <a:buNone/>
            </a:pPr>
            <a:r>
              <a:rPr lang="en-US" sz="1800" b="1" spc="225" kern="0" dirty="0">
                <a:solidFill>
                  <a:srgbClr val="B19C7D"/>
                </a:solidFill>
                <a:latin typeface="Arial" pitchFamily="34" charset="0"/>
                <a:ea typeface="Arial" pitchFamily="34" charset="-122"/>
                <a:cs typeface="Arial" pitchFamily="34" charset="-120"/>
              </a:rPr>
              <a:t>CHAPTER 1.5</a:t>
            </a:r>
            <a:endParaRPr lang="en-US" sz="1800" dirty="0"/>
          </a:p>
        </p:txBody>
      </p:sp>
      <p:sp>
        <p:nvSpPr>
          <p:cNvPr id="5" name="Text 2"/>
          <p:cNvSpPr/>
          <p:nvPr/>
        </p:nvSpPr>
        <p:spPr>
          <a:xfrm>
            <a:off x="952500" y="1611630"/>
            <a:ext cx="18021300" cy="638175"/>
          </a:xfrm>
          <a:prstGeom prst="rect">
            <a:avLst/>
          </a:prstGeom>
          <a:noFill/>
          <a:ln/>
        </p:spPr>
        <p:txBody>
          <a:bodyPr wrap="square" lIns="25400" tIns="25400" rIns="25400" bIns="25400" rtlCol="0" anchor="t">
            <a:normAutofit/>
          </a:bodyPr>
          <a:lstStyle/>
          <a:p>
            <a:pPr algn="l" indent="0" marL="0">
              <a:lnSpc>
                <a:spcPct val="105000"/>
              </a:lnSpc>
              <a:buNone/>
            </a:pPr>
            <a:r>
              <a:rPr lang="en-US" sz="4500" b="1" spc="-37" kern="0" dirty="0">
                <a:solidFill>
                  <a:srgbClr val="74121D"/>
                </a:solidFill>
                <a:latin typeface="Arial" pitchFamily="34" charset="0"/>
                <a:ea typeface="Arial" pitchFamily="34" charset="-122"/>
                <a:cs typeface="Arial" pitchFamily="34" charset="-120"/>
              </a:rPr>
              <a:t>Project Scope</a:t>
            </a:r>
            <a:endParaRPr lang="en-US" sz="4500" dirty="0"/>
          </a:p>
        </p:txBody>
      </p:sp>
      <p:sp>
        <p:nvSpPr>
          <p:cNvPr id="6" name="Shape 3"/>
          <p:cNvSpPr/>
          <p:nvPr/>
        </p:nvSpPr>
        <p:spPr>
          <a:xfrm>
            <a:off x="952500" y="2402205"/>
            <a:ext cx="857250" cy="47625"/>
          </a:xfrm>
          <a:prstGeom prst="roundRect">
            <a:avLst>
              <a:gd name="adj" fmla="val 50000"/>
            </a:avLst>
          </a:prstGeom>
          <a:solidFill>
            <a:srgbClr val="B19C7D"/>
          </a:solidFill>
          <a:ln/>
        </p:spPr>
      </p:sp>
      <p:sp>
        <p:nvSpPr>
          <p:cNvPr id="7" name="Shape 4"/>
          <p:cNvSpPr/>
          <p:nvPr/>
        </p:nvSpPr>
        <p:spPr>
          <a:xfrm>
            <a:off x="952500" y="2868930"/>
            <a:ext cx="8001000" cy="3642360"/>
          </a:xfrm>
          <a:prstGeom prst="rect">
            <a:avLst/>
          </a:prstGeom>
          <a:ln w="15240">
            <a:solidFill>
              <a:srgbClr val="EFE6DA"/>
            </a:solidFill>
            <a:prstDash val="solid"/>
          </a:ln>
        </p:spPr>
      </p:sp>
      <p:sp>
        <p:nvSpPr>
          <p:cNvPr id="8" name="Shape 5"/>
          <p:cNvSpPr/>
          <p:nvPr/>
        </p:nvSpPr>
        <p:spPr>
          <a:xfrm>
            <a:off x="1310640" y="3246120"/>
            <a:ext cx="514350" cy="514350"/>
          </a:xfrm>
          <a:prstGeom prst="ellipse">
            <a:avLst/>
          </a:prstGeom>
          <a:solidFill>
            <a:srgbClr val="74121D"/>
          </a:solidFill>
          <a:ln/>
        </p:spPr>
      </p:sp>
      <p:sp>
        <p:nvSpPr>
          <p:cNvPr id="9" name="Text 6"/>
          <p:cNvSpPr/>
          <p:nvPr/>
        </p:nvSpPr>
        <p:spPr>
          <a:xfrm>
            <a:off x="1272540" y="3246120"/>
            <a:ext cx="590550" cy="552450"/>
          </a:xfrm>
          <a:prstGeom prst="rect">
            <a:avLst/>
          </a:prstGeom>
          <a:noFill/>
          <a:ln/>
        </p:spPr>
        <p:txBody>
          <a:bodyPr wrap="square" lIns="25400" tIns="25400" rIns="25400" bIns="25400" rtlCol="0" anchor="ctr">
            <a:normAutofit/>
          </a:bodyPr>
          <a:lstStyle/>
          <a:p>
            <a:pPr algn="ctr" indent="0" marL="0">
              <a:buNone/>
            </a:pPr>
            <a:r>
              <a:rPr lang="en-US" sz="2100" b="1" dirty="0">
                <a:solidFill>
                  <a:srgbClr val="FFFFFF"/>
                </a:solidFill>
                <a:latin typeface="Arial" pitchFamily="34" charset="0"/>
                <a:ea typeface="Arial" pitchFamily="34" charset="-122"/>
                <a:cs typeface="Arial" pitchFamily="34" charset="-120"/>
              </a:rPr>
              <a:t>C</a:t>
            </a:r>
            <a:endParaRPr lang="en-US" sz="2100" dirty="0"/>
          </a:p>
        </p:txBody>
      </p:sp>
      <p:sp>
        <p:nvSpPr>
          <p:cNvPr id="10" name="Text 7"/>
          <p:cNvSpPr/>
          <p:nvPr/>
        </p:nvSpPr>
        <p:spPr>
          <a:xfrm>
            <a:off x="1996440" y="3339465"/>
            <a:ext cx="2270212" cy="365760"/>
          </a:xfrm>
          <a:prstGeom prst="rect">
            <a:avLst/>
          </a:prstGeom>
          <a:noFill/>
          <a:ln/>
        </p:spPr>
        <p:txBody>
          <a:bodyPr wrap="square" lIns="25400" tIns="25400" rIns="25400" bIns="25400" rtlCol="0" anchor="t">
            <a:normAutofit/>
          </a:bodyPr>
          <a:lstStyle/>
          <a:p>
            <a:pPr algn="l" indent="0" marL="0">
              <a:buNone/>
            </a:pPr>
            <a:r>
              <a:rPr lang="en-US" sz="2250" b="1" spc="75" kern="0" dirty="0">
                <a:solidFill>
                  <a:srgbClr val="74121D"/>
                </a:solidFill>
                <a:latin typeface="Arial" pitchFamily="34" charset="0"/>
                <a:ea typeface="Arial" pitchFamily="34" charset="-122"/>
                <a:cs typeface="Arial" pitchFamily="34" charset="-120"/>
              </a:rPr>
              <a:t>Client (Public)</a:t>
            </a:r>
            <a:endParaRPr lang="en-US" sz="2250" dirty="0"/>
          </a:p>
        </p:txBody>
      </p:sp>
      <p:sp>
        <p:nvSpPr>
          <p:cNvPr id="11" name="Text 8"/>
          <p:cNvSpPr/>
          <p:nvPr/>
        </p:nvSpPr>
        <p:spPr>
          <a:xfrm>
            <a:off x="1310640" y="4065270"/>
            <a:ext cx="288131" cy="421957"/>
          </a:xfrm>
          <a:prstGeom prst="rect">
            <a:avLst/>
          </a:prstGeom>
          <a:noFill/>
          <a:ln/>
        </p:spPr>
        <p:txBody>
          <a:bodyPr wrap="square" lIns="25400" tIns="25400" rIns="25400" bIns="25400" rtlCol="0" anchor="t">
            <a:normAutofit/>
          </a:bodyPr>
          <a:lstStyle/>
          <a:p>
            <a:pPr algn="l" indent="0" marL="0">
              <a:lnSpc>
                <a:spcPct val="155000"/>
              </a:lnSpc>
              <a:buNone/>
            </a:pPr>
            <a:r>
              <a:rPr lang="en-US" sz="1950" b="1" dirty="0">
                <a:solidFill>
                  <a:srgbClr val="74121D"/>
                </a:solidFill>
                <a:latin typeface="Arial" pitchFamily="34" charset="0"/>
                <a:ea typeface="Arial" pitchFamily="34" charset="-122"/>
                <a:cs typeface="Arial" pitchFamily="34" charset="-120"/>
              </a:rPr>
              <a:t>▸</a:t>
            </a:r>
            <a:endParaRPr lang="en-US" sz="1950" dirty="0"/>
          </a:p>
        </p:txBody>
      </p:sp>
      <p:sp>
        <p:nvSpPr>
          <p:cNvPr id="12" name="Text 9"/>
          <p:cNvSpPr/>
          <p:nvPr/>
        </p:nvSpPr>
        <p:spPr>
          <a:xfrm>
            <a:off x="1615440" y="4118610"/>
            <a:ext cx="4121006" cy="312420"/>
          </a:xfrm>
          <a:prstGeom prst="rect">
            <a:avLst/>
          </a:prstGeom>
          <a:noFill/>
          <a:ln/>
        </p:spPr>
        <p:txBody>
          <a:bodyPr wrap="square" lIns="0" tIns="0" rIns="0" bIns="0" rtlCol="0" anchor="t">
            <a:normAutofit/>
          </a:bodyPr>
          <a:lstStyle/>
          <a:p>
            <a:pPr algn="l" indent="0" marL="0">
              <a:lnSpc>
                <a:spcPct val="155000"/>
              </a:lnSpc>
              <a:buNone/>
            </a:pPr>
            <a:r>
              <a:rPr lang="en-US" sz="1950" dirty="0">
                <a:solidFill>
                  <a:srgbClr val="3A3A3A"/>
                </a:solidFill>
                <a:latin typeface="Arial" pitchFamily="34" charset="0"/>
                <a:ea typeface="Arial" pitchFamily="34" charset="-122"/>
                <a:cs typeface="Arial" pitchFamily="34" charset="-120"/>
              </a:rPr>
              <a:t>View company projects and services</a:t>
            </a:r>
            <a:endParaRPr lang="en-US" sz="1950" dirty="0"/>
          </a:p>
        </p:txBody>
      </p:sp>
      <p:sp>
        <p:nvSpPr>
          <p:cNvPr id="13" name="Text 10"/>
          <p:cNvSpPr/>
          <p:nvPr/>
        </p:nvSpPr>
        <p:spPr>
          <a:xfrm>
            <a:off x="1310640" y="4601528"/>
            <a:ext cx="288131" cy="421957"/>
          </a:xfrm>
          <a:prstGeom prst="rect">
            <a:avLst/>
          </a:prstGeom>
          <a:noFill/>
          <a:ln/>
        </p:spPr>
        <p:txBody>
          <a:bodyPr wrap="square" lIns="25400" tIns="25400" rIns="25400" bIns="25400" rtlCol="0" anchor="t">
            <a:normAutofit/>
          </a:bodyPr>
          <a:lstStyle/>
          <a:p>
            <a:pPr algn="l" indent="0" marL="0">
              <a:lnSpc>
                <a:spcPct val="155000"/>
              </a:lnSpc>
              <a:buNone/>
            </a:pPr>
            <a:r>
              <a:rPr lang="en-US" sz="1950" b="1" dirty="0">
                <a:solidFill>
                  <a:srgbClr val="74121D"/>
                </a:solidFill>
                <a:latin typeface="Arial" pitchFamily="34" charset="0"/>
                <a:ea typeface="Arial" pitchFamily="34" charset="-122"/>
                <a:cs typeface="Arial" pitchFamily="34" charset="-120"/>
              </a:rPr>
              <a:t>▸</a:t>
            </a:r>
            <a:endParaRPr lang="en-US" sz="1950" dirty="0"/>
          </a:p>
        </p:txBody>
      </p:sp>
      <p:sp>
        <p:nvSpPr>
          <p:cNvPr id="14" name="Text 11"/>
          <p:cNvSpPr/>
          <p:nvPr/>
        </p:nvSpPr>
        <p:spPr>
          <a:xfrm>
            <a:off x="1615440" y="4654868"/>
            <a:ext cx="4012229" cy="312420"/>
          </a:xfrm>
          <a:prstGeom prst="rect">
            <a:avLst/>
          </a:prstGeom>
          <a:noFill/>
          <a:ln/>
        </p:spPr>
        <p:txBody>
          <a:bodyPr wrap="square" lIns="0" tIns="0" rIns="0" bIns="0" rtlCol="0" anchor="t">
            <a:normAutofit/>
          </a:bodyPr>
          <a:lstStyle/>
          <a:p>
            <a:pPr algn="l" indent="0" marL="0">
              <a:lnSpc>
                <a:spcPct val="155000"/>
              </a:lnSpc>
              <a:buNone/>
            </a:pPr>
            <a:r>
              <a:rPr lang="en-US" sz="1950" dirty="0">
                <a:solidFill>
                  <a:srgbClr val="3A3A3A"/>
                </a:solidFill>
                <a:latin typeface="Arial" pitchFamily="34" charset="0"/>
                <a:ea typeface="Arial" pitchFamily="34" charset="-122"/>
                <a:cs typeface="Arial" pitchFamily="34" charset="-120"/>
              </a:rPr>
              <a:t>Submit a structured service request</a:t>
            </a:r>
            <a:endParaRPr lang="en-US" sz="1950" dirty="0"/>
          </a:p>
        </p:txBody>
      </p:sp>
      <p:sp>
        <p:nvSpPr>
          <p:cNvPr id="15" name="Text 12"/>
          <p:cNvSpPr/>
          <p:nvPr/>
        </p:nvSpPr>
        <p:spPr>
          <a:xfrm>
            <a:off x="1310640" y="5137785"/>
            <a:ext cx="288131" cy="421957"/>
          </a:xfrm>
          <a:prstGeom prst="rect">
            <a:avLst/>
          </a:prstGeom>
          <a:noFill/>
          <a:ln/>
        </p:spPr>
        <p:txBody>
          <a:bodyPr wrap="square" lIns="25400" tIns="25400" rIns="25400" bIns="25400" rtlCol="0" anchor="t">
            <a:normAutofit/>
          </a:bodyPr>
          <a:lstStyle/>
          <a:p>
            <a:pPr algn="l" indent="0" marL="0">
              <a:lnSpc>
                <a:spcPct val="155000"/>
              </a:lnSpc>
              <a:buNone/>
            </a:pPr>
            <a:r>
              <a:rPr lang="en-US" sz="1950" b="1" dirty="0">
                <a:solidFill>
                  <a:srgbClr val="74121D"/>
                </a:solidFill>
                <a:latin typeface="Arial" pitchFamily="34" charset="0"/>
                <a:ea typeface="Arial" pitchFamily="34" charset="-122"/>
                <a:cs typeface="Arial" pitchFamily="34" charset="-120"/>
              </a:rPr>
              <a:t>▸</a:t>
            </a:r>
            <a:endParaRPr lang="en-US" sz="1950" dirty="0"/>
          </a:p>
        </p:txBody>
      </p:sp>
      <p:sp>
        <p:nvSpPr>
          <p:cNvPr id="16" name="Text 13"/>
          <p:cNvSpPr/>
          <p:nvPr/>
        </p:nvSpPr>
        <p:spPr>
          <a:xfrm>
            <a:off x="1615440" y="5191125"/>
            <a:ext cx="5170387" cy="312420"/>
          </a:xfrm>
          <a:prstGeom prst="rect">
            <a:avLst/>
          </a:prstGeom>
          <a:noFill/>
          <a:ln/>
        </p:spPr>
        <p:txBody>
          <a:bodyPr wrap="square" lIns="0" tIns="0" rIns="0" bIns="0" rtlCol="0" anchor="t">
            <a:normAutofit/>
          </a:bodyPr>
          <a:lstStyle/>
          <a:p>
            <a:pPr algn="l" indent="0" marL="0">
              <a:lnSpc>
                <a:spcPct val="155000"/>
              </a:lnSpc>
              <a:buNone/>
            </a:pPr>
            <a:r>
              <a:rPr lang="en-US" sz="1950" dirty="0">
                <a:solidFill>
                  <a:srgbClr val="3A3A3A"/>
                </a:solidFill>
                <a:latin typeface="Arial" pitchFamily="34" charset="0"/>
                <a:ea typeface="Arial" pitchFamily="34" charset="-122"/>
                <a:cs typeface="Arial" pitchFamily="34" charset="-120"/>
              </a:rPr>
              <a:t>Hand off to WhatsApp with pre-filled message</a:t>
            </a:r>
            <a:endParaRPr lang="en-US" sz="1950" dirty="0"/>
          </a:p>
        </p:txBody>
      </p:sp>
      <p:sp>
        <p:nvSpPr>
          <p:cNvPr id="17" name="Text 14"/>
          <p:cNvSpPr/>
          <p:nvPr/>
        </p:nvSpPr>
        <p:spPr>
          <a:xfrm>
            <a:off x="1310640" y="5674043"/>
            <a:ext cx="288131" cy="421957"/>
          </a:xfrm>
          <a:prstGeom prst="rect">
            <a:avLst/>
          </a:prstGeom>
          <a:noFill/>
          <a:ln/>
        </p:spPr>
        <p:txBody>
          <a:bodyPr wrap="square" lIns="25400" tIns="25400" rIns="25400" bIns="25400" rtlCol="0" anchor="t">
            <a:normAutofit/>
          </a:bodyPr>
          <a:lstStyle/>
          <a:p>
            <a:pPr algn="l" indent="0" marL="0">
              <a:lnSpc>
                <a:spcPct val="155000"/>
              </a:lnSpc>
              <a:buNone/>
            </a:pPr>
            <a:r>
              <a:rPr lang="en-US" sz="1950" b="1" dirty="0">
                <a:solidFill>
                  <a:srgbClr val="74121D"/>
                </a:solidFill>
                <a:latin typeface="Arial" pitchFamily="34" charset="0"/>
                <a:ea typeface="Arial" pitchFamily="34" charset="-122"/>
                <a:cs typeface="Arial" pitchFamily="34" charset="-120"/>
              </a:rPr>
              <a:t>▸</a:t>
            </a:r>
            <a:endParaRPr lang="en-US" sz="1950" dirty="0"/>
          </a:p>
        </p:txBody>
      </p:sp>
      <p:sp>
        <p:nvSpPr>
          <p:cNvPr id="18" name="Text 15"/>
          <p:cNvSpPr/>
          <p:nvPr/>
        </p:nvSpPr>
        <p:spPr>
          <a:xfrm>
            <a:off x="1615440" y="5727382"/>
            <a:ext cx="3970165" cy="312420"/>
          </a:xfrm>
          <a:prstGeom prst="rect">
            <a:avLst/>
          </a:prstGeom>
          <a:noFill/>
          <a:ln/>
        </p:spPr>
        <p:txBody>
          <a:bodyPr wrap="square" lIns="0" tIns="0" rIns="0" bIns="0" rtlCol="0" anchor="t">
            <a:normAutofit/>
          </a:bodyPr>
          <a:lstStyle/>
          <a:p>
            <a:pPr algn="l" indent="0" marL="0">
              <a:lnSpc>
                <a:spcPct val="155000"/>
              </a:lnSpc>
              <a:buNone/>
            </a:pPr>
            <a:r>
              <a:rPr lang="en-US" sz="1950" dirty="0">
                <a:solidFill>
                  <a:srgbClr val="3A3A3A"/>
                </a:solidFill>
                <a:latin typeface="Arial" pitchFamily="34" charset="0"/>
                <a:ea typeface="Arial" pitchFamily="34" charset="-122"/>
                <a:cs typeface="Arial" pitchFamily="34" charset="-120"/>
              </a:rPr>
              <a:t>Ask the chatbot common questions</a:t>
            </a:r>
            <a:endParaRPr lang="en-US" sz="1950" dirty="0"/>
          </a:p>
        </p:txBody>
      </p:sp>
      <p:sp>
        <p:nvSpPr>
          <p:cNvPr id="19" name="Shape 16"/>
          <p:cNvSpPr/>
          <p:nvPr/>
        </p:nvSpPr>
        <p:spPr>
          <a:xfrm>
            <a:off x="9334500" y="2868930"/>
            <a:ext cx="8001000" cy="3642360"/>
          </a:xfrm>
          <a:prstGeom prst="rect">
            <a:avLst/>
          </a:prstGeom>
          <a:ln w="15240">
            <a:solidFill>
              <a:srgbClr val="EFE6DA"/>
            </a:solidFill>
            <a:prstDash val="solid"/>
          </a:ln>
        </p:spPr>
      </p:sp>
      <p:sp>
        <p:nvSpPr>
          <p:cNvPr id="20" name="Shape 17"/>
          <p:cNvSpPr/>
          <p:nvPr/>
        </p:nvSpPr>
        <p:spPr>
          <a:xfrm>
            <a:off x="9692640" y="3246120"/>
            <a:ext cx="514350" cy="514350"/>
          </a:xfrm>
          <a:prstGeom prst="ellipse">
            <a:avLst/>
          </a:prstGeom>
          <a:solidFill>
            <a:srgbClr val="74121D"/>
          </a:solidFill>
          <a:ln/>
        </p:spPr>
      </p:sp>
      <p:sp>
        <p:nvSpPr>
          <p:cNvPr id="21" name="Text 18"/>
          <p:cNvSpPr/>
          <p:nvPr/>
        </p:nvSpPr>
        <p:spPr>
          <a:xfrm>
            <a:off x="9654540" y="3246120"/>
            <a:ext cx="590550" cy="552450"/>
          </a:xfrm>
          <a:prstGeom prst="rect">
            <a:avLst/>
          </a:prstGeom>
          <a:noFill/>
          <a:ln/>
        </p:spPr>
        <p:txBody>
          <a:bodyPr wrap="square" lIns="25400" tIns="25400" rIns="25400" bIns="25400" rtlCol="0" anchor="ctr">
            <a:normAutofit/>
          </a:bodyPr>
          <a:lstStyle/>
          <a:p>
            <a:pPr algn="ctr" indent="0" marL="0">
              <a:buNone/>
            </a:pPr>
            <a:r>
              <a:rPr lang="en-US" sz="2100" b="1" dirty="0">
                <a:solidFill>
                  <a:srgbClr val="FFFFFF"/>
                </a:solidFill>
                <a:latin typeface="Arial" pitchFamily="34" charset="0"/>
                <a:ea typeface="Arial" pitchFamily="34" charset="-122"/>
                <a:cs typeface="Arial" pitchFamily="34" charset="-120"/>
              </a:rPr>
              <a:t>A</a:t>
            </a:r>
            <a:endParaRPr lang="en-US" sz="2100" dirty="0"/>
          </a:p>
        </p:txBody>
      </p:sp>
      <p:sp>
        <p:nvSpPr>
          <p:cNvPr id="22" name="Text 19"/>
          <p:cNvSpPr/>
          <p:nvPr/>
        </p:nvSpPr>
        <p:spPr>
          <a:xfrm>
            <a:off x="10378440" y="3339465"/>
            <a:ext cx="4756916" cy="365760"/>
          </a:xfrm>
          <a:prstGeom prst="rect">
            <a:avLst/>
          </a:prstGeom>
          <a:noFill/>
          <a:ln/>
        </p:spPr>
        <p:txBody>
          <a:bodyPr wrap="square" lIns="25400" tIns="25400" rIns="25400" bIns="25400" rtlCol="0" anchor="t">
            <a:normAutofit/>
          </a:bodyPr>
          <a:lstStyle/>
          <a:p>
            <a:pPr algn="l" indent="0" marL="0">
              <a:buNone/>
            </a:pPr>
            <a:r>
              <a:rPr lang="en-US" sz="2250" b="1" spc="75" kern="0" dirty="0">
                <a:solidFill>
                  <a:srgbClr val="74121D"/>
                </a:solidFill>
                <a:latin typeface="Arial" pitchFamily="34" charset="0"/>
                <a:ea typeface="Arial" pitchFamily="34" charset="-122"/>
                <a:cs typeface="Arial" pitchFamily="34" charset="-120"/>
              </a:rPr>
              <a:t>Administrator (Authenticated)</a:t>
            </a:r>
            <a:endParaRPr lang="en-US" sz="2250" dirty="0"/>
          </a:p>
        </p:txBody>
      </p:sp>
      <p:sp>
        <p:nvSpPr>
          <p:cNvPr id="23" name="Text 20"/>
          <p:cNvSpPr/>
          <p:nvPr/>
        </p:nvSpPr>
        <p:spPr>
          <a:xfrm>
            <a:off x="9692640" y="4065270"/>
            <a:ext cx="288131" cy="421957"/>
          </a:xfrm>
          <a:prstGeom prst="rect">
            <a:avLst/>
          </a:prstGeom>
          <a:noFill/>
          <a:ln/>
        </p:spPr>
        <p:txBody>
          <a:bodyPr wrap="square" lIns="25400" tIns="25400" rIns="25400" bIns="25400" rtlCol="0" anchor="t">
            <a:normAutofit/>
          </a:bodyPr>
          <a:lstStyle/>
          <a:p>
            <a:pPr algn="l" indent="0" marL="0">
              <a:lnSpc>
                <a:spcPct val="155000"/>
              </a:lnSpc>
              <a:buNone/>
            </a:pPr>
            <a:r>
              <a:rPr lang="en-US" sz="1950" b="1" dirty="0">
                <a:solidFill>
                  <a:srgbClr val="74121D"/>
                </a:solidFill>
                <a:latin typeface="Arial" pitchFamily="34" charset="0"/>
                <a:ea typeface="Arial" pitchFamily="34" charset="-122"/>
                <a:cs typeface="Arial" pitchFamily="34" charset="-120"/>
              </a:rPr>
              <a:t>▸</a:t>
            </a:r>
            <a:endParaRPr lang="en-US" sz="1950" dirty="0"/>
          </a:p>
        </p:txBody>
      </p:sp>
      <p:sp>
        <p:nvSpPr>
          <p:cNvPr id="24" name="Text 21"/>
          <p:cNvSpPr/>
          <p:nvPr/>
        </p:nvSpPr>
        <p:spPr>
          <a:xfrm>
            <a:off x="9997440" y="4118610"/>
            <a:ext cx="4551820" cy="312420"/>
          </a:xfrm>
          <a:prstGeom prst="rect">
            <a:avLst/>
          </a:prstGeom>
          <a:noFill/>
          <a:ln/>
        </p:spPr>
        <p:txBody>
          <a:bodyPr wrap="square" lIns="0" tIns="0" rIns="0" bIns="0" rtlCol="0" anchor="t">
            <a:normAutofit/>
          </a:bodyPr>
          <a:lstStyle/>
          <a:p>
            <a:pPr algn="l" indent="0" marL="0">
              <a:lnSpc>
                <a:spcPct val="155000"/>
              </a:lnSpc>
              <a:buNone/>
            </a:pPr>
            <a:r>
              <a:rPr lang="en-US" sz="1950" dirty="0">
                <a:solidFill>
                  <a:srgbClr val="3A3A3A"/>
                </a:solidFill>
                <a:latin typeface="Arial" pitchFamily="34" charset="0"/>
                <a:ea typeface="Arial" pitchFamily="34" charset="-122"/>
                <a:cs typeface="Arial" pitchFamily="34" charset="-120"/>
              </a:rPr>
              <a:t>Secure login via Firebase Authentication</a:t>
            </a:r>
            <a:endParaRPr lang="en-US" sz="1950" dirty="0"/>
          </a:p>
        </p:txBody>
      </p:sp>
      <p:sp>
        <p:nvSpPr>
          <p:cNvPr id="25" name="Text 22"/>
          <p:cNvSpPr/>
          <p:nvPr/>
        </p:nvSpPr>
        <p:spPr>
          <a:xfrm>
            <a:off x="9692640" y="4601528"/>
            <a:ext cx="288131" cy="421957"/>
          </a:xfrm>
          <a:prstGeom prst="rect">
            <a:avLst/>
          </a:prstGeom>
          <a:noFill/>
          <a:ln/>
        </p:spPr>
        <p:txBody>
          <a:bodyPr wrap="square" lIns="25400" tIns="25400" rIns="25400" bIns="25400" rtlCol="0" anchor="t">
            <a:normAutofit/>
          </a:bodyPr>
          <a:lstStyle/>
          <a:p>
            <a:pPr algn="l" indent="0" marL="0">
              <a:lnSpc>
                <a:spcPct val="155000"/>
              </a:lnSpc>
              <a:buNone/>
            </a:pPr>
            <a:r>
              <a:rPr lang="en-US" sz="1950" b="1" dirty="0">
                <a:solidFill>
                  <a:srgbClr val="74121D"/>
                </a:solidFill>
                <a:latin typeface="Arial" pitchFamily="34" charset="0"/>
                <a:ea typeface="Arial" pitchFamily="34" charset="-122"/>
                <a:cs typeface="Arial" pitchFamily="34" charset="-120"/>
              </a:rPr>
              <a:t>▸</a:t>
            </a:r>
            <a:endParaRPr lang="en-US" sz="1950" dirty="0"/>
          </a:p>
        </p:txBody>
      </p:sp>
      <p:sp>
        <p:nvSpPr>
          <p:cNvPr id="26" name="Text 23"/>
          <p:cNvSpPr/>
          <p:nvPr/>
        </p:nvSpPr>
        <p:spPr>
          <a:xfrm>
            <a:off x="9997440" y="4654868"/>
            <a:ext cx="4281779" cy="312420"/>
          </a:xfrm>
          <a:prstGeom prst="rect">
            <a:avLst/>
          </a:prstGeom>
          <a:noFill/>
          <a:ln/>
        </p:spPr>
        <p:txBody>
          <a:bodyPr wrap="square" lIns="0" tIns="0" rIns="0" bIns="0" rtlCol="0" anchor="t">
            <a:normAutofit/>
          </a:bodyPr>
          <a:lstStyle/>
          <a:p>
            <a:pPr algn="l" indent="0" marL="0">
              <a:lnSpc>
                <a:spcPct val="155000"/>
              </a:lnSpc>
              <a:buNone/>
            </a:pPr>
            <a:r>
              <a:rPr lang="en-US" sz="1950" dirty="0">
                <a:solidFill>
                  <a:srgbClr val="3A3A3A"/>
                </a:solidFill>
                <a:latin typeface="Arial" pitchFamily="34" charset="0"/>
                <a:ea typeface="Arial" pitchFamily="34" charset="-122"/>
                <a:cs typeface="Arial" pitchFamily="34" charset="-120"/>
              </a:rPr>
              <a:t>Add, edit, and delete projects (CRUD)</a:t>
            </a:r>
            <a:endParaRPr lang="en-US" sz="1950" dirty="0"/>
          </a:p>
        </p:txBody>
      </p:sp>
      <p:sp>
        <p:nvSpPr>
          <p:cNvPr id="27" name="Text 24"/>
          <p:cNvSpPr/>
          <p:nvPr/>
        </p:nvSpPr>
        <p:spPr>
          <a:xfrm>
            <a:off x="9692640" y="5137785"/>
            <a:ext cx="288131" cy="421957"/>
          </a:xfrm>
          <a:prstGeom prst="rect">
            <a:avLst/>
          </a:prstGeom>
          <a:noFill/>
          <a:ln/>
        </p:spPr>
        <p:txBody>
          <a:bodyPr wrap="square" lIns="25400" tIns="25400" rIns="25400" bIns="25400" rtlCol="0" anchor="t">
            <a:normAutofit/>
          </a:bodyPr>
          <a:lstStyle/>
          <a:p>
            <a:pPr algn="l" indent="0" marL="0">
              <a:lnSpc>
                <a:spcPct val="155000"/>
              </a:lnSpc>
              <a:buNone/>
            </a:pPr>
            <a:r>
              <a:rPr lang="en-US" sz="1950" b="1" dirty="0">
                <a:solidFill>
                  <a:srgbClr val="74121D"/>
                </a:solidFill>
                <a:latin typeface="Arial" pitchFamily="34" charset="0"/>
                <a:ea typeface="Arial" pitchFamily="34" charset="-122"/>
                <a:cs typeface="Arial" pitchFamily="34" charset="-120"/>
              </a:rPr>
              <a:t>▸</a:t>
            </a:r>
            <a:endParaRPr lang="en-US" sz="1950" dirty="0"/>
          </a:p>
        </p:txBody>
      </p:sp>
      <p:sp>
        <p:nvSpPr>
          <p:cNvPr id="28" name="Text 25"/>
          <p:cNvSpPr/>
          <p:nvPr/>
        </p:nvSpPr>
        <p:spPr>
          <a:xfrm>
            <a:off x="9997440" y="5191125"/>
            <a:ext cx="4835351" cy="312420"/>
          </a:xfrm>
          <a:prstGeom prst="rect">
            <a:avLst/>
          </a:prstGeom>
          <a:noFill/>
          <a:ln/>
        </p:spPr>
        <p:txBody>
          <a:bodyPr wrap="square" lIns="0" tIns="0" rIns="0" bIns="0" rtlCol="0" anchor="t">
            <a:normAutofit/>
          </a:bodyPr>
          <a:lstStyle/>
          <a:p>
            <a:pPr algn="l" indent="0" marL="0">
              <a:lnSpc>
                <a:spcPct val="155000"/>
              </a:lnSpc>
              <a:buNone/>
            </a:pPr>
            <a:r>
              <a:rPr lang="en-US" sz="1950" dirty="0">
                <a:solidFill>
                  <a:srgbClr val="3A3A3A"/>
                </a:solidFill>
                <a:latin typeface="Arial" pitchFamily="34" charset="0"/>
                <a:ea typeface="Arial" pitchFamily="34" charset="-122"/>
                <a:cs typeface="Arial" pitchFamily="34" charset="-120"/>
              </a:rPr>
              <a:t>Manage website content from a dashboard</a:t>
            </a:r>
            <a:endParaRPr lang="en-US" sz="1950" dirty="0"/>
          </a:p>
        </p:txBody>
      </p:sp>
      <p:sp>
        <p:nvSpPr>
          <p:cNvPr id="29" name="Text 26"/>
          <p:cNvSpPr/>
          <p:nvPr/>
        </p:nvSpPr>
        <p:spPr>
          <a:xfrm>
            <a:off x="9692640" y="5674043"/>
            <a:ext cx="288131" cy="421957"/>
          </a:xfrm>
          <a:prstGeom prst="rect">
            <a:avLst/>
          </a:prstGeom>
          <a:noFill/>
          <a:ln/>
        </p:spPr>
        <p:txBody>
          <a:bodyPr wrap="square" lIns="25400" tIns="25400" rIns="25400" bIns="25400" rtlCol="0" anchor="t">
            <a:normAutofit/>
          </a:bodyPr>
          <a:lstStyle/>
          <a:p>
            <a:pPr algn="l" indent="0" marL="0">
              <a:lnSpc>
                <a:spcPct val="155000"/>
              </a:lnSpc>
              <a:buNone/>
            </a:pPr>
            <a:r>
              <a:rPr lang="en-US" sz="1950" b="1" dirty="0">
                <a:solidFill>
                  <a:srgbClr val="74121D"/>
                </a:solidFill>
                <a:latin typeface="Arial" pitchFamily="34" charset="0"/>
                <a:ea typeface="Arial" pitchFamily="34" charset="-122"/>
                <a:cs typeface="Arial" pitchFamily="34" charset="-120"/>
              </a:rPr>
              <a:t>▸</a:t>
            </a:r>
            <a:endParaRPr lang="en-US" sz="1950" dirty="0"/>
          </a:p>
        </p:txBody>
      </p:sp>
      <p:sp>
        <p:nvSpPr>
          <p:cNvPr id="30" name="Text 27"/>
          <p:cNvSpPr/>
          <p:nvPr/>
        </p:nvSpPr>
        <p:spPr>
          <a:xfrm>
            <a:off x="9997440" y="5727382"/>
            <a:ext cx="4333777" cy="312420"/>
          </a:xfrm>
          <a:prstGeom prst="rect">
            <a:avLst/>
          </a:prstGeom>
          <a:noFill/>
          <a:ln/>
        </p:spPr>
        <p:txBody>
          <a:bodyPr wrap="square" lIns="0" tIns="0" rIns="0" bIns="0" rtlCol="0" anchor="t">
            <a:normAutofit/>
          </a:bodyPr>
          <a:lstStyle/>
          <a:p>
            <a:pPr algn="l" indent="0" marL="0">
              <a:lnSpc>
                <a:spcPct val="155000"/>
              </a:lnSpc>
              <a:buNone/>
            </a:pPr>
            <a:r>
              <a:rPr lang="en-US" sz="1950" dirty="0">
                <a:solidFill>
                  <a:srgbClr val="3A3A3A"/>
                </a:solidFill>
                <a:latin typeface="Arial" pitchFamily="34" charset="0"/>
                <a:ea typeface="Arial" pitchFamily="34" charset="-122"/>
                <a:cs typeface="Arial" pitchFamily="34" charset="-120"/>
              </a:rPr>
              <a:t>View captured service request records</a:t>
            </a:r>
            <a:endParaRPr lang="en-US" sz="1950" dirty="0"/>
          </a:p>
        </p:txBody>
      </p:sp>
      <p:sp>
        <p:nvSpPr>
          <p:cNvPr id="31" name="Shape 28"/>
          <p:cNvSpPr/>
          <p:nvPr/>
        </p:nvSpPr>
        <p:spPr>
          <a:xfrm>
            <a:off x="952500" y="6854190"/>
            <a:ext cx="8001000" cy="1322070"/>
          </a:xfrm>
          <a:prstGeom prst="rect">
            <a:avLst/>
          </a:prstGeom>
          <a:solidFill>
            <a:srgbClr val="F5EFE5"/>
          </a:solidFill>
          <a:ln/>
        </p:spPr>
      </p:sp>
      <p:sp>
        <p:nvSpPr>
          <p:cNvPr id="32" name="Text 29"/>
          <p:cNvSpPr/>
          <p:nvPr/>
        </p:nvSpPr>
        <p:spPr>
          <a:xfrm>
            <a:off x="1238250" y="7082790"/>
            <a:ext cx="8172450" cy="297180"/>
          </a:xfrm>
          <a:prstGeom prst="rect">
            <a:avLst/>
          </a:prstGeom>
          <a:noFill/>
          <a:ln/>
        </p:spPr>
        <p:txBody>
          <a:bodyPr wrap="square" lIns="25400" tIns="25400" rIns="25400" bIns="25400" rtlCol="0" anchor="t">
            <a:normAutofit/>
          </a:bodyPr>
          <a:lstStyle/>
          <a:p>
            <a:pPr algn="l" indent="0" marL="0">
              <a:buNone/>
            </a:pPr>
            <a:r>
              <a:rPr lang="en-US" sz="1800" b="1" spc="150" kern="0" dirty="0">
                <a:solidFill>
                  <a:srgbClr val="74121D"/>
                </a:solidFill>
                <a:latin typeface="Arial" pitchFamily="34" charset="0"/>
                <a:ea typeface="Arial" pitchFamily="34" charset="-122"/>
                <a:cs typeface="Arial" pitchFamily="34" charset="-120"/>
              </a:rPr>
              <a:t>TECHNOLOGY STACK</a:t>
            </a:r>
            <a:endParaRPr lang="en-US" sz="1800" dirty="0"/>
          </a:p>
        </p:txBody>
      </p:sp>
      <p:sp>
        <p:nvSpPr>
          <p:cNvPr id="33" name="Text 30"/>
          <p:cNvSpPr/>
          <p:nvPr/>
        </p:nvSpPr>
        <p:spPr>
          <a:xfrm>
            <a:off x="1238250" y="7399020"/>
            <a:ext cx="7652385" cy="586740"/>
          </a:xfrm>
          <a:prstGeom prst="rect">
            <a:avLst/>
          </a:prstGeom>
          <a:noFill/>
          <a:ln/>
        </p:spPr>
        <p:txBody>
          <a:bodyPr wrap="square" lIns="25400" tIns="25400" rIns="25400" bIns="25400" rtlCol="0" anchor="t">
            <a:normAutofit/>
          </a:bodyPr>
          <a:lstStyle/>
          <a:p>
            <a:pPr algn="l" indent="0" marL="0">
              <a:buNone/>
            </a:pPr>
            <a:r>
              <a:rPr lang="en-US" sz="1875" dirty="0">
                <a:solidFill>
                  <a:srgbClr val="3A3A3A"/>
                </a:solidFill>
                <a:latin typeface="Arial" pitchFamily="34" charset="0"/>
                <a:ea typeface="Arial" pitchFamily="34" charset="-122"/>
                <a:cs typeface="Arial" pitchFamily="34" charset="-120"/>
              </a:rPr>
              <a:t>React · Firebase Authentication · Firestore · Firebase Hosting · WhatsApp wa.me</a:t>
            </a:r>
            <a:endParaRPr lang="en-US" sz="1875" dirty="0"/>
          </a:p>
        </p:txBody>
      </p:sp>
      <p:sp>
        <p:nvSpPr>
          <p:cNvPr id="34" name="Shape 31"/>
          <p:cNvSpPr/>
          <p:nvPr/>
        </p:nvSpPr>
        <p:spPr>
          <a:xfrm>
            <a:off x="9334500" y="6854190"/>
            <a:ext cx="8001000" cy="1322070"/>
          </a:xfrm>
          <a:prstGeom prst="rect">
            <a:avLst/>
          </a:prstGeom>
          <a:solidFill>
            <a:srgbClr val="F5EFE5"/>
          </a:solidFill>
          <a:ln/>
        </p:spPr>
      </p:sp>
      <p:sp>
        <p:nvSpPr>
          <p:cNvPr id="35" name="Text 32"/>
          <p:cNvSpPr/>
          <p:nvPr/>
        </p:nvSpPr>
        <p:spPr>
          <a:xfrm>
            <a:off x="9620250" y="7082790"/>
            <a:ext cx="8172450" cy="297180"/>
          </a:xfrm>
          <a:prstGeom prst="rect">
            <a:avLst/>
          </a:prstGeom>
          <a:noFill/>
          <a:ln/>
        </p:spPr>
        <p:txBody>
          <a:bodyPr wrap="square" lIns="25400" tIns="25400" rIns="25400" bIns="25400" rtlCol="0" anchor="t">
            <a:normAutofit/>
          </a:bodyPr>
          <a:lstStyle/>
          <a:p>
            <a:pPr algn="l" indent="0" marL="0">
              <a:buNone/>
            </a:pPr>
            <a:r>
              <a:rPr lang="en-US" sz="1800" b="1" spc="150" kern="0" dirty="0">
                <a:solidFill>
                  <a:srgbClr val="74121D"/>
                </a:solidFill>
                <a:latin typeface="Arial" pitchFamily="34" charset="0"/>
                <a:ea typeface="Arial" pitchFamily="34" charset="-122"/>
                <a:cs typeface="Arial" pitchFamily="34" charset="-120"/>
              </a:rPr>
              <a:t>OUT OF SCOPE</a:t>
            </a:r>
            <a:endParaRPr lang="en-US" sz="1800" dirty="0"/>
          </a:p>
        </p:txBody>
      </p:sp>
      <p:sp>
        <p:nvSpPr>
          <p:cNvPr id="36" name="Text 33"/>
          <p:cNvSpPr/>
          <p:nvPr/>
        </p:nvSpPr>
        <p:spPr>
          <a:xfrm>
            <a:off x="9620250" y="7399020"/>
            <a:ext cx="8172450" cy="312420"/>
          </a:xfrm>
          <a:prstGeom prst="rect">
            <a:avLst/>
          </a:prstGeom>
          <a:noFill/>
          <a:ln/>
        </p:spPr>
        <p:txBody>
          <a:bodyPr wrap="square" lIns="25400" tIns="25400" rIns="25400" bIns="25400" rtlCol="0" anchor="t">
            <a:normAutofit/>
          </a:bodyPr>
          <a:lstStyle/>
          <a:p>
            <a:pPr algn="l" indent="0" marL="0">
              <a:buNone/>
            </a:pPr>
            <a:r>
              <a:rPr lang="en-US" sz="1875" dirty="0">
                <a:solidFill>
                  <a:srgbClr val="3A3A3A"/>
                </a:solidFill>
                <a:latin typeface="Arial" pitchFamily="34" charset="0"/>
                <a:ea typeface="Arial" pitchFamily="34" charset="-122"/>
                <a:cs typeface="Arial" pitchFamily="34" charset="-120"/>
              </a:rPr>
              <a:t>Online payments · Multi-language UI · Native mobile application</a:t>
            </a:r>
            <a:endParaRPr lang="en-US" sz="1875" dirty="0"/>
          </a:p>
        </p:txBody>
      </p:sp>
      <p:sp>
        <p:nvSpPr>
          <p:cNvPr id="37" name="Text 34"/>
          <p:cNvSpPr/>
          <p:nvPr/>
        </p:nvSpPr>
        <p:spPr>
          <a:xfrm>
            <a:off x="952500" y="9761220"/>
            <a:ext cx="4426744" cy="297180"/>
          </a:xfrm>
          <a:prstGeom prst="rect">
            <a:avLst/>
          </a:prstGeom>
          <a:noFill/>
          <a:ln/>
        </p:spPr>
        <p:txBody>
          <a:bodyPr wrap="square" lIns="25400" tIns="25400" rIns="25400" bIns="25400" rtlCol="0" anchor="t">
            <a:normAutofit/>
          </a:bodyPr>
          <a:lstStyle/>
          <a:p>
            <a:pPr algn="l" indent="0" marL="0">
              <a:buNone/>
            </a:pPr>
            <a:r>
              <a:rPr lang="en-US" sz="1800" spc="38" kern="0" dirty="0">
                <a:solidFill>
                  <a:srgbClr val="9A8C7E"/>
                </a:solidFill>
                <a:latin typeface="Arial" pitchFamily="34" charset="0"/>
                <a:ea typeface="Arial" pitchFamily="34" charset="-122"/>
                <a:cs typeface="Arial" pitchFamily="34" charset="-120"/>
              </a:rPr>
              <a:t>UATCC Web Application · PSM 1 Viva</a:t>
            </a:r>
            <a:endParaRPr lang="en-US" sz="1800" dirty="0"/>
          </a:p>
        </p:txBody>
      </p:sp>
      <p:sp>
        <p:nvSpPr>
          <p:cNvPr id="38" name="Text 35"/>
          <p:cNvSpPr/>
          <p:nvPr/>
        </p:nvSpPr>
        <p:spPr>
          <a:xfrm>
            <a:off x="16603027" y="9761220"/>
            <a:ext cx="808673" cy="297180"/>
          </a:xfrm>
          <a:prstGeom prst="rect">
            <a:avLst/>
          </a:prstGeom>
          <a:noFill/>
          <a:ln/>
        </p:spPr>
        <p:txBody>
          <a:bodyPr wrap="square" lIns="25400" tIns="25400" rIns="25400" bIns="25400" rtlCol="0" anchor="t">
            <a:normAutofit/>
          </a:bodyPr>
          <a:lstStyle/>
          <a:p>
            <a:pPr algn="l" indent="0" marL="0">
              <a:buNone/>
            </a:pPr>
            <a:r>
              <a:rPr lang="en-US" sz="1800" spc="38" kern="0" dirty="0">
                <a:solidFill>
                  <a:srgbClr val="9A8C7E"/>
                </a:solidFill>
                <a:latin typeface="Arial" pitchFamily="34" charset="0"/>
                <a:ea typeface="Arial" pitchFamily="34" charset="-122"/>
                <a:cs typeface="Arial" pitchFamily="34" charset="-120"/>
              </a:rPr>
              <a:t>05 / 14</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0" cy="133350"/>
          </a:xfrm>
          <a:prstGeom prst="rect">
            <a:avLst/>
          </a:prstGeom>
          <a:solidFill>
            <a:srgbClr val="74121D"/>
          </a:solidFill>
          <a:ln/>
        </p:spPr>
      </p:sp>
      <p:pic>
        <p:nvPicPr>
          <p:cNvPr id="3" name="Image 0" descr="preencoded.png">    </p:cNvPr>
          <p:cNvPicPr>
            <a:picLocks noChangeAspect="1"/>
          </p:cNvPicPr>
          <p:nvPr/>
        </p:nvPicPr>
        <p:blipFill>
          <a:blip r:embed="rId1"/>
          <a:stretch>
            <a:fillRect/>
          </a:stretch>
        </p:blipFill>
        <p:spPr>
          <a:xfrm>
            <a:off x="16004143" y="361950"/>
            <a:ext cx="1521857" cy="514350"/>
          </a:xfrm>
          <a:prstGeom prst="rect">
            <a:avLst/>
          </a:prstGeom>
        </p:spPr>
      </p:pic>
      <p:sp>
        <p:nvSpPr>
          <p:cNvPr id="4" name="Text 1"/>
          <p:cNvSpPr/>
          <p:nvPr/>
        </p:nvSpPr>
        <p:spPr>
          <a:xfrm>
            <a:off x="952500" y="1238250"/>
            <a:ext cx="18021300" cy="297180"/>
          </a:xfrm>
          <a:prstGeom prst="rect">
            <a:avLst/>
          </a:prstGeom>
          <a:noFill/>
          <a:ln/>
        </p:spPr>
        <p:txBody>
          <a:bodyPr wrap="square" lIns="25400" tIns="25400" rIns="25400" bIns="25400" rtlCol="0" anchor="t">
            <a:normAutofit/>
          </a:bodyPr>
          <a:lstStyle/>
          <a:p>
            <a:pPr algn="l" indent="0" marL="0">
              <a:buNone/>
            </a:pPr>
            <a:r>
              <a:rPr lang="en-US" sz="1800" b="1" spc="225" kern="0" dirty="0">
                <a:solidFill>
                  <a:srgbClr val="B19C7D"/>
                </a:solidFill>
                <a:latin typeface="Arial" pitchFamily="34" charset="0"/>
                <a:ea typeface="Arial" pitchFamily="34" charset="-122"/>
                <a:cs typeface="Arial" pitchFamily="34" charset="-120"/>
              </a:rPr>
              <a:t>CHAPTER 2</a:t>
            </a:r>
            <a:endParaRPr lang="en-US" sz="1800" dirty="0"/>
          </a:p>
        </p:txBody>
      </p:sp>
      <p:sp>
        <p:nvSpPr>
          <p:cNvPr id="5" name="Text 2"/>
          <p:cNvSpPr/>
          <p:nvPr/>
        </p:nvSpPr>
        <p:spPr>
          <a:xfrm>
            <a:off x="952500" y="1611630"/>
            <a:ext cx="18021300" cy="638175"/>
          </a:xfrm>
          <a:prstGeom prst="rect">
            <a:avLst/>
          </a:prstGeom>
          <a:noFill/>
          <a:ln/>
        </p:spPr>
        <p:txBody>
          <a:bodyPr wrap="square" lIns="25400" tIns="25400" rIns="25400" bIns="25400" rtlCol="0" anchor="t">
            <a:normAutofit/>
          </a:bodyPr>
          <a:lstStyle/>
          <a:p>
            <a:pPr algn="l" indent="0" marL="0">
              <a:lnSpc>
                <a:spcPct val="105000"/>
              </a:lnSpc>
              <a:buNone/>
            </a:pPr>
            <a:r>
              <a:rPr lang="en-US" sz="4500" b="1" spc="-37" kern="0" dirty="0">
                <a:solidFill>
                  <a:srgbClr val="74121D"/>
                </a:solidFill>
                <a:latin typeface="Arial" pitchFamily="34" charset="0"/>
                <a:ea typeface="Arial" pitchFamily="34" charset="-122"/>
                <a:cs typeface="Arial" pitchFamily="34" charset="-120"/>
              </a:rPr>
              <a:t>Literature Review and Existing Systems</a:t>
            </a:r>
            <a:endParaRPr lang="en-US" sz="4500" dirty="0"/>
          </a:p>
        </p:txBody>
      </p:sp>
      <p:sp>
        <p:nvSpPr>
          <p:cNvPr id="6" name="Shape 3"/>
          <p:cNvSpPr/>
          <p:nvPr/>
        </p:nvSpPr>
        <p:spPr>
          <a:xfrm>
            <a:off x="952500" y="2402205"/>
            <a:ext cx="857250" cy="47625"/>
          </a:xfrm>
          <a:prstGeom prst="roundRect">
            <a:avLst>
              <a:gd name="adj" fmla="val 50000"/>
            </a:avLst>
          </a:prstGeom>
          <a:solidFill>
            <a:srgbClr val="B19C7D"/>
          </a:solidFill>
          <a:ln/>
        </p:spPr>
      </p:sp>
      <p:sp>
        <p:nvSpPr>
          <p:cNvPr id="7" name="Text 4"/>
          <p:cNvSpPr/>
          <p:nvPr/>
        </p:nvSpPr>
        <p:spPr>
          <a:xfrm>
            <a:off x="952500" y="2868930"/>
            <a:ext cx="16764000" cy="384810"/>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3A3A3A"/>
                </a:solidFill>
                <a:latin typeface="Arial" pitchFamily="34" charset="0"/>
                <a:ea typeface="Arial" pitchFamily="34" charset="-122"/>
                <a:cs typeface="Arial" pitchFamily="34" charset="-120"/>
              </a:rPr>
              <a:t>Three commercial construction-management platforms were compared against the proposed system across nine functions.</a:t>
            </a:r>
            <a:endParaRPr lang="en-US" sz="1950" dirty="0"/>
          </a:p>
        </p:txBody>
      </p:sp>
      <p:sp>
        <p:nvSpPr>
          <p:cNvPr id="8" name="Shape 5"/>
          <p:cNvSpPr/>
          <p:nvPr/>
        </p:nvSpPr>
        <p:spPr>
          <a:xfrm>
            <a:off x="952500" y="3444240"/>
            <a:ext cx="16383000" cy="4617720"/>
          </a:xfrm>
          <a:prstGeom prst="rect">
            <a:avLst/>
          </a:prstGeom>
          <a:ln w="7620">
            <a:solidFill>
              <a:srgbClr val="E0D6C7"/>
            </a:solidFill>
            <a:prstDash val="solid"/>
          </a:ln>
        </p:spPr>
      </p:sp>
      <p:sp>
        <p:nvSpPr>
          <p:cNvPr id="9" name="Shape 6"/>
          <p:cNvSpPr/>
          <p:nvPr/>
        </p:nvSpPr>
        <p:spPr>
          <a:xfrm>
            <a:off x="960120" y="3451860"/>
            <a:ext cx="16367760" cy="601980"/>
          </a:xfrm>
          <a:prstGeom prst="rect">
            <a:avLst/>
          </a:prstGeom>
          <a:solidFill>
            <a:srgbClr val="74121D"/>
          </a:solidFill>
          <a:ln/>
        </p:spPr>
      </p:sp>
      <p:sp>
        <p:nvSpPr>
          <p:cNvPr id="10" name="Text 7"/>
          <p:cNvSpPr/>
          <p:nvPr/>
        </p:nvSpPr>
        <p:spPr>
          <a:xfrm>
            <a:off x="1169670" y="3623310"/>
            <a:ext cx="4231563" cy="297180"/>
          </a:xfrm>
          <a:prstGeom prst="rect">
            <a:avLst/>
          </a:prstGeom>
          <a:noFill/>
          <a:ln/>
        </p:spPr>
        <p:txBody>
          <a:bodyPr wrap="square" lIns="25400" tIns="25400" rIns="25400" bIns="25400" rtlCol="0" anchor="t">
            <a:normAutofit/>
          </a:bodyPr>
          <a:lstStyle/>
          <a:p>
            <a:pPr algn="l" indent="0" marL="0">
              <a:buNone/>
            </a:pPr>
            <a:r>
              <a:rPr lang="en-US" sz="1800" b="1" spc="75" kern="0" dirty="0">
                <a:solidFill>
                  <a:srgbClr val="FFFFFF"/>
                </a:solidFill>
                <a:latin typeface="Arial" pitchFamily="34" charset="0"/>
                <a:ea typeface="Arial" pitchFamily="34" charset="-122"/>
                <a:cs typeface="Arial" pitchFamily="34" charset="-120"/>
              </a:rPr>
              <a:t>Feature</a:t>
            </a:r>
            <a:endParaRPr lang="en-US" sz="1800" dirty="0"/>
          </a:p>
        </p:txBody>
      </p:sp>
      <p:sp>
        <p:nvSpPr>
          <p:cNvPr id="11" name="Text 8"/>
          <p:cNvSpPr/>
          <p:nvPr/>
        </p:nvSpPr>
        <p:spPr>
          <a:xfrm>
            <a:off x="5642547" y="3623310"/>
            <a:ext cx="2487580" cy="297180"/>
          </a:xfrm>
          <a:prstGeom prst="rect">
            <a:avLst/>
          </a:prstGeom>
          <a:noFill/>
          <a:ln/>
        </p:spPr>
        <p:txBody>
          <a:bodyPr wrap="square" lIns="25400" tIns="25400" rIns="25400" bIns="25400" rtlCol="0" anchor="t">
            <a:normAutofit/>
          </a:bodyPr>
          <a:lstStyle/>
          <a:p>
            <a:pPr algn="ctr" indent="0" marL="0">
              <a:buNone/>
            </a:pPr>
            <a:r>
              <a:rPr lang="en-US" sz="1800" b="1" dirty="0">
                <a:solidFill>
                  <a:srgbClr val="FFFFFF"/>
                </a:solidFill>
                <a:latin typeface="Arial" pitchFamily="34" charset="0"/>
                <a:ea typeface="Arial" pitchFamily="34" charset="-122"/>
                <a:cs typeface="Arial" pitchFamily="34" charset="-120"/>
              </a:rPr>
              <a:t>Houzz Pro</a:t>
            </a:r>
            <a:endParaRPr lang="en-US" sz="1800" dirty="0"/>
          </a:p>
        </p:txBody>
      </p:sp>
      <p:sp>
        <p:nvSpPr>
          <p:cNvPr id="12" name="Text 9"/>
          <p:cNvSpPr/>
          <p:nvPr/>
        </p:nvSpPr>
        <p:spPr>
          <a:xfrm>
            <a:off x="8464566" y="3623310"/>
            <a:ext cx="2487580" cy="297180"/>
          </a:xfrm>
          <a:prstGeom prst="rect">
            <a:avLst/>
          </a:prstGeom>
          <a:noFill/>
          <a:ln/>
        </p:spPr>
        <p:txBody>
          <a:bodyPr wrap="square" lIns="25400" tIns="25400" rIns="25400" bIns="25400" rtlCol="0" anchor="t">
            <a:normAutofit/>
          </a:bodyPr>
          <a:lstStyle/>
          <a:p>
            <a:pPr algn="ctr" indent="0" marL="0">
              <a:buNone/>
            </a:pPr>
            <a:r>
              <a:rPr lang="en-US" sz="1800" b="1" dirty="0">
                <a:solidFill>
                  <a:srgbClr val="FFFFFF"/>
                </a:solidFill>
                <a:latin typeface="Arial" pitchFamily="34" charset="0"/>
                <a:ea typeface="Arial" pitchFamily="34" charset="-122"/>
                <a:cs typeface="Arial" pitchFamily="34" charset="-120"/>
              </a:rPr>
              <a:t>Procore</a:t>
            </a:r>
            <a:endParaRPr lang="en-US" sz="1800" dirty="0"/>
          </a:p>
        </p:txBody>
      </p:sp>
      <p:sp>
        <p:nvSpPr>
          <p:cNvPr id="13" name="Text 10"/>
          <p:cNvSpPr/>
          <p:nvPr/>
        </p:nvSpPr>
        <p:spPr>
          <a:xfrm>
            <a:off x="11286586" y="3623310"/>
            <a:ext cx="2487580" cy="297180"/>
          </a:xfrm>
          <a:prstGeom prst="rect">
            <a:avLst/>
          </a:prstGeom>
          <a:noFill/>
          <a:ln/>
        </p:spPr>
        <p:txBody>
          <a:bodyPr wrap="square" lIns="25400" tIns="25400" rIns="25400" bIns="25400" rtlCol="0" anchor="t">
            <a:normAutofit/>
          </a:bodyPr>
          <a:lstStyle/>
          <a:p>
            <a:pPr algn="ctr" indent="0" marL="0">
              <a:buNone/>
            </a:pPr>
            <a:r>
              <a:rPr lang="en-US" sz="1800" b="1" dirty="0">
                <a:solidFill>
                  <a:srgbClr val="FFFFFF"/>
                </a:solidFill>
                <a:latin typeface="Arial" pitchFamily="34" charset="0"/>
                <a:ea typeface="Arial" pitchFamily="34" charset="-122"/>
                <a:cs typeface="Arial" pitchFamily="34" charset="-120"/>
              </a:rPr>
              <a:t>Buildertrend</a:t>
            </a:r>
            <a:endParaRPr lang="en-US" sz="1800" dirty="0"/>
          </a:p>
        </p:txBody>
      </p:sp>
      <p:sp>
        <p:nvSpPr>
          <p:cNvPr id="14" name="Shape 11"/>
          <p:cNvSpPr/>
          <p:nvPr/>
        </p:nvSpPr>
        <p:spPr>
          <a:xfrm>
            <a:off x="13941385" y="3451860"/>
            <a:ext cx="3386376" cy="601980"/>
          </a:xfrm>
          <a:prstGeom prst="rect">
            <a:avLst/>
          </a:prstGeom>
          <a:solidFill>
            <a:srgbClr val="5A0D17"/>
          </a:solidFill>
          <a:ln/>
        </p:spPr>
      </p:sp>
      <p:sp>
        <p:nvSpPr>
          <p:cNvPr id="15" name="Text 12"/>
          <p:cNvSpPr/>
          <p:nvPr/>
        </p:nvSpPr>
        <p:spPr>
          <a:xfrm>
            <a:off x="14100139" y="3623310"/>
            <a:ext cx="3068867" cy="297180"/>
          </a:xfrm>
          <a:prstGeom prst="rect">
            <a:avLst/>
          </a:prstGeom>
          <a:noFill/>
          <a:ln/>
        </p:spPr>
        <p:txBody>
          <a:bodyPr wrap="square" lIns="25400" tIns="25400" rIns="25400" bIns="25400" rtlCol="0" anchor="t">
            <a:normAutofit/>
          </a:bodyPr>
          <a:lstStyle/>
          <a:p>
            <a:pPr algn="ctr" indent="0" marL="0">
              <a:buNone/>
            </a:pPr>
            <a:r>
              <a:rPr lang="en-US" sz="1800" b="1" dirty="0">
                <a:solidFill>
                  <a:srgbClr val="FFFFFF"/>
                </a:solidFill>
                <a:latin typeface="Arial" pitchFamily="34" charset="0"/>
                <a:ea typeface="Arial" pitchFamily="34" charset="-122"/>
                <a:cs typeface="Arial" pitchFamily="34" charset="-120"/>
              </a:rPr>
              <a:t>Proposed</a:t>
            </a:r>
            <a:endParaRPr lang="en-US" sz="1800" dirty="0"/>
          </a:p>
        </p:txBody>
      </p:sp>
      <p:sp>
        <p:nvSpPr>
          <p:cNvPr id="16" name="Shape 13"/>
          <p:cNvSpPr/>
          <p:nvPr/>
        </p:nvSpPr>
        <p:spPr>
          <a:xfrm>
            <a:off x="960120" y="4053840"/>
            <a:ext cx="16367760" cy="571500"/>
          </a:xfrm>
          <a:prstGeom prst="rect">
            <a:avLst/>
          </a:prstGeom>
          <a:solidFill>
            <a:srgbClr val="FFFFFF"/>
          </a:solidFill>
          <a:ln/>
        </p:spPr>
      </p:sp>
      <p:sp>
        <p:nvSpPr>
          <p:cNvPr id="17" name="Text 14"/>
          <p:cNvSpPr/>
          <p:nvPr/>
        </p:nvSpPr>
        <p:spPr>
          <a:xfrm>
            <a:off x="1169670" y="4187190"/>
            <a:ext cx="4231563" cy="342900"/>
          </a:xfrm>
          <a:prstGeom prst="rect">
            <a:avLst/>
          </a:prstGeom>
          <a:noFill/>
          <a:ln/>
        </p:spPr>
        <p:txBody>
          <a:bodyPr wrap="square" lIns="25400" tIns="25400" rIns="25400" bIns="25400" rtlCol="0" anchor="t">
            <a:normAutofit/>
          </a:bodyPr>
          <a:lstStyle/>
          <a:p>
            <a:pPr algn="l" indent="0" marL="0">
              <a:buNone/>
            </a:pPr>
            <a:r>
              <a:rPr lang="en-US" sz="1800" dirty="0">
                <a:solidFill>
                  <a:srgbClr val="3A3A3A"/>
                </a:solidFill>
                <a:latin typeface="Arial" pitchFamily="34" charset="0"/>
                <a:ea typeface="Arial" pitchFamily="34" charset="-122"/>
                <a:cs typeface="Arial" pitchFamily="34" charset="-120"/>
              </a:rPr>
              <a:t>Project showcase</a:t>
            </a:r>
            <a:endParaRPr lang="en-US" sz="1800" dirty="0"/>
          </a:p>
        </p:txBody>
      </p:sp>
      <p:sp>
        <p:nvSpPr>
          <p:cNvPr id="18" name="Text 15"/>
          <p:cNvSpPr/>
          <p:nvPr/>
        </p:nvSpPr>
        <p:spPr>
          <a:xfrm>
            <a:off x="5642547" y="4187190"/>
            <a:ext cx="2487580" cy="342900"/>
          </a:xfrm>
          <a:prstGeom prst="rect">
            <a:avLst/>
          </a:prstGeom>
          <a:noFill/>
          <a:ln/>
        </p:spPr>
        <p:txBody>
          <a:bodyPr wrap="square" lIns="25400" tIns="25400" rIns="25400" bIns="25400" rtlCol="0" anchor="t">
            <a:normAutofit/>
          </a:bodyPr>
          <a:lstStyle/>
          <a:p>
            <a:pPr algn="ctr" indent="0" marL="0">
              <a:buNone/>
            </a:pPr>
            <a:r>
              <a:rPr lang="en-US" sz="1800" dirty="0">
                <a:solidFill>
                  <a:srgbClr val="2A6F4D"/>
                </a:solidFill>
                <a:latin typeface="Arial" pitchFamily="34" charset="0"/>
                <a:ea typeface="Arial" pitchFamily="34" charset="-122"/>
                <a:cs typeface="Arial" pitchFamily="34" charset="-120"/>
              </a:rPr>
              <a:t>✓</a:t>
            </a:r>
            <a:endParaRPr lang="en-US" sz="1800" dirty="0"/>
          </a:p>
        </p:txBody>
      </p:sp>
      <p:sp>
        <p:nvSpPr>
          <p:cNvPr id="19" name="Text 16"/>
          <p:cNvSpPr/>
          <p:nvPr/>
        </p:nvSpPr>
        <p:spPr>
          <a:xfrm>
            <a:off x="8464566" y="4187190"/>
            <a:ext cx="2487580" cy="342900"/>
          </a:xfrm>
          <a:prstGeom prst="rect">
            <a:avLst/>
          </a:prstGeom>
          <a:noFill/>
          <a:ln/>
        </p:spPr>
        <p:txBody>
          <a:bodyPr wrap="square" lIns="25400" tIns="25400" rIns="25400" bIns="25400" rtlCol="0" anchor="t">
            <a:normAutofit/>
          </a:bodyPr>
          <a:lstStyle/>
          <a:p>
            <a:pPr algn="ctr" indent="0" marL="0">
              <a:buNone/>
            </a:pPr>
            <a:r>
              <a:rPr lang="en-US" sz="1800" dirty="0">
                <a:solidFill>
                  <a:srgbClr val="2A6F4D"/>
                </a:solidFill>
                <a:latin typeface="Arial" pitchFamily="34" charset="0"/>
                <a:ea typeface="Arial" pitchFamily="34" charset="-122"/>
                <a:cs typeface="Arial" pitchFamily="34" charset="-120"/>
              </a:rPr>
              <a:t>✓</a:t>
            </a:r>
            <a:endParaRPr lang="en-US" sz="1800" dirty="0"/>
          </a:p>
        </p:txBody>
      </p:sp>
      <p:sp>
        <p:nvSpPr>
          <p:cNvPr id="20" name="Text 17"/>
          <p:cNvSpPr/>
          <p:nvPr/>
        </p:nvSpPr>
        <p:spPr>
          <a:xfrm>
            <a:off x="11286586" y="4187190"/>
            <a:ext cx="2487580" cy="342900"/>
          </a:xfrm>
          <a:prstGeom prst="rect">
            <a:avLst/>
          </a:prstGeom>
          <a:noFill/>
          <a:ln/>
        </p:spPr>
        <p:txBody>
          <a:bodyPr wrap="square" lIns="25400" tIns="25400" rIns="25400" bIns="25400" rtlCol="0" anchor="t">
            <a:normAutofit/>
          </a:bodyPr>
          <a:lstStyle/>
          <a:p>
            <a:pPr algn="ctr" indent="0" marL="0">
              <a:buNone/>
            </a:pPr>
            <a:r>
              <a:rPr lang="en-US" sz="1800" dirty="0">
                <a:solidFill>
                  <a:srgbClr val="2A6F4D"/>
                </a:solidFill>
                <a:latin typeface="Arial" pitchFamily="34" charset="0"/>
                <a:ea typeface="Arial" pitchFamily="34" charset="-122"/>
                <a:cs typeface="Arial" pitchFamily="34" charset="-120"/>
              </a:rPr>
              <a:t>✓</a:t>
            </a:r>
            <a:endParaRPr lang="en-US" sz="1800" dirty="0"/>
          </a:p>
        </p:txBody>
      </p:sp>
      <p:sp>
        <p:nvSpPr>
          <p:cNvPr id="21" name="Shape 18"/>
          <p:cNvSpPr/>
          <p:nvPr/>
        </p:nvSpPr>
        <p:spPr>
          <a:xfrm>
            <a:off x="13941385" y="4053840"/>
            <a:ext cx="3386376" cy="571500"/>
          </a:xfrm>
          <a:prstGeom prst="rect">
            <a:avLst/>
          </a:prstGeom>
          <a:solidFill>
            <a:srgbClr val="FBF6EE"/>
          </a:solidFill>
          <a:ln/>
        </p:spPr>
      </p:sp>
      <p:sp>
        <p:nvSpPr>
          <p:cNvPr id="22" name="Text 19"/>
          <p:cNvSpPr/>
          <p:nvPr/>
        </p:nvSpPr>
        <p:spPr>
          <a:xfrm>
            <a:off x="14100139" y="4187190"/>
            <a:ext cx="3068867" cy="342900"/>
          </a:xfrm>
          <a:prstGeom prst="rect">
            <a:avLst/>
          </a:prstGeom>
          <a:noFill/>
          <a:ln/>
        </p:spPr>
        <p:txBody>
          <a:bodyPr wrap="square" lIns="25400" tIns="25400" rIns="25400" bIns="25400" rtlCol="0" anchor="t">
            <a:normAutofit/>
          </a:bodyPr>
          <a:lstStyle/>
          <a:p>
            <a:pPr algn="ctr" indent="0" marL="0">
              <a:buNone/>
            </a:pPr>
            <a:r>
              <a:rPr lang="en-US" sz="1800" b="1" dirty="0">
                <a:solidFill>
                  <a:srgbClr val="2A6F4D"/>
                </a:solidFill>
                <a:latin typeface="Arial" pitchFamily="34" charset="0"/>
                <a:ea typeface="Arial" pitchFamily="34" charset="-122"/>
                <a:cs typeface="Arial" pitchFamily="34" charset="-120"/>
              </a:rPr>
              <a:t>✓</a:t>
            </a:r>
            <a:endParaRPr lang="en-US" sz="1800" dirty="0"/>
          </a:p>
        </p:txBody>
      </p:sp>
      <p:sp>
        <p:nvSpPr>
          <p:cNvPr id="23" name="Shape 20"/>
          <p:cNvSpPr/>
          <p:nvPr/>
        </p:nvSpPr>
        <p:spPr>
          <a:xfrm>
            <a:off x="960120" y="4625340"/>
            <a:ext cx="16367760" cy="571500"/>
          </a:xfrm>
          <a:prstGeom prst="rect">
            <a:avLst/>
          </a:prstGeom>
          <a:solidFill>
            <a:srgbClr val="FAF6EF"/>
          </a:solidFill>
          <a:ln/>
        </p:spPr>
      </p:sp>
      <p:sp>
        <p:nvSpPr>
          <p:cNvPr id="24" name="Text 21"/>
          <p:cNvSpPr/>
          <p:nvPr/>
        </p:nvSpPr>
        <p:spPr>
          <a:xfrm>
            <a:off x="1169670" y="4758690"/>
            <a:ext cx="4231563" cy="342900"/>
          </a:xfrm>
          <a:prstGeom prst="rect">
            <a:avLst/>
          </a:prstGeom>
          <a:noFill/>
          <a:ln/>
        </p:spPr>
        <p:txBody>
          <a:bodyPr wrap="square" lIns="25400" tIns="25400" rIns="25400" bIns="25400" rtlCol="0" anchor="t">
            <a:normAutofit/>
          </a:bodyPr>
          <a:lstStyle/>
          <a:p>
            <a:pPr algn="l" indent="0" marL="0">
              <a:buNone/>
            </a:pPr>
            <a:r>
              <a:rPr lang="en-US" sz="1800" dirty="0">
                <a:solidFill>
                  <a:srgbClr val="3A3A3A"/>
                </a:solidFill>
                <a:latin typeface="Arial" pitchFamily="34" charset="0"/>
                <a:ea typeface="Arial" pitchFamily="34" charset="-122"/>
                <a:cs typeface="Arial" pitchFamily="34" charset="-120"/>
              </a:rPr>
              <a:t>Request / contact form</a:t>
            </a:r>
            <a:endParaRPr lang="en-US" sz="1800" dirty="0"/>
          </a:p>
        </p:txBody>
      </p:sp>
      <p:sp>
        <p:nvSpPr>
          <p:cNvPr id="25" name="Text 22"/>
          <p:cNvSpPr/>
          <p:nvPr/>
        </p:nvSpPr>
        <p:spPr>
          <a:xfrm>
            <a:off x="5642547" y="4758690"/>
            <a:ext cx="2487580" cy="342900"/>
          </a:xfrm>
          <a:prstGeom prst="rect">
            <a:avLst/>
          </a:prstGeom>
          <a:noFill/>
          <a:ln/>
        </p:spPr>
        <p:txBody>
          <a:bodyPr wrap="square" lIns="25400" tIns="25400" rIns="25400" bIns="25400" rtlCol="0" anchor="t">
            <a:normAutofit/>
          </a:bodyPr>
          <a:lstStyle/>
          <a:p>
            <a:pPr algn="ctr" indent="0" marL="0">
              <a:buNone/>
            </a:pPr>
            <a:r>
              <a:rPr lang="en-US" sz="1800" dirty="0">
                <a:solidFill>
                  <a:srgbClr val="2A6F4D"/>
                </a:solidFill>
                <a:latin typeface="Arial" pitchFamily="34" charset="0"/>
                <a:ea typeface="Arial" pitchFamily="34" charset="-122"/>
                <a:cs typeface="Arial" pitchFamily="34" charset="-120"/>
              </a:rPr>
              <a:t>✓</a:t>
            </a:r>
            <a:endParaRPr lang="en-US" sz="1800" dirty="0"/>
          </a:p>
        </p:txBody>
      </p:sp>
      <p:sp>
        <p:nvSpPr>
          <p:cNvPr id="26" name="Text 23"/>
          <p:cNvSpPr/>
          <p:nvPr/>
        </p:nvSpPr>
        <p:spPr>
          <a:xfrm>
            <a:off x="8464566" y="4758690"/>
            <a:ext cx="2487580" cy="342900"/>
          </a:xfrm>
          <a:prstGeom prst="rect">
            <a:avLst/>
          </a:prstGeom>
          <a:noFill/>
          <a:ln/>
        </p:spPr>
        <p:txBody>
          <a:bodyPr wrap="square" lIns="25400" tIns="25400" rIns="25400" bIns="25400" rtlCol="0" anchor="t">
            <a:normAutofit/>
          </a:bodyPr>
          <a:lstStyle/>
          <a:p>
            <a:pPr algn="ctr" indent="0" marL="0">
              <a:buNone/>
            </a:pPr>
            <a:r>
              <a:rPr lang="en-US" sz="1800" dirty="0">
                <a:solidFill>
                  <a:srgbClr val="2A6F4D"/>
                </a:solidFill>
                <a:latin typeface="Arial" pitchFamily="34" charset="0"/>
                <a:ea typeface="Arial" pitchFamily="34" charset="-122"/>
                <a:cs typeface="Arial" pitchFamily="34" charset="-120"/>
              </a:rPr>
              <a:t>✓</a:t>
            </a:r>
            <a:endParaRPr lang="en-US" sz="1800" dirty="0"/>
          </a:p>
        </p:txBody>
      </p:sp>
      <p:sp>
        <p:nvSpPr>
          <p:cNvPr id="27" name="Text 24"/>
          <p:cNvSpPr/>
          <p:nvPr/>
        </p:nvSpPr>
        <p:spPr>
          <a:xfrm>
            <a:off x="11286586" y="4758690"/>
            <a:ext cx="2487580" cy="342900"/>
          </a:xfrm>
          <a:prstGeom prst="rect">
            <a:avLst/>
          </a:prstGeom>
          <a:noFill/>
          <a:ln/>
        </p:spPr>
        <p:txBody>
          <a:bodyPr wrap="square" lIns="25400" tIns="25400" rIns="25400" bIns="25400" rtlCol="0" anchor="t">
            <a:normAutofit/>
          </a:bodyPr>
          <a:lstStyle/>
          <a:p>
            <a:pPr algn="ctr" indent="0" marL="0">
              <a:buNone/>
            </a:pPr>
            <a:r>
              <a:rPr lang="en-US" sz="1800" dirty="0">
                <a:solidFill>
                  <a:srgbClr val="2A6F4D"/>
                </a:solidFill>
                <a:latin typeface="Arial" pitchFamily="34" charset="0"/>
                <a:ea typeface="Arial" pitchFamily="34" charset="-122"/>
                <a:cs typeface="Arial" pitchFamily="34" charset="-120"/>
              </a:rPr>
              <a:t>✓</a:t>
            </a:r>
            <a:endParaRPr lang="en-US" sz="1800" dirty="0"/>
          </a:p>
        </p:txBody>
      </p:sp>
      <p:sp>
        <p:nvSpPr>
          <p:cNvPr id="28" name="Shape 25"/>
          <p:cNvSpPr/>
          <p:nvPr/>
        </p:nvSpPr>
        <p:spPr>
          <a:xfrm>
            <a:off x="13941385" y="4625340"/>
            <a:ext cx="3386376" cy="571500"/>
          </a:xfrm>
          <a:prstGeom prst="rect">
            <a:avLst/>
          </a:prstGeom>
          <a:solidFill>
            <a:srgbClr val="FBF6EE"/>
          </a:solidFill>
          <a:ln/>
        </p:spPr>
      </p:sp>
      <p:sp>
        <p:nvSpPr>
          <p:cNvPr id="29" name="Text 26"/>
          <p:cNvSpPr/>
          <p:nvPr/>
        </p:nvSpPr>
        <p:spPr>
          <a:xfrm>
            <a:off x="14100139" y="4758690"/>
            <a:ext cx="3068867" cy="342900"/>
          </a:xfrm>
          <a:prstGeom prst="rect">
            <a:avLst/>
          </a:prstGeom>
          <a:noFill/>
          <a:ln/>
        </p:spPr>
        <p:txBody>
          <a:bodyPr wrap="square" lIns="25400" tIns="25400" rIns="25400" bIns="25400" rtlCol="0" anchor="t">
            <a:normAutofit/>
          </a:bodyPr>
          <a:lstStyle/>
          <a:p>
            <a:pPr algn="ctr" indent="0" marL="0">
              <a:buNone/>
            </a:pPr>
            <a:r>
              <a:rPr lang="en-US" sz="1800" b="1" dirty="0">
                <a:solidFill>
                  <a:srgbClr val="2A6F4D"/>
                </a:solidFill>
                <a:latin typeface="Arial" pitchFamily="34" charset="0"/>
                <a:ea typeface="Arial" pitchFamily="34" charset="-122"/>
                <a:cs typeface="Arial" pitchFamily="34" charset="-120"/>
              </a:rPr>
              <a:t>✓</a:t>
            </a:r>
            <a:endParaRPr lang="en-US" sz="1800" dirty="0"/>
          </a:p>
        </p:txBody>
      </p:sp>
      <p:sp>
        <p:nvSpPr>
          <p:cNvPr id="30" name="Shape 27"/>
          <p:cNvSpPr/>
          <p:nvPr/>
        </p:nvSpPr>
        <p:spPr>
          <a:xfrm>
            <a:off x="960120" y="5196840"/>
            <a:ext cx="16367760" cy="571500"/>
          </a:xfrm>
          <a:prstGeom prst="rect">
            <a:avLst/>
          </a:prstGeom>
          <a:solidFill>
            <a:srgbClr val="FFFFFF"/>
          </a:solidFill>
          <a:ln/>
        </p:spPr>
      </p:sp>
      <p:sp>
        <p:nvSpPr>
          <p:cNvPr id="31" name="Text 28"/>
          <p:cNvSpPr/>
          <p:nvPr/>
        </p:nvSpPr>
        <p:spPr>
          <a:xfrm>
            <a:off x="1169670" y="5330190"/>
            <a:ext cx="4231563"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3A3A3A"/>
                </a:solidFill>
                <a:latin typeface="Arial" pitchFamily="34" charset="0"/>
                <a:ea typeface="Arial" pitchFamily="34" charset="-122"/>
                <a:cs typeface="Arial" pitchFamily="34" charset="-120"/>
              </a:rPr>
              <a:t>WhatsApp integration</a:t>
            </a:r>
            <a:endParaRPr lang="en-US" sz="1800" dirty="0"/>
          </a:p>
        </p:txBody>
      </p:sp>
      <p:sp>
        <p:nvSpPr>
          <p:cNvPr id="32" name="Text 29"/>
          <p:cNvSpPr/>
          <p:nvPr/>
        </p:nvSpPr>
        <p:spPr>
          <a:xfrm>
            <a:off x="5642547" y="5330190"/>
            <a:ext cx="2487580" cy="342900"/>
          </a:xfrm>
          <a:prstGeom prst="rect">
            <a:avLst/>
          </a:prstGeom>
          <a:noFill/>
          <a:ln/>
        </p:spPr>
        <p:txBody>
          <a:bodyPr wrap="square" lIns="25400" tIns="25400" rIns="25400" bIns="25400" rtlCol="0" anchor="t">
            <a:normAutofit/>
          </a:bodyPr>
          <a:lstStyle/>
          <a:p>
            <a:pPr algn="ctr" indent="0" marL="0">
              <a:buNone/>
            </a:pPr>
            <a:r>
              <a:rPr lang="en-US" sz="1800" dirty="0">
                <a:solidFill>
                  <a:srgbClr val="A7333F"/>
                </a:solidFill>
                <a:latin typeface="Arial" pitchFamily="34" charset="0"/>
                <a:ea typeface="Arial" pitchFamily="34" charset="-122"/>
                <a:cs typeface="Arial" pitchFamily="34" charset="-120"/>
              </a:rPr>
              <a:t>✗</a:t>
            </a:r>
            <a:endParaRPr lang="en-US" sz="1800" dirty="0"/>
          </a:p>
        </p:txBody>
      </p:sp>
      <p:sp>
        <p:nvSpPr>
          <p:cNvPr id="33" name="Text 30"/>
          <p:cNvSpPr/>
          <p:nvPr/>
        </p:nvSpPr>
        <p:spPr>
          <a:xfrm>
            <a:off x="8464566" y="5330190"/>
            <a:ext cx="2487580" cy="342900"/>
          </a:xfrm>
          <a:prstGeom prst="rect">
            <a:avLst/>
          </a:prstGeom>
          <a:noFill/>
          <a:ln/>
        </p:spPr>
        <p:txBody>
          <a:bodyPr wrap="square" lIns="25400" tIns="25400" rIns="25400" bIns="25400" rtlCol="0" anchor="t">
            <a:normAutofit/>
          </a:bodyPr>
          <a:lstStyle/>
          <a:p>
            <a:pPr algn="ctr" indent="0" marL="0">
              <a:buNone/>
            </a:pPr>
            <a:r>
              <a:rPr lang="en-US" sz="1800" dirty="0">
                <a:solidFill>
                  <a:srgbClr val="A7333F"/>
                </a:solidFill>
                <a:latin typeface="Arial" pitchFamily="34" charset="0"/>
                <a:ea typeface="Arial" pitchFamily="34" charset="-122"/>
                <a:cs typeface="Arial" pitchFamily="34" charset="-120"/>
              </a:rPr>
              <a:t>✗</a:t>
            </a:r>
            <a:endParaRPr lang="en-US" sz="1800" dirty="0"/>
          </a:p>
        </p:txBody>
      </p:sp>
      <p:sp>
        <p:nvSpPr>
          <p:cNvPr id="34" name="Text 31"/>
          <p:cNvSpPr/>
          <p:nvPr/>
        </p:nvSpPr>
        <p:spPr>
          <a:xfrm>
            <a:off x="11286586" y="5330190"/>
            <a:ext cx="2487580" cy="342900"/>
          </a:xfrm>
          <a:prstGeom prst="rect">
            <a:avLst/>
          </a:prstGeom>
          <a:noFill/>
          <a:ln/>
        </p:spPr>
        <p:txBody>
          <a:bodyPr wrap="square" lIns="25400" tIns="25400" rIns="25400" bIns="25400" rtlCol="0" anchor="t">
            <a:normAutofit/>
          </a:bodyPr>
          <a:lstStyle/>
          <a:p>
            <a:pPr algn="ctr" indent="0" marL="0">
              <a:buNone/>
            </a:pPr>
            <a:r>
              <a:rPr lang="en-US" sz="1800" dirty="0">
                <a:solidFill>
                  <a:srgbClr val="A7333F"/>
                </a:solidFill>
                <a:latin typeface="Arial" pitchFamily="34" charset="0"/>
                <a:ea typeface="Arial" pitchFamily="34" charset="-122"/>
                <a:cs typeface="Arial" pitchFamily="34" charset="-120"/>
              </a:rPr>
              <a:t>✗</a:t>
            </a:r>
            <a:endParaRPr lang="en-US" sz="1800" dirty="0"/>
          </a:p>
        </p:txBody>
      </p:sp>
      <p:sp>
        <p:nvSpPr>
          <p:cNvPr id="35" name="Shape 32"/>
          <p:cNvSpPr/>
          <p:nvPr/>
        </p:nvSpPr>
        <p:spPr>
          <a:xfrm>
            <a:off x="13941385" y="5196840"/>
            <a:ext cx="3386376" cy="571500"/>
          </a:xfrm>
          <a:prstGeom prst="rect">
            <a:avLst/>
          </a:prstGeom>
          <a:solidFill>
            <a:srgbClr val="FBF6EE"/>
          </a:solidFill>
          <a:ln/>
        </p:spPr>
      </p:sp>
      <p:sp>
        <p:nvSpPr>
          <p:cNvPr id="36" name="Text 33"/>
          <p:cNvSpPr/>
          <p:nvPr/>
        </p:nvSpPr>
        <p:spPr>
          <a:xfrm>
            <a:off x="14100139" y="5330190"/>
            <a:ext cx="3068867" cy="342900"/>
          </a:xfrm>
          <a:prstGeom prst="rect">
            <a:avLst/>
          </a:prstGeom>
          <a:noFill/>
          <a:ln/>
        </p:spPr>
        <p:txBody>
          <a:bodyPr wrap="square" lIns="25400" tIns="25400" rIns="25400" bIns="25400" rtlCol="0" anchor="t">
            <a:normAutofit/>
          </a:bodyPr>
          <a:lstStyle/>
          <a:p>
            <a:pPr algn="ctr" indent="0" marL="0">
              <a:buNone/>
            </a:pPr>
            <a:r>
              <a:rPr lang="en-US" sz="1800" b="1" dirty="0">
                <a:solidFill>
                  <a:srgbClr val="2A6F4D"/>
                </a:solidFill>
                <a:latin typeface="Arial" pitchFamily="34" charset="0"/>
                <a:ea typeface="Arial" pitchFamily="34" charset="-122"/>
                <a:cs typeface="Arial" pitchFamily="34" charset="-120"/>
              </a:rPr>
              <a:t>✓</a:t>
            </a:r>
            <a:endParaRPr lang="en-US" sz="1800" dirty="0"/>
          </a:p>
        </p:txBody>
      </p:sp>
      <p:sp>
        <p:nvSpPr>
          <p:cNvPr id="37" name="Shape 34"/>
          <p:cNvSpPr/>
          <p:nvPr/>
        </p:nvSpPr>
        <p:spPr>
          <a:xfrm>
            <a:off x="960120" y="5768340"/>
            <a:ext cx="16367760" cy="571500"/>
          </a:xfrm>
          <a:prstGeom prst="rect">
            <a:avLst/>
          </a:prstGeom>
          <a:solidFill>
            <a:srgbClr val="FAF6EF"/>
          </a:solidFill>
          <a:ln/>
        </p:spPr>
      </p:sp>
      <p:sp>
        <p:nvSpPr>
          <p:cNvPr id="38" name="Text 35"/>
          <p:cNvSpPr/>
          <p:nvPr/>
        </p:nvSpPr>
        <p:spPr>
          <a:xfrm>
            <a:off x="1169670" y="5901690"/>
            <a:ext cx="4231563"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3A3A3A"/>
                </a:solidFill>
                <a:latin typeface="Arial" pitchFamily="34" charset="0"/>
                <a:ea typeface="Arial" pitchFamily="34" charset="-122"/>
                <a:cs typeface="Arial" pitchFamily="34" charset="-120"/>
              </a:rPr>
              <a:t>Rule-based chatbot</a:t>
            </a:r>
            <a:endParaRPr lang="en-US" sz="1800" dirty="0"/>
          </a:p>
        </p:txBody>
      </p:sp>
      <p:sp>
        <p:nvSpPr>
          <p:cNvPr id="39" name="Text 36"/>
          <p:cNvSpPr/>
          <p:nvPr/>
        </p:nvSpPr>
        <p:spPr>
          <a:xfrm>
            <a:off x="5642547" y="5901690"/>
            <a:ext cx="2487580" cy="342900"/>
          </a:xfrm>
          <a:prstGeom prst="rect">
            <a:avLst/>
          </a:prstGeom>
          <a:noFill/>
          <a:ln/>
        </p:spPr>
        <p:txBody>
          <a:bodyPr wrap="square" lIns="25400" tIns="25400" rIns="25400" bIns="25400" rtlCol="0" anchor="t">
            <a:normAutofit/>
          </a:bodyPr>
          <a:lstStyle/>
          <a:p>
            <a:pPr algn="ctr" indent="0" marL="0">
              <a:buNone/>
            </a:pPr>
            <a:r>
              <a:rPr lang="en-US" sz="1800" dirty="0">
                <a:solidFill>
                  <a:srgbClr val="A7333F"/>
                </a:solidFill>
                <a:latin typeface="Arial" pitchFamily="34" charset="0"/>
                <a:ea typeface="Arial" pitchFamily="34" charset="-122"/>
                <a:cs typeface="Arial" pitchFamily="34" charset="-120"/>
              </a:rPr>
              <a:t>✗</a:t>
            </a:r>
            <a:endParaRPr lang="en-US" sz="1800" dirty="0"/>
          </a:p>
        </p:txBody>
      </p:sp>
      <p:sp>
        <p:nvSpPr>
          <p:cNvPr id="40" name="Text 37"/>
          <p:cNvSpPr/>
          <p:nvPr/>
        </p:nvSpPr>
        <p:spPr>
          <a:xfrm>
            <a:off x="8464566" y="5901690"/>
            <a:ext cx="2487580" cy="342900"/>
          </a:xfrm>
          <a:prstGeom prst="rect">
            <a:avLst/>
          </a:prstGeom>
          <a:noFill/>
          <a:ln/>
        </p:spPr>
        <p:txBody>
          <a:bodyPr wrap="square" lIns="25400" tIns="25400" rIns="25400" bIns="25400" rtlCol="0" anchor="t">
            <a:normAutofit/>
          </a:bodyPr>
          <a:lstStyle/>
          <a:p>
            <a:pPr algn="ctr" indent="0" marL="0">
              <a:buNone/>
            </a:pPr>
            <a:r>
              <a:rPr lang="en-US" sz="1800" dirty="0">
                <a:solidFill>
                  <a:srgbClr val="A7333F"/>
                </a:solidFill>
                <a:latin typeface="Arial" pitchFamily="34" charset="0"/>
                <a:ea typeface="Arial" pitchFamily="34" charset="-122"/>
                <a:cs typeface="Arial" pitchFamily="34" charset="-120"/>
              </a:rPr>
              <a:t>✗</a:t>
            </a:r>
            <a:endParaRPr lang="en-US" sz="1800" dirty="0"/>
          </a:p>
        </p:txBody>
      </p:sp>
      <p:sp>
        <p:nvSpPr>
          <p:cNvPr id="41" name="Text 38"/>
          <p:cNvSpPr/>
          <p:nvPr/>
        </p:nvSpPr>
        <p:spPr>
          <a:xfrm>
            <a:off x="11286586" y="5901690"/>
            <a:ext cx="2487580" cy="342900"/>
          </a:xfrm>
          <a:prstGeom prst="rect">
            <a:avLst/>
          </a:prstGeom>
          <a:noFill/>
          <a:ln/>
        </p:spPr>
        <p:txBody>
          <a:bodyPr wrap="square" lIns="25400" tIns="25400" rIns="25400" bIns="25400" rtlCol="0" anchor="t">
            <a:normAutofit/>
          </a:bodyPr>
          <a:lstStyle/>
          <a:p>
            <a:pPr algn="ctr" indent="0" marL="0">
              <a:buNone/>
            </a:pPr>
            <a:r>
              <a:rPr lang="en-US" sz="1800" dirty="0">
                <a:solidFill>
                  <a:srgbClr val="A7333F"/>
                </a:solidFill>
                <a:latin typeface="Arial" pitchFamily="34" charset="0"/>
                <a:ea typeface="Arial" pitchFamily="34" charset="-122"/>
                <a:cs typeface="Arial" pitchFamily="34" charset="-120"/>
              </a:rPr>
              <a:t>✗</a:t>
            </a:r>
            <a:endParaRPr lang="en-US" sz="1800" dirty="0"/>
          </a:p>
        </p:txBody>
      </p:sp>
      <p:sp>
        <p:nvSpPr>
          <p:cNvPr id="42" name="Shape 39"/>
          <p:cNvSpPr/>
          <p:nvPr/>
        </p:nvSpPr>
        <p:spPr>
          <a:xfrm>
            <a:off x="13941385" y="5768340"/>
            <a:ext cx="3386376" cy="571500"/>
          </a:xfrm>
          <a:prstGeom prst="rect">
            <a:avLst/>
          </a:prstGeom>
          <a:solidFill>
            <a:srgbClr val="FBF6EE"/>
          </a:solidFill>
          <a:ln/>
        </p:spPr>
      </p:sp>
      <p:sp>
        <p:nvSpPr>
          <p:cNvPr id="43" name="Text 40"/>
          <p:cNvSpPr/>
          <p:nvPr/>
        </p:nvSpPr>
        <p:spPr>
          <a:xfrm>
            <a:off x="14100139" y="5901690"/>
            <a:ext cx="3068867" cy="342900"/>
          </a:xfrm>
          <a:prstGeom prst="rect">
            <a:avLst/>
          </a:prstGeom>
          <a:noFill/>
          <a:ln/>
        </p:spPr>
        <p:txBody>
          <a:bodyPr wrap="square" lIns="25400" tIns="25400" rIns="25400" bIns="25400" rtlCol="0" anchor="t">
            <a:normAutofit/>
          </a:bodyPr>
          <a:lstStyle/>
          <a:p>
            <a:pPr algn="ctr" indent="0" marL="0">
              <a:buNone/>
            </a:pPr>
            <a:r>
              <a:rPr lang="en-US" sz="1800" b="1" dirty="0">
                <a:solidFill>
                  <a:srgbClr val="2A6F4D"/>
                </a:solidFill>
                <a:latin typeface="Arial" pitchFamily="34" charset="0"/>
                <a:ea typeface="Arial" pitchFamily="34" charset="-122"/>
                <a:cs typeface="Arial" pitchFamily="34" charset="-120"/>
              </a:rPr>
              <a:t>✓</a:t>
            </a:r>
            <a:endParaRPr lang="en-US" sz="1800" dirty="0"/>
          </a:p>
        </p:txBody>
      </p:sp>
      <p:sp>
        <p:nvSpPr>
          <p:cNvPr id="44" name="Shape 41"/>
          <p:cNvSpPr/>
          <p:nvPr/>
        </p:nvSpPr>
        <p:spPr>
          <a:xfrm>
            <a:off x="960120" y="6339840"/>
            <a:ext cx="16367760" cy="571500"/>
          </a:xfrm>
          <a:prstGeom prst="rect">
            <a:avLst/>
          </a:prstGeom>
          <a:solidFill>
            <a:srgbClr val="FFFFFF"/>
          </a:solidFill>
          <a:ln/>
        </p:spPr>
      </p:sp>
      <p:sp>
        <p:nvSpPr>
          <p:cNvPr id="45" name="Text 42"/>
          <p:cNvSpPr/>
          <p:nvPr/>
        </p:nvSpPr>
        <p:spPr>
          <a:xfrm>
            <a:off x="1169670" y="6473190"/>
            <a:ext cx="4231563" cy="342900"/>
          </a:xfrm>
          <a:prstGeom prst="rect">
            <a:avLst/>
          </a:prstGeom>
          <a:noFill/>
          <a:ln/>
        </p:spPr>
        <p:txBody>
          <a:bodyPr wrap="square" lIns="25400" tIns="25400" rIns="25400" bIns="25400" rtlCol="0" anchor="t">
            <a:normAutofit/>
          </a:bodyPr>
          <a:lstStyle/>
          <a:p>
            <a:pPr algn="l" indent="0" marL="0">
              <a:buNone/>
            </a:pPr>
            <a:r>
              <a:rPr lang="en-US" sz="1800" dirty="0">
                <a:solidFill>
                  <a:srgbClr val="3A3A3A"/>
                </a:solidFill>
                <a:latin typeface="Arial" pitchFamily="34" charset="0"/>
                <a:ea typeface="Arial" pitchFamily="34" charset="-122"/>
                <a:cs typeface="Arial" pitchFamily="34" charset="-120"/>
              </a:rPr>
              <a:t>Admin dashboard</a:t>
            </a:r>
            <a:endParaRPr lang="en-US" sz="1800" dirty="0"/>
          </a:p>
        </p:txBody>
      </p:sp>
      <p:sp>
        <p:nvSpPr>
          <p:cNvPr id="46" name="Text 43"/>
          <p:cNvSpPr/>
          <p:nvPr/>
        </p:nvSpPr>
        <p:spPr>
          <a:xfrm>
            <a:off x="5642547" y="6473190"/>
            <a:ext cx="2487580" cy="342900"/>
          </a:xfrm>
          <a:prstGeom prst="rect">
            <a:avLst/>
          </a:prstGeom>
          <a:noFill/>
          <a:ln/>
        </p:spPr>
        <p:txBody>
          <a:bodyPr wrap="square" lIns="25400" tIns="25400" rIns="25400" bIns="25400" rtlCol="0" anchor="t">
            <a:normAutofit/>
          </a:bodyPr>
          <a:lstStyle/>
          <a:p>
            <a:pPr algn="ctr" indent="0" marL="0">
              <a:buNone/>
            </a:pPr>
            <a:r>
              <a:rPr lang="en-US" sz="1800" dirty="0">
                <a:solidFill>
                  <a:srgbClr val="2A6F4D"/>
                </a:solidFill>
                <a:latin typeface="Arial" pitchFamily="34" charset="0"/>
                <a:ea typeface="Arial" pitchFamily="34" charset="-122"/>
                <a:cs typeface="Arial" pitchFamily="34" charset="-120"/>
              </a:rPr>
              <a:t>✓</a:t>
            </a:r>
            <a:endParaRPr lang="en-US" sz="1800" dirty="0"/>
          </a:p>
        </p:txBody>
      </p:sp>
      <p:sp>
        <p:nvSpPr>
          <p:cNvPr id="47" name="Text 44"/>
          <p:cNvSpPr/>
          <p:nvPr/>
        </p:nvSpPr>
        <p:spPr>
          <a:xfrm>
            <a:off x="8464566" y="6473190"/>
            <a:ext cx="2487580" cy="342900"/>
          </a:xfrm>
          <a:prstGeom prst="rect">
            <a:avLst/>
          </a:prstGeom>
          <a:noFill/>
          <a:ln/>
        </p:spPr>
        <p:txBody>
          <a:bodyPr wrap="square" lIns="25400" tIns="25400" rIns="25400" bIns="25400" rtlCol="0" anchor="t">
            <a:normAutofit/>
          </a:bodyPr>
          <a:lstStyle/>
          <a:p>
            <a:pPr algn="ctr" indent="0" marL="0">
              <a:buNone/>
            </a:pPr>
            <a:r>
              <a:rPr lang="en-US" sz="1800" dirty="0">
                <a:solidFill>
                  <a:srgbClr val="2A6F4D"/>
                </a:solidFill>
                <a:latin typeface="Arial" pitchFamily="34" charset="0"/>
                <a:ea typeface="Arial" pitchFamily="34" charset="-122"/>
                <a:cs typeface="Arial" pitchFamily="34" charset="-120"/>
              </a:rPr>
              <a:t>✓</a:t>
            </a:r>
            <a:endParaRPr lang="en-US" sz="1800" dirty="0"/>
          </a:p>
        </p:txBody>
      </p:sp>
      <p:sp>
        <p:nvSpPr>
          <p:cNvPr id="48" name="Text 45"/>
          <p:cNvSpPr/>
          <p:nvPr/>
        </p:nvSpPr>
        <p:spPr>
          <a:xfrm>
            <a:off x="11286586" y="6473190"/>
            <a:ext cx="2487580" cy="342900"/>
          </a:xfrm>
          <a:prstGeom prst="rect">
            <a:avLst/>
          </a:prstGeom>
          <a:noFill/>
          <a:ln/>
        </p:spPr>
        <p:txBody>
          <a:bodyPr wrap="square" lIns="25400" tIns="25400" rIns="25400" bIns="25400" rtlCol="0" anchor="t">
            <a:normAutofit/>
          </a:bodyPr>
          <a:lstStyle/>
          <a:p>
            <a:pPr algn="ctr" indent="0" marL="0">
              <a:buNone/>
            </a:pPr>
            <a:r>
              <a:rPr lang="en-US" sz="1800" dirty="0">
                <a:solidFill>
                  <a:srgbClr val="2A6F4D"/>
                </a:solidFill>
                <a:latin typeface="Arial" pitchFamily="34" charset="0"/>
                <a:ea typeface="Arial" pitchFamily="34" charset="-122"/>
                <a:cs typeface="Arial" pitchFamily="34" charset="-120"/>
              </a:rPr>
              <a:t>✓</a:t>
            </a:r>
            <a:endParaRPr lang="en-US" sz="1800" dirty="0"/>
          </a:p>
        </p:txBody>
      </p:sp>
      <p:sp>
        <p:nvSpPr>
          <p:cNvPr id="49" name="Shape 46"/>
          <p:cNvSpPr/>
          <p:nvPr/>
        </p:nvSpPr>
        <p:spPr>
          <a:xfrm>
            <a:off x="13941385" y="6339840"/>
            <a:ext cx="3386376" cy="571500"/>
          </a:xfrm>
          <a:prstGeom prst="rect">
            <a:avLst/>
          </a:prstGeom>
          <a:solidFill>
            <a:srgbClr val="FBF6EE"/>
          </a:solidFill>
          <a:ln/>
        </p:spPr>
      </p:sp>
      <p:sp>
        <p:nvSpPr>
          <p:cNvPr id="50" name="Text 47"/>
          <p:cNvSpPr/>
          <p:nvPr/>
        </p:nvSpPr>
        <p:spPr>
          <a:xfrm>
            <a:off x="14100139" y="6473190"/>
            <a:ext cx="3068867" cy="342900"/>
          </a:xfrm>
          <a:prstGeom prst="rect">
            <a:avLst/>
          </a:prstGeom>
          <a:noFill/>
          <a:ln/>
        </p:spPr>
        <p:txBody>
          <a:bodyPr wrap="square" lIns="25400" tIns="25400" rIns="25400" bIns="25400" rtlCol="0" anchor="t">
            <a:normAutofit/>
          </a:bodyPr>
          <a:lstStyle/>
          <a:p>
            <a:pPr algn="ctr" indent="0" marL="0">
              <a:buNone/>
            </a:pPr>
            <a:r>
              <a:rPr lang="en-US" sz="1800" b="1" dirty="0">
                <a:solidFill>
                  <a:srgbClr val="2A6F4D"/>
                </a:solidFill>
                <a:latin typeface="Arial" pitchFamily="34" charset="0"/>
                <a:ea typeface="Arial" pitchFamily="34" charset="-122"/>
                <a:cs typeface="Arial" pitchFamily="34" charset="-120"/>
              </a:rPr>
              <a:t>✓</a:t>
            </a:r>
            <a:endParaRPr lang="en-US" sz="1800" dirty="0"/>
          </a:p>
        </p:txBody>
      </p:sp>
      <p:sp>
        <p:nvSpPr>
          <p:cNvPr id="51" name="Shape 48"/>
          <p:cNvSpPr/>
          <p:nvPr/>
        </p:nvSpPr>
        <p:spPr>
          <a:xfrm>
            <a:off x="960120" y="6911340"/>
            <a:ext cx="16367760" cy="571500"/>
          </a:xfrm>
          <a:prstGeom prst="rect">
            <a:avLst/>
          </a:prstGeom>
          <a:solidFill>
            <a:srgbClr val="FAF6EF"/>
          </a:solidFill>
          <a:ln/>
        </p:spPr>
      </p:sp>
      <p:sp>
        <p:nvSpPr>
          <p:cNvPr id="52" name="Text 49"/>
          <p:cNvSpPr/>
          <p:nvPr/>
        </p:nvSpPr>
        <p:spPr>
          <a:xfrm>
            <a:off x="1169670" y="7044690"/>
            <a:ext cx="4231563"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3A3A3A"/>
                </a:solidFill>
                <a:latin typeface="Arial" pitchFamily="34" charset="0"/>
                <a:ea typeface="Arial" pitchFamily="34" charset="-122"/>
                <a:cs typeface="Arial" pitchFamily="34" charset="-120"/>
              </a:rPr>
              <a:t>SME-appropriate complexity</a:t>
            </a:r>
            <a:endParaRPr lang="en-US" sz="1800" dirty="0"/>
          </a:p>
        </p:txBody>
      </p:sp>
      <p:sp>
        <p:nvSpPr>
          <p:cNvPr id="53" name="Text 50"/>
          <p:cNvSpPr/>
          <p:nvPr/>
        </p:nvSpPr>
        <p:spPr>
          <a:xfrm>
            <a:off x="5642547" y="7044690"/>
            <a:ext cx="2487580" cy="342900"/>
          </a:xfrm>
          <a:prstGeom prst="rect">
            <a:avLst/>
          </a:prstGeom>
          <a:noFill/>
          <a:ln/>
        </p:spPr>
        <p:txBody>
          <a:bodyPr wrap="square" lIns="25400" tIns="25400" rIns="25400" bIns="25400" rtlCol="0" anchor="t">
            <a:normAutofit/>
          </a:bodyPr>
          <a:lstStyle/>
          <a:p>
            <a:pPr algn="ctr" indent="0" marL="0">
              <a:buNone/>
            </a:pPr>
            <a:r>
              <a:rPr lang="en-US" sz="1800" dirty="0">
                <a:solidFill>
                  <a:srgbClr val="B19C7D"/>
                </a:solidFill>
                <a:latin typeface="Arial" pitchFamily="34" charset="0"/>
                <a:ea typeface="Arial" pitchFamily="34" charset="-122"/>
                <a:cs typeface="Arial" pitchFamily="34" charset="-120"/>
              </a:rPr>
              <a:t>Limited</a:t>
            </a:r>
            <a:endParaRPr lang="en-US" sz="1800" dirty="0"/>
          </a:p>
        </p:txBody>
      </p:sp>
      <p:sp>
        <p:nvSpPr>
          <p:cNvPr id="54" name="Text 51"/>
          <p:cNvSpPr/>
          <p:nvPr/>
        </p:nvSpPr>
        <p:spPr>
          <a:xfrm>
            <a:off x="8464566" y="7044690"/>
            <a:ext cx="2487580" cy="342900"/>
          </a:xfrm>
          <a:prstGeom prst="rect">
            <a:avLst/>
          </a:prstGeom>
          <a:noFill/>
          <a:ln/>
        </p:spPr>
        <p:txBody>
          <a:bodyPr wrap="square" lIns="25400" tIns="25400" rIns="25400" bIns="25400" rtlCol="0" anchor="t">
            <a:normAutofit/>
          </a:bodyPr>
          <a:lstStyle/>
          <a:p>
            <a:pPr algn="ctr" indent="0" marL="0">
              <a:buNone/>
            </a:pPr>
            <a:r>
              <a:rPr lang="en-US" sz="1800" dirty="0">
                <a:solidFill>
                  <a:srgbClr val="A7333F"/>
                </a:solidFill>
                <a:latin typeface="Arial" pitchFamily="34" charset="0"/>
                <a:ea typeface="Arial" pitchFamily="34" charset="-122"/>
                <a:cs typeface="Arial" pitchFamily="34" charset="-120"/>
              </a:rPr>
              <a:t>✗</a:t>
            </a:r>
            <a:endParaRPr lang="en-US" sz="1800" dirty="0"/>
          </a:p>
        </p:txBody>
      </p:sp>
      <p:sp>
        <p:nvSpPr>
          <p:cNvPr id="55" name="Text 52"/>
          <p:cNvSpPr/>
          <p:nvPr/>
        </p:nvSpPr>
        <p:spPr>
          <a:xfrm>
            <a:off x="11286586" y="7044690"/>
            <a:ext cx="2487580" cy="342900"/>
          </a:xfrm>
          <a:prstGeom prst="rect">
            <a:avLst/>
          </a:prstGeom>
          <a:noFill/>
          <a:ln/>
        </p:spPr>
        <p:txBody>
          <a:bodyPr wrap="square" lIns="25400" tIns="25400" rIns="25400" bIns="25400" rtlCol="0" anchor="t">
            <a:normAutofit/>
          </a:bodyPr>
          <a:lstStyle/>
          <a:p>
            <a:pPr algn="ctr" indent="0" marL="0">
              <a:buNone/>
            </a:pPr>
            <a:r>
              <a:rPr lang="en-US" sz="1800" dirty="0">
                <a:solidFill>
                  <a:srgbClr val="B19C7D"/>
                </a:solidFill>
                <a:latin typeface="Arial" pitchFamily="34" charset="0"/>
                <a:ea typeface="Arial" pitchFamily="34" charset="-122"/>
                <a:cs typeface="Arial" pitchFamily="34" charset="-120"/>
              </a:rPr>
              <a:t>Limited</a:t>
            </a:r>
            <a:endParaRPr lang="en-US" sz="1800" dirty="0"/>
          </a:p>
        </p:txBody>
      </p:sp>
      <p:sp>
        <p:nvSpPr>
          <p:cNvPr id="56" name="Shape 53"/>
          <p:cNvSpPr/>
          <p:nvPr/>
        </p:nvSpPr>
        <p:spPr>
          <a:xfrm>
            <a:off x="13941385" y="6911340"/>
            <a:ext cx="3386376" cy="571500"/>
          </a:xfrm>
          <a:prstGeom prst="rect">
            <a:avLst/>
          </a:prstGeom>
          <a:solidFill>
            <a:srgbClr val="FBF6EE"/>
          </a:solidFill>
          <a:ln/>
        </p:spPr>
      </p:sp>
      <p:sp>
        <p:nvSpPr>
          <p:cNvPr id="57" name="Text 54"/>
          <p:cNvSpPr/>
          <p:nvPr/>
        </p:nvSpPr>
        <p:spPr>
          <a:xfrm>
            <a:off x="14100139" y="7044690"/>
            <a:ext cx="3068867" cy="342900"/>
          </a:xfrm>
          <a:prstGeom prst="rect">
            <a:avLst/>
          </a:prstGeom>
          <a:noFill/>
          <a:ln/>
        </p:spPr>
        <p:txBody>
          <a:bodyPr wrap="square" lIns="25400" tIns="25400" rIns="25400" bIns="25400" rtlCol="0" anchor="t">
            <a:normAutofit/>
          </a:bodyPr>
          <a:lstStyle/>
          <a:p>
            <a:pPr algn="ctr" indent="0" marL="0">
              <a:buNone/>
            </a:pPr>
            <a:r>
              <a:rPr lang="en-US" sz="1800" b="1" dirty="0">
                <a:solidFill>
                  <a:srgbClr val="2A6F4D"/>
                </a:solidFill>
                <a:latin typeface="Arial" pitchFamily="34" charset="0"/>
                <a:ea typeface="Arial" pitchFamily="34" charset="-122"/>
                <a:cs typeface="Arial" pitchFamily="34" charset="-120"/>
              </a:rPr>
              <a:t>✓</a:t>
            </a:r>
            <a:endParaRPr lang="en-US" sz="1800" dirty="0"/>
          </a:p>
        </p:txBody>
      </p:sp>
      <p:sp>
        <p:nvSpPr>
          <p:cNvPr id="58" name="Shape 55"/>
          <p:cNvSpPr/>
          <p:nvPr/>
        </p:nvSpPr>
        <p:spPr>
          <a:xfrm>
            <a:off x="960120" y="7482840"/>
            <a:ext cx="16367760" cy="571500"/>
          </a:xfrm>
          <a:prstGeom prst="rect">
            <a:avLst/>
          </a:prstGeom>
          <a:solidFill>
            <a:srgbClr val="FFFFFF"/>
          </a:solidFill>
          <a:ln/>
        </p:spPr>
      </p:sp>
      <p:sp>
        <p:nvSpPr>
          <p:cNvPr id="59" name="Text 56"/>
          <p:cNvSpPr/>
          <p:nvPr/>
        </p:nvSpPr>
        <p:spPr>
          <a:xfrm>
            <a:off x="1169670" y="7616190"/>
            <a:ext cx="4231563"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3A3A3A"/>
                </a:solidFill>
                <a:latin typeface="Arial" pitchFamily="34" charset="0"/>
                <a:ea typeface="Arial" pitchFamily="34" charset="-122"/>
                <a:cs typeface="Arial" pitchFamily="34" charset="-120"/>
              </a:rPr>
              <a:t>No licensing cost</a:t>
            </a:r>
            <a:endParaRPr lang="en-US" sz="1800" dirty="0"/>
          </a:p>
        </p:txBody>
      </p:sp>
      <p:sp>
        <p:nvSpPr>
          <p:cNvPr id="60" name="Text 57"/>
          <p:cNvSpPr/>
          <p:nvPr/>
        </p:nvSpPr>
        <p:spPr>
          <a:xfrm>
            <a:off x="5642547" y="7616190"/>
            <a:ext cx="2487580" cy="342900"/>
          </a:xfrm>
          <a:prstGeom prst="rect">
            <a:avLst/>
          </a:prstGeom>
          <a:noFill/>
          <a:ln/>
        </p:spPr>
        <p:txBody>
          <a:bodyPr wrap="square" lIns="25400" tIns="25400" rIns="25400" bIns="25400" rtlCol="0" anchor="t">
            <a:normAutofit/>
          </a:bodyPr>
          <a:lstStyle/>
          <a:p>
            <a:pPr algn="ctr" indent="0" marL="0">
              <a:buNone/>
            </a:pPr>
            <a:r>
              <a:rPr lang="en-US" sz="1800" dirty="0">
                <a:solidFill>
                  <a:srgbClr val="A7333F"/>
                </a:solidFill>
                <a:latin typeface="Arial" pitchFamily="34" charset="0"/>
                <a:ea typeface="Arial" pitchFamily="34" charset="-122"/>
                <a:cs typeface="Arial" pitchFamily="34" charset="-120"/>
              </a:rPr>
              <a:t>✗</a:t>
            </a:r>
            <a:endParaRPr lang="en-US" sz="1800" dirty="0"/>
          </a:p>
        </p:txBody>
      </p:sp>
      <p:sp>
        <p:nvSpPr>
          <p:cNvPr id="61" name="Text 58"/>
          <p:cNvSpPr/>
          <p:nvPr/>
        </p:nvSpPr>
        <p:spPr>
          <a:xfrm>
            <a:off x="8464566" y="7616190"/>
            <a:ext cx="2487580" cy="342900"/>
          </a:xfrm>
          <a:prstGeom prst="rect">
            <a:avLst/>
          </a:prstGeom>
          <a:noFill/>
          <a:ln/>
        </p:spPr>
        <p:txBody>
          <a:bodyPr wrap="square" lIns="25400" tIns="25400" rIns="25400" bIns="25400" rtlCol="0" anchor="t">
            <a:normAutofit/>
          </a:bodyPr>
          <a:lstStyle/>
          <a:p>
            <a:pPr algn="ctr" indent="0" marL="0">
              <a:buNone/>
            </a:pPr>
            <a:r>
              <a:rPr lang="en-US" sz="1800" dirty="0">
                <a:solidFill>
                  <a:srgbClr val="A7333F"/>
                </a:solidFill>
                <a:latin typeface="Arial" pitchFamily="34" charset="0"/>
                <a:ea typeface="Arial" pitchFamily="34" charset="-122"/>
                <a:cs typeface="Arial" pitchFamily="34" charset="-120"/>
              </a:rPr>
              <a:t>✗</a:t>
            </a:r>
            <a:endParaRPr lang="en-US" sz="1800" dirty="0"/>
          </a:p>
        </p:txBody>
      </p:sp>
      <p:sp>
        <p:nvSpPr>
          <p:cNvPr id="62" name="Text 59"/>
          <p:cNvSpPr/>
          <p:nvPr/>
        </p:nvSpPr>
        <p:spPr>
          <a:xfrm>
            <a:off x="11286586" y="7616190"/>
            <a:ext cx="2487580" cy="342900"/>
          </a:xfrm>
          <a:prstGeom prst="rect">
            <a:avLst/>
          </a:prstGeom>
          <a:noFill/>
          <a:ln/>
        </p:spPr>
        <p:txBody>
          <a:bodyPr wrap="square" lIns="25400" tIns="25400" rIns="25400" bIns="25400" rtlCol="0" anchor="t">
            <a:normAutofit/>
          </a:bodyPr>
          <a:lstStyle/>
          <a:p>
            <a:pPr algn="ctr" indent="0" marL="0">
              <a:buNone/>
            </a:pPr>
            <a:r>
              <a:rPr lang="en-US" sz="1800" dirty="0">
                <a:solidFill>
                  <a:srgbClr val="A7333F"/>
                </a:solidFill>
                <a:latin typeface="Arial" pitchFamily="34" charset="0"/>
                <a:ea typeface="Arial" pitchFamily="34" charset="-122"/>
                <a:cs typeface="Arial" pitchFamily="34" charset="-120"/>
              </a:rPr>
              <a:t>✗</a:t>
            </a:r>
            <a:endParaRPr lang="en-US" sz="1800" dirty="0"/>
          </a:p>
        </p:txBody>
      </p:sp>
      <p:sp>
        <p:nvSpPr>
          <p:cNvPr id="63" name="Shape 60"/>
          <p:cNvSpPr/>
          <p:nvPr/>
        </p:nvSpPr>
        <p:spPr>
          <a:xfrm>
            <a:off x="13941385" y="7482840"/>
            <a:ext cx="3386376" cy="571500"/>
          </a:xfrm>
          <a:prstGeom prst="rect">
            <a:avLst/>
          </a:prstGeom>
          <a:solidFill>
            <a:srgbClr val="FBF6EE"/>
          </a:solidFill>
          <a:ln/>
        </p:spPr>
      </p:sp>
      <p:sp>
        <p:nvSpPr>
          <p:cNvPr id="64" name="Text 61"/>
          <p:cNvSpPr/>
          <p:nvPr/>
        </p:nvSpPr>
        <p:spPr>
          <a:xfrm>
            <a:off x="14100139" y="7616190"/>
            <a:ext cx="3068867" cy="342900"/>
          </a:xfrm>
          <a:prstGeom prst="rect">
            <a:avLst/>
          </a:prstGeom>
          <a:noFill/>
          <a:ln/>
        </p:spPr>
        <p:txBody>
          <a:bodyPr wrap="square" lIns="25400" tIns="25400" rIns="25400" bIns="25400" rtlCol="0" anchor="t">
            <a:normAutofit/>
          </a:bodyPr>
          <a:lstStyle/>
          <a:p>
            <a:pPr algn="ctr" indent="0" marL="0">
              <a:buNone/>
            </a:pPr>
            <a:r>
              <a:rPr lang="en-US" sz="1800" b="1" dirty="0">
                <a:solidFill>
                  <a:srgbClr val="2A6F4D"/>
                </a:solidFill>
                <a:latin typeface="Arial" pitchFamily="34" charset="0"/>
                <a:ea typeface="Arial" pitchFamily="34" charset="-122"/>
                <a:cs typeface="Arial" pitchFamily="34" charset="-120"/>
              </a:rPr>
              <a:t>✓</a:t>
            </a:r>
            <a:endParaRPr lang="en-US" sz="1800" dirty="0"/>
          </a:p>
        </p:txBody>
      </p:sp>
      <p:sp>
        <p:nvSpPr>
          <p:cNvPr id="65" name="Text 62"/>
          <p:cNvSpPr/>
          <p:nvPr/>
        </p:nvSpPr>
        <p:spPr>
          <a:xfrm>
            <a:off x="952500" y="8290560"/>
            <a:ext cx="18021300" cy="297180"/>
          </a:xfrm>
          <a:prstGeom prst="rect">
            <a:avLst/>
          </a:prstGeom>
          <a:noFill/>
          <a:ln/>
        </p:spPr>
        <p:txBody>
          <a:bodyPr wrap="square" lIns="25400" tIns="25400" rIns="25400" bIns="25400" rtlCol="0" anchor="t">
            <a:normAutofit/>
          </a:bodyPr>
          <a:lstStyle/>
          <a:p>
            <a:pPr algn="l" indent="0" marL="0">
              <a:buNone/>
            </a:pPr>
            <a:r>
              <a:rPr lang="en-US" sz="1800" i="1" dirty="0">
                <a:solidFill>
                  <a:srgbClr val="74121D"/>
                </a:solidFill>
                <a:latin typeface="Arial" pitchFamily="34" charset="0"/>
                <a:ea typeface="Arial" pitchFamily="34" charset="-122"/>
                <a:cs typeface="Arial" pitchFamily="34" charset="-120"/>
              </a:rPr>
              <a:t>Research gap → WhatsApp-first, chatbot-assisted, SME-sized — none of the commercial platforms covers all three.</a:t>
            </a:r>
            <a:endParaRPr lang="en-US" sz="1800" dirty="0"/>
          </a:p>
        </p:txBody>
      </p:sp>
      <p:sp>
        <p:nvSpPr>
          <p:cNvPr id="66" name="Text 63"/>
          <p:cNvSpPr/>
          <p:nvPr/>
        </p:nvSpPr>
        <p:spPr>
          <a:xfrm>
            <a:off x="952500" y="9761220"/>
            <a:ext cx="4426744" cy="297180"/>
          </a:xfrm>
          <a:prstGeom prst="rect">
            <a:avLst/>
          </a:prstGeom>
          <a:noFill/>
          <a:ln/>
        </p:spPr>
        <p:txBody>
          <a:bodyPr wrap="square" lIns="25400" tIns="25400" rIns="25400" bIns="25400" rtlCol="0" anchor="t">
            <a:normAutofit/>
          </a:bodyPr>
          <a:lstStyle/>
          <a:p>
            <a:pPr algn="l" indent="0" marL="0">
              <a:buNone/>
            </a:pPr>
            <a:r>
              <a:rPr lang="en-US" sz="1800" spc="38" kern="0" dirty="0">
                <a:solidFill>
                  <a:srgbClr val="9A8C7E"/>
                </a:solidFill>
                <a:latin typeface="Arial" pitchFamily="34" charset="0"/>
                <a:ea typeface="Arial" pitchFamily="34" charset="-122"/>
                <a:cs typeface="Arial" pitchFamily="34" charset="-120"/>
              </a:rPr>
              <a:t>UATCC Web Application · PSM 1 Viva</a:t>
            </a:r>
            <a:endParaRPr lang="en-US" sz="1800" dirty="0"/>
          </a:p>
        </p:txBody>
      </p:sp>
      <p:sp>
        <p:nvSpPr>
          <p:cNvPr id="67" name="Text 64"/>
          <p:cNvSpPr/>
          <p:nvPr/>
        </p:nvSpPr>
        <p:spPr>
          <a:xfrm>
            <a:off x="16603027" y="9761220"/>
            <a:ext cx="808673" cy="297180"/>
          </a:xfrm>
          <a:prstGeom prst="rect">
            <a:avLst/>
          </a:prstGeom>
          <a:noFill/>
          <a:ln/>
        </p:spPr>
        <p:txBody>
          <a:bodyPr wrap="square" lIns="25400" tIns="25400" rIns="25400" bIns="25400" rtlCol="0" anchor="t">
            <a:normAutofit/>
          </a:bodyPr>
          <a:lstStyle/>
          <a:p>
            <a:pPr algn="l" indent="0" marL="0">
              <a:buNone/>
            </a:pPr>
            <a:r>
              <a:rPr lang="en-US" sz="1800" spc="38" kern="0" dirty="0">
                <a:solidFill>
                  <a:srgbClr val="9A8C7E"/>
                </a:solidFill>
                <a:latin typeface="Arial" pitchFamily="34" charset="0"/>
                <a:ea typeface="Arial" pitchFamily="34" charset="-122"/>
                <a:cs typeface="Arial" pitchFamily="34" charset="-120"/>
              </a:rPr>
              <a:t>06 / 14</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0" cy="133350"/>
          </a:xfrm>
          <a:prstGeom prst="rect">
            <a:avLst/>
          </a:prstGeom>
          <a:solidFill>
            <a:srgbClr val="74121D"/>
          </a:solidFill>
          <a:ln/>
        </p:spPr>
      </p:sp>
      <p:pic>
        <p:nvPicPr>
          <p:cNvPr id="3" name="Image 0" descr="preencoded.png">    </p:cNvPr>
          <p:cNvPicPr>
            <a:picLocks noChangeAspect="1"/>
          </p:cNvPicPr>
          <p:nvPr/>
        </p:nvPicPr>
        <p:blipFill>
          <a:blip r:embed="rId1"/>
          <a:stretch>
            <a:fillRect/>
          </a:stretch>
        </p:blipFill>
        <p:spPr>
          <a:xfrm>
            <a:off x="16004143" y="361950"/>
            <a:ext cx="1521857" cy="514350"/>
          </a:xfrm>
          <a:prstGeom prst="rect">
            <a:avLst/>
          </a:prstGeom>
        </p:spPr>
      </p:pic>
      <p:sp>
        <p:nvSpPr>
          <p:cNvPr id="4" name="Text 1"/>
          <p:cNvSpPr/>
          <p:nvPr/>
        </p:nvSpPr>
        <p:spPr>
          <a:xfrm>
            <a:off x="952500" y="1238250"/>
            <a:ext cx="18021300" cy="297180"/>
          </a:xfrm>
          <a:prstGeom prst="rect">
            <a:avLst/>
          </a:prstGeom>
          <a:noFill/>
          <a:ln/>
        </p:spPr>
        <p:txBody>
          <a:bodyPr wrap="square" lIns="25400" tIns="25400" rIns="25400" bIns="25400" rtlCol="0" anchor="t">
            <a:normAutofit/>
          </a:bodyPr>
          <a:lstStyle/>
          <a:p>
            <a:pPr algn="l" indent="0" marL="0">
              <a:buNone/>
            </a:pPr>
            <a:r>
              <a:rPr lang="en-US" sz="1800" b="1" spc="225" kern="0" dirty="0">
                <a:solidFill>
                  <a:srgbClr val="B19C7D"/>
                </a:solidFill>
                <a:latin typeface="Arial" pitchFamily="34" charset="0"/>
                <a:ea typeface="Arial" pitchFamily="34" charset="-122"/>
                <a:cs typeface="Arial" pitchFamily="34" charset="-120"/>
              </a:rPr>
              <a:t>CHAPTER 3</a:t>
            </a:r>
            <a:endParaRPr lang="en-US" sz="1800" dirty="0"/>
          </a:p>
        </p:txBody>
      </p:sp>
      <p:sp>
        <p:nvSpPr>
          <p:cNvPr id="5" name="Text 2"/>
          <p:cNvSpPr/>
          <p:nvPr/>
        </p:nvSpPr>
        <p:spPr>
          <a:xfrm>
            <a:off x="952500" y="1611630"/>
            <a:ext cx="18021300" cy="638175"/>
          </a:xfrm>
          <a:prstGeom prst="rect">
            <a:avLst/>
          </a:prstGeom>
          <a:noFill/>
          <a:ln/>
        </p:spPr>
        <p:txBody>
          <a:bodyPr wrap="square" lIns="25400" tIns="25400" rIns="25400" bIns="25400" rtlCol="0" anchor="t">
            <a:normAutofit/>
          </a:bodyPr>
          <a:lstStyle/>
          <a:p>
            <a:pPr algn="l" indent="0" marL="0">
              <a:lnSpc>
                <a:spcPct val="105000"/>
              </a:lnSpc>
              <a:buNone/>
            </a:pPr>
            <a:r>
              <a:rPr lang="en-US" sz="4500" b="1" spc="-37" kern="0" dirty="0">
                <a:solidFill>
                  <a:srgbClr val="74121D"/>
                </a:solidFill>
                <a:latin typeface="Arial" pitchFamily="34" charset="0"/>
                <a:ea typeface="Arial" pitchFamily="34" charset="-122"/>
                <a:cs typeface="Arial" pitchFamily="34" charset="-120"/>
              </a:rPr>
              <a:t>Methodology</a:t>
            </a:r>
            <a:endParaRPr lang="en-US" sz="4500" dirty="0"/>
          </a:p>
        </p:txBody>
      </p:sp>
      <p:sp>
        <p:nvSpPr>
          <p:cNvPr id="6" name="Shape 3"/>
          <p:cNvSpPr/>
          <p:nvPr/>
        </p:nvSpPr>
        <p:spPr>
          <a:xfrm>
            <a:off x="952500" y="2402205"/>
            <a:ext cx="857250" cy="47625"/>
          </a:xfrm>
          <a:prstGeom prst="roundRect">
            <a:avLst>
              <a:gd name="adj" fmla="val 50000"/>
            </a:avLst>
          </a:prstGeom>
          <a:solidFill>
            <a:srgbClr val="B19C7D"/>
          </a:solidFill>
          <a:ln/>
        </p:spPr>
      </p:sp>
      <p:sp>
        <p:nvSpPr>
          <p:cNvPr id="7" name="Shape 4"/>
          <p:cNvSpPr/>
          <p:nvPr/>
        </p:nvSpPr>
        <p:spPr>
          <a:xfrm>
            <a:off x="1750695" y="3059430"/>
            <a:ext cx="1329690" cy="1329690"/>
          </a:xfrm>
          <a:prstGeom prst="ellipse">
            <a:avLst/>
          </a:prstGeom>
          <a:solidFill>
            <a:srgbClr val="FFFFFF"/>
          </a:solidFill>
          <a:ln w="45720">
            <a:solidFill>
              <a:srgbClr val="74121D"/>
            </a:solidFill>
            <a:prstDash val="solid"/>
          </a:ln>
        </p:spPr>
      </p:sp>
      <p:sp>
        <p:nvSpPr>
          <p:cNvPr id="8" name="Text 5"/>
          <p:cNvSpPr/>
          <p:nvPr/>
        </p:nvSpPr>
        <p:spPr>
          <a:xfrm>
            <a:off x="1758315" y="3105150"/>
            <a:ext cx="1314450" cy="1276350"/>
          </a:xfrm>
          <a:prstGeom prst="rect">
            <a:avLst/>
          </a:prstGeom>
          <a:noFill/>
          <a:ln/>
        </p:spPr>
        <p:txBody>
          <a:bodyPr wrap="square" lIns="25400" tIns="25400" rIns="25400" bIns="25400" rtlCol="0" anchor="ctr">
            <a:normAutofit/>
          </a:bodyPr>
          <a:lstStyle/>
          <a:p>
            <a:pPr algn="ctr" indent="0" marL="0">
              <a:buNone/>
            </a:pPr>
            <a:r>
              <a:rPr lang="en-US" sz="3150" b="1" dirty="0">
                <a:solidFill>
                  <a:srgbClr val="74121D"/>
                </a:solidFill>
                <a:latin typeface="Arial" pitchFamily="34" charset="0"/>
                <a:ea typeface="Arial" pitchFamily="34" charset="-122"/>
                <a:cs typeface="Arial" pitchFamily="34" charset="-120"/>
              </a:rPr>
              <a:t>1</a:t>
            </a:r>
            <a:endParaRPr lang="en-US" sz="3150" dirty="0"/>
          </a:p>
        </p:txBody>
      </p:sp>
      <p:sp>
        <p:nvSpPr>
          <p:cNvPr id="9" name="Text 6"/>
          <p:cNvSpPr/>
          <p:nvPr/>
        </p:nvSpPr>
        <p:spPr>
          <a:xfrm>
            <a:off x="890016" y="4560570"/>
            <a:ext cx="3051048" cy="312420"/>
          </a:xfrm>
          <a:prstGeom prst="rect">
            <a:avLst/>
          </a:prstGeom>
          <a:noFill/>
          <a:ln/>
        </p:spPr>
        <p:txBody>
          <a:bodyPr wrap="square" lIns="25400" tIns="25400" rIns="25400" bIns="25400" rtlCol="0" anchor="t">
            <a:normAutofit/>
          </a:bodyPr>
          <a:lstStyle/>
          <a:p>
            <a:pPr algn="ctr" indent="0" marL="0">
              <a:buNone/>
            </a:pPr>
            <a:r>
              <a:rPr lang="en-US" sz="1875" b="1" spc="75" kern="0" dirty="0">
                <a:solidFill>
                  <a:srgbClr val="74121D"/>
                </a:solidFill>
                <a:latin typeface="Arial" pitchFamily="34" charset="0"/>
                <a:ea typeface="Arial" pitchFamily="34" charset="-122"/>
                <a:cs typeface="Arial" pitchFamily="34" charset="-120"/>
              </a:rPr>
              <a:t>Requirements</a:t>
            </a:r>
            <a:endParaRPr lang="en-US" sz="1875" dirty="0"/>
          </a:p>
        </p:txBody>
      </p:sp>
      <p:sp>
        <p:nvSpPr>
          <p:cNvPr id="10" name="Text 7"/>
          <p:cNvSpPr/>
          <p:nvPr/>
        </p:nvSpPr>
        <p:spPr>
          <a:xfrm>
            <a:off x="987095" y="4911090"/>
            <a:ext cx="2856891" cy="963930"/>
          </a:xfrm>
          <a:prstGeom prst="rect">
            <a:avLst/>
          </a:prstGeom>
          <a:noFill/>
          <a:ln/>
        </p:spPr>
        <p:txBody>
          <a:bodyPr wrap="square" lIns="25400" tIns="25400" rIns="25400" bIns="25400" rtlCol="0" anchor="t">
            <a:normAutofit/>
          </a:bodyPr>
          <a:lstStyle/>
          <a:p>
            <a:pPr algn="ctr" indent="0" marL="0">
              <a:lnSpc>
                <a:spcPct val="135000"/>
              </a:lnSpc>
              <a:buNone/>
            </a:pPr>
            <a:r>
              <a:rPr lang="en-US" sz="1800" dirty="0">
                <a:solidFill>
                  <a:srgbClr val="5A5A5A"/>
                </a:solidFill>
                <a:latin typeface="Arial" pitchFamily="34" charset="0"/>
                <a:ea typeface="Arial" pitchFamily="34" charset="-122"/>
                <a:cs typeface="Arial" pitchFamily="34" charset="-120"/>
              </a:rPr>
              <a:t>Stakeholder interview, problems P1–P5, traceability matrix</a:t>
            </a:r>
            <a:endParaRPr lang="en-US" sz="1800" dirty="0"/>
          </a:p>
        </p:txBody>
      </p:sp>
      <p:sp>
        <p:nvSpPr>
          <p:cNvPr id="11" name="Text 8"/>
          <p:cNvSpPr/>
          <p:nvPr/>
        </p:nvSpPr>
        <p:spPr>
          <a:xfrm>
            <a:off x="3878580" y="4482465"/>
            <a:ext cx="514350" cy="541020"/>
          </a:xfrm>
          <a:prstGeom prst="rect">
            <a:avLst/>
          </a:prstGeom>
          <a:noFill/>
          <a:ln/>
        </p:spPr>
        <p:txBody>
          <a:bodyPr wrap="square" lIns="25400" tIns="25400" rIns="25400" bIns="25400" rtlCol="0" anchor="t">
            <a:normAutofit/>
          </a:bodyPr>
          <a:lstStyle/>
          <a:p>
            <a:pPr algn="l" indent="0" marL="0">
              <a:buNone/>
            </a:pPr>
            <a:r>
              <a:rPr lang="en-US" sz="3450" dirty="0">
                <a:solidFill>
                  <a:srgbClr val="B19C7D"/>
                </a:solidFill>
                <a:latin typeface="Arial" pitchFamily="34" charset="0"/>
                <a:ea typeface="Arial" pitchFamily="34" charset="-122"/>
                <a:cs typeface="Arial" pitchFamily="34" charset="-120"/>
              </a:rPr>
              <a:t>→</a:t>
            </a:r>
            <a:endParaRPr lang="en-US" sz="3450" dirty="0"/>
          </a:p>
        </p:txBody>
      </p:sp>
      <p:sp>
        <p:nvSpPr>
          <p:cNvPr id="12" name="Shape 9"/>
          <p:cNvSpPr/>
          <p:nvPr/>
        </p:nvSpPr>
        <p:spPr>
          <a:xfrm>
            <a:off x="5114925" y="3059430"/>
            <a:ext cx="1329690" cy="1329690"/>
          </a:xfrm>
          <a:prstGeom prst="ellipse">
            <a:avLst/>
          </a:prstGeom>
          <a:solidFill>
            <a:srgbClr val="FFFFFF"/>
          </a:solidFill>
          <a:ln w="45720">
            <a:solidFill>
              <a:srgbClr val="74121D"/>
            </a:solidFill>
            <a:prstDash val="solid"/>
          </a:ln>
        </p:spPr>
      </p:sp>
      <p:sp>
        <p:nvSpPr>
          <p:cNvPr id="13" name="Text 10"/>
          <p:cNvSpPr/>
          <p:nvPr/>
        </p:nvSpPr>
        <p:spPr>
          <a:xfrm>
            <a:off x="5122545" y="3105150"/>
            <a:ext cx="1314450" cy="1276350"/>
          </a:xfrm>
          <a:prstGeom prst="rect">
            <a:avLst/>
          </a:prstGeom>
          <a:noFill/>
          <a:ln/>
        </p:spPr>
        <p:txBody>
          <a:bodyPr wrap="square" lIns="25400" tIns="25400" rIns="25400" bIns="25400" rtlCol="0" anchor="ctr">
            <a:normAutofit/>
          </a:bodyPr>
          <a:lstStyle/>
          <a:p>
            <a:pPr algn="ctr" indent="0" marL="0">
              <a:buNone/>
            </a:pPr>
            <a:r>
              <a:rPr lang="en-US" sz="3150" b="1" dirty="0">
                <a:solidFill>
                  <a:srgbClr val="74121D"/>
                </a:solidFill>
                <a:latin typeface="Arial" pitchFamily="34" charset="0"/>
                <a:ea typeface="Arial" pitchFamily="34" charset="-122"/>
                <a:cs typeface="Arial" pitchFamily="34" charset="-120"/>
              </a:rPr>
              <a:t>2</a:t>
            </a:r>
            <a:endParaRPr lang="en-US" sz="3150" dirty="0"/>
          </a:p>
        </p:txBody>
      </p:sp>
      <p:sp>
        <p:nvSpPr>
          <p:cNvPr id="14" name="Text 11"/>
          <p:cNvSpPr/>
          <p:nvPr/>
        </p:nvSpPr>
        <p:spPr>
          <a:xfrm>
            <a:off x="4254246" y="4560570"/>
            <a:ext cx="3051048" cy="312420"/>
          </a:xfrm>
          <a:prstGeom prst="rect">
            <a:avLst/>
          </a:prstGeom>
          <a:noFill/>
          <a:ln/>
        </p:spPr>
        <p:txBody>
          <a:bodyPr wrap="square" lIns="25400" tIns="25400" rIns="25400" bIns="25400" rtlCol="0" anchor="t">
            <a:normAutofit/>
          </a:bodyPr>
          <a:lstStyle/>
          <a:p>
            <a:pPr algn="ctr" indent="0" marL="0">
              <a:buNone/>
            </a:pPr>
            <a:r>
              <a:rPr lang="en-US" sz="1875" b="1" spc="75" kern="0" dirty="0">
                <a:solidFill>
                  <a:srgbClr val="74121D"/>
                </a:solidFill>
                <a:latin typeface="Arial" pitchFamily="34" charset="0"/>
                <a:ea typeface="Arial" pitchFamily="34" charset="-122"/>
                <a:cs typeface="Arial" pitchFamily="34" charset="-120"/>
              </a:rPr>
              <a:t>Design</a:t>
            </a:r>
            <a:endParaRPr lang="en-US" sz="1875" dirty="0"/>
          </a:p>
        </p:txBody>
      </p:sp>
      <p:sp>
        <p:nvSpPr>
          <p:cNvPr id="15" name="Text 12"/>
          <p:cNvSpPr/>
          <p:nvPr/>
        </p:nvSpPr>
        <p:spPr>
          <a:xfrm>
            <a:off x="4351325" y="4911090"/>
            <a:ext cx="2856891" cy="655320"/>
          </a:xfrm>
          <a:prstGeom prst="rect">
            <a:avLst/>
          </a:prstGeom>
          <a:noFill/>
          <a:ln/>
        </p:spPr>
        <p:txBody>
          <a:bodyPr wrap="square" lIns="25400" tIns="25400" rIns="25400" bIns="25400" rtlCol="0" anchor="t">
            <a:normAutofit/>
          </a:bodyPr>
          <a:lstStyle/>
          <a:p>
            <a:pPr algn="ctr" indent="0" marL="0">
              <a:lnSpc>
                <a:spcPct val="135000"/>
              </a:lnSpc>
              <a:buNone/>
            </a:pPr>
            <a:r>
              <a:rPr lang="en-US" sz="1800" dirty="0">
                <a:solidFill>
                  <a:srgbClr val="5A5A5A"/>
                </a:solidFill>
                <a:latin typeface="Arial" pitchFamily="34" charset="0"/>
                <a:ea typeface="Arial" pitchFamily="34" charset="-122"/>
                <a:cs typeface="Arial" pitchFamily="34" charset="-120"/>
              </a:rPr>
              <a:t>Architecture, ERD, use cases, wireframes, security</a:t>
            </a:r>
            <a:endParaRPr lang="en-US" sz="1800" dirty="0"/>
          </a:p>
        </p:txBody>
      </p:sp>
      <p:sp>
        <p:nvSpPr>
          <p:cNvPr id="16" name="Text 13"/>
          <p:cNvSpPr/>
          <p:nvPr/>
        </p:nvSpPr>
        <p:spPr>
          <a:xfrm>
            <a:off x="7242810" y="4482465"/>
            <a:ext cx="514350" cy="541020"/>
          </a:xfrm>
          <a:prstGeom prst="rect">
            <a:avLst/>
          </a:prstGeom>
          <a:noFill/>
          <a:ln/>
        </p:spPr>
        <p:txBody>
          <a:bodyPr wrap="square" lIns="25400" tIns="25400" rIns="25400" bIns="25400" rtlCol="0" anchor="t">
            <a:normAutofit/>
          </a:bodyPr>
          <a:lstStyle/>
          <a:p>
            <a:pPr algn="l" indent="0" marL="0">
              <a:buNone/>
            </a:pPr>
            <a:r>
              <a:rPr lang="en-US" sz="3450" dirty="0">
                <a:solidFill>
                  <a:srgbClr val="B19C7D"/>
                </a:solidFill>
                <a:latin typeface="Arial" pitchFamily="34" charset="0"/>
                <a:ea typeface="Arial" pitchFamily="34" charset="-122"/>
                <a:cs typeface="Arial" pitchFamily="34" charset="-120"/>
              </a:rPr>
              <a:t>→</a:t>
            </a:r>
            <a:endParaRPr lang="en-US" sz="3450" dirty="0"/>
          </a:p>
        </p:txBody>
      </p:sp>
      <p:sp>
        <p:nvSpPr>
          <p:cNvPr id="17" name="Shape 14"/>
          <p:cNvSpPr/>
          <p:nvPr/>
        </p:nvSpPr>
        <p:spPr>
          <a:xfrm>
            <a:off x="8479155" y="3059430"/>
            <a:ext cx="1329690" cy="1329690"/>
          </a:xfrm>
          <a:prstGeom prst="ellipse">
            <a:avLst/>
          </a:prstGeom>
          <a:solidFill>
            <a:srgbClr val="FBF6EE"/>
          </a:solidFill>
          <a:ln w="45720">
            <a:solidFill>
              <a:srgbClr val="B19C7D"/>
            </a:solidFill>
            <a:prstDash val="dash"/>
          </a:ln>
        </p:spPr>
      </p:sp>
      <p:sp>
        <p:nvSpPr>
          <p:cNvPr id="18" name="Text 15"/>
          <p:cNvSpPr/>
          <p:nvPr/>
        </p:nvSpPr>
        <p:spPr>
          <a:xfrm>
            <a:off x="8486775" y="3105150"/>
            <a:ext cx="1314450" cy="1276350"/>
          </a:xfrm>
          <a:prstGeom prst="rect">
            <a:avLst/>
          </a:prstGeom>
          <a:noFill/>
          <a:ln/>
        </p:spPr>
        <p:txBody>
          <a:bodyPr wrap="square" lIns="25400" tIns="25400" rIns="25400" bIns="25400" rtlCol="0" anchor="ctr">
            <a:normAutofit/>
          </a:bodyPr>
          <a:lstStyle/>
          <a:p>
            <a:pPr algn="ctr" indent="0" marL="0">
              <a:buNone/>
            </a:pPr>
            <a:r>
              <a:rPr lang="en-US" sz="3150" b="1" dirty="0">
                <a:solidFill>
                  <a:srgbClr val="B19C7D"/>
                </a:solidFill>
                <a:latin typeface="Arial" pitchFamily="34" charset="0"/>
                <a:ea typeface="Arial" pitchFamily="34" charset="-122"/>
                <a:cs typeface="Arial" pitchFamily="34" charset="-120"/>
              </a:rPr>
              <a:t>3</a:t>
            </a:r>
            <a:endParaRPr lang="en-US" sz="3150" dirty="0"/>
          </a:p>
        </p:txBody>
      </p:sp>
      <p:sp>
        <p:nvSpPr>
          <p:cNvPr id="19" name="Text 16"/>
          <p:cNvSpPr/>
          <p:nvPr/>
        </p:nvSpPr>
        <p:spPr>
          <a:xfrm>
            <a:off x="7618476" y="4560570"/>
            <a:ext cx="3051048" cy="312420"/>
          </a:xfrm>
          <a:prstGeom prst="rect">
            <a:avLst/>
          </a:prstGeom>
          <a:noFill/>
          <a:ln/>
        </p:spPr>
        <p:txBody>
          <a:bodyPr wrap="square" lIns="25400" tIns="25400" rIns="25400" bIns="25400" rtlCol="0" anchor="t">
            <a:normAutofit/>
          </a:bodyPr>
          <a:lstStyle/>
          <a:p>
            <a:pPr algn="ctr" indent="0" marL="0">
              <a:buNone/>
            </a:pPr>
            <a:r>
              <a:rPr lang="en-US" sz="1875" b="1" spc="75" kern="0" dirty="0">
                <a:solidFill>
                  <a:srgbClr val="B19C7D"/>
                </a:solidFill>
                <a:latin typeface="Arial" pitchFamily="34" charset="0"/>
                <a:ea typeface="Arial" pitchFamily="34" charset="-122"/>
                <a:cs typeface="Arial" pitchFamily="34" charset="-120"/>
              </a:rPr>
              <a:t>Development</a:t>
            </a:r>
            <a:endParaRPr lang="en-US" sz="1875" dirty="0"/>
          </a:p>
        </p:txBody>
      </p:sp>
      <p:sp>
        <p:nvSpPr>
          <p:cNvPr id="20" name="Text 17"/>
          <p:cNvSpPr/>
          <p:nvPr/>
        </p:nvSpPr>
        <p:spPr>
          <a:xfrm>
            <a:off x="7715555" y="4911090"/>
            <a:ext cx="2856891" cy="963930"/>
          </a:xfrm>
          <a:prstGeom prst="rect">
            <a:avLst/>
          </a:prstGeom>
          <a:noFill/>
          <a:ln/>
        </p:spPr>
        <p:txBody>
          <a:bodyPr wrap="square" lIns="25400" tIns="25400" rIns="25400" bIns="25400" rtlCol="0" anchor="t">
            <a:normAutofit/>
          </a:bodyPr>
          <a:lstStyle/>
          <a:p>
            <a:pPr algn="ctr" indent="0" marL="0">
              <a:lnSpc>
                <a:spcPct val="135000"/>
              </a:lnSpc>
              <a:buNone/>
            </a:pPr>
            <a:r>
              <a:rPr lang="en-US" sz="1800" dirty="0">
                <a:solidFill>
                  <a:srgbClr val="5A5A5A"/>
                </a:solidFill>
                <a:latin typeface="Arial" pitchFamily="34" charset="0"/>
                <a:ea typeface="Arial" pitchFamily="34" charset="-122"/>
                <a:cs typeface="Arial" pitchFamily="34" charset="-120"/>
              </a:rPr>
              <a:t>React frontend, Firebase services, WhatsApp, chatbot</a:t>
            </a:r>
            <a:endParaRPr lang="en-US" sz="1800" dirty="0"/>
          </a:p>
        </p:txBody>
      </p:sp>
      <p:sp>
        <p:nvSpPr>
          <p:cNvPr id="21" name="Text 18"/>
          <p:cNvSpPr/>
          <p:nvPr/>
        </p:nvSpPr>
        <p:spPr>
          <a:xfrm>
            <a:off x="10607040" y="4482465"/>
            <a:ext cx="514350" cy="541020"/>
          </a:xfrm>
          <a:prstGeom prst="rect">
            <a:avLst/>
          </a:prstGeom>
          <a:noFill/>
          <a:ln/>
        </p:spPr>
        <p:txBody>
          <a:bodyPr wrap="square" lIns="25400" tIns="25400" rIns="25400" bIns="25400" rtlCol="0" anchor="t">
            <a:normAutofit/>
          </a:bodyPr>
          <a:lstStyle/>
          <a:p>
            <a:pPr algn="l" indent="0" marL="0">
              <a:buNone/>
            </a:pPr>
            <a:r>
              <a:rPr lang="en-US" sz="3450" dirty="0">
                <a:solidFill>
                  <a:srgbClr val="B19C7D"/>
                </a:solidFill>
                <a:latin typeface="Arial" pitchFamily="34" charset="0"/>
                <a:ea typeface="Arial" pitchFamily="34" charset="-122"/>
                <a:cs typeface="Arial" pitchFamily="34" charset="-120"/>
              </a:rPr>
              <a:t>→</a:t>
            </a:r>
            <a:endParaRPr lang="en-US" sz="3450" dirty="0"/>
          </a:p>
        </p:txBody>
      </p:sp>
      <p:sp>
        <p:nvSpPr>
          <p:cNvPr id="22" name="Shape 19"/>
          <p:cNvSpPr/>
          <p:nvPr/>
        </p:nvSpPr>
        <p:spPr>
          <a:xfrm>
            <a:off x="11843385" y="3059430"/>
            <a:ext cx="1329690" cy="1329690"/>
          </a:xfrm>
          <a:prstGeom prst="ellipse">
            <a:avLst/>
          </a:prstGeom>
          <a:solidFill>
            <a:srgbClr val="FBF6EE"/>
          </a:solidFill>
          <a:ln w="45720">
            <a:solidFill>
              <a:srgbClr val="B19C7D"/>
            </a:solidFill>
            <a:prstDash val="dash"/>
          </a:ln>
        </p:spPr>
      </p:sp>
      <p:sp>
        <p:nvSpPr>
          <p:cNvPr id="23" name="Text 20"/>
          <p:cNvSpPr/>
          <p:nvPr/>
        </p:nvSpPr>
        <p:spPr>
          <a:xfrm>
            <a:off x="11851005" y="3105150"/>
            <a:ext cx="1314450" cy="1276350"/>
          </a:xfrm>
          <a:prstGeom prst="rect">
            <a:avLst/>
          </a:prstGeom>
          <a:noFill/>
          <a:ln/>
        </p:spPr>
        <p:txBody>
          <a:bodyPr wrap="square" lIns="25400" tIns="25400" rIns="25400" bIns="25400" rtlCol="0" anchor="ctr">
            <a:normAutofit/>
          </a:bodyPr>
          <a:lstStyle/>
          <a:p>
            <a:pPr algn="ctr" indent="0" marL="0">
              <a:buNone/>
            </a:pPr>
            <a:r>
              <a:rPr lang="en-US" sz="3150" b="1" dirty="0">
                <a:solidFill>
                  <a:srgbClr val="B19C7D"/>
                </a:solidFill>
                <a:latin typeface="Arial" pitchFamily="34" charset="0"/>
                <a:ea typeface="Arial" pitchFamily="34" charset="-122"/>
                <a:cs typeface="Arial" pitchFamily="34" charset="-120"/>
              </a:rPr>
              <a:t>4</a:t>
            </a:r>
            <a:endParaRPr lang="en-US" sz="3150" dirty="0"/>
          </a:p>
        </p:txBody>
      </p:sp>
      <p:sp>
        <p:nvSpPr>
          <p:cNvPr id="24" name="Text 21"/>
          <p:cNvSpPr/>
          <p:nvPr/>
        </p:nvSpPr>
        <p:spPr>
          <a:xfrm>
            <a:off x="10982706" y="4560570"/>
            <a:ext cx="3051048" cy="312420"/>
          </a:xfrm>
          <a:prstGeom prst="rect">
            <a:avLst/>
          </a:prstGeom>
          <a:noFill/>
          <a:ln/>
        </p:spPr>
        <p:txBody>
          <a:bodyPr wrap="square" lIns="25400" tIns="25400" rIns="25400" bIns="25400" rtlCol="0" anchor="t">
            <a:normAutofit/>
          </a:bodyPr>
          <a:lstStyle/>
          <a:p>
            <a:pPr algn="ctr" indent="0" marL="0">
              <a:buNone/>
            </a:pPr>
            <a:r>
              <a:rPr lang="en-US" sz="1875" b="1" spc="75" kern="0" dirty="0">
                <a:solidFill>
                  <a:srgbClr val="B19C7D"/>
                </a:solidFill>
                <a:latin typeface="Arial" pitchFamily="34" charset="0"/>
                <a:ea typeface="Arial" pitchFamily="34" charset="-122"/>
                <a:cs typeface="Arial" pitchFamily="34" charset="-120"/>
              </a:rPr>
              <a:t>Testing</a:t>
            </a:r>
            <a:endParaRPr lang="en-US" sz="1875" dirty="0"/>
          </a:p>
        </p:txBody>
      </p:sp>
      <p:sp>
        <p:nvSpPr>
          <p:cNvPr id="25" name="Text 22"/>
          <p:cNvSpPr/>
          <p:nvPr/>
        </p:nvSpPr>
        <p:spPr>
          <a:xfrm>
            <a:off x="11079785" y="4911090"/>
            <a:ext cx="2856891" cy="963930"/>
          </a:xfrm>
          <a:prstGeom prst="rect">
            <a:avLst/>
          </a:prstGeom>
          <a:noFill/>
          <a:ln/>
        </p:spPr>
        <p:txBody>
          <a:bodyPr wrap="square" lIns="25400" tIns="25400" rIns="25400" bIns="25400" rtlCol="0" anchor="t">
            <a:normAutofit/>
          </a:bodyPr>
          <a:lstStyle/>
          <a:p>
            <a:pPr algn="ctr" indent="0" marL="0">
              <a:lnSpc>
                <a:spcPct val="135000"/>
              </a:lnSpc>
              <a:buNone/>
            </a:pPr>
            <a:r>
              <a:rPr lang="en-US" sz="1800" dirty="0">
                <a:solidFill>
                  <a:srgbClr val="5A5A5A"/>
                </a:solidFill>
                <a:latin typeface="Arial" pitchFamily="34" charset="0"/>
                <a:ea typeface="Arial" pitchFamily="34" charset="-122"/>
                <a:cs typeface="Arial" pitchFamily="34" charset="-120"/>
              </a:rPr>
              <a:t>Functional tests, UAT with 5 clients + admin, performance</a:t>
            </a:r>
            <a:endParaRPr lang="en-US" sz="1800" dirty="0"/>
          </a:p>
        </p:txBody>
      </p:sp>
      <p:sp>
        <p:nvSpPr>
          <p:cNvPr id="26" name="Text 23"/>
          <p:cNvSpPr/>
          <p:nvPr/>
        </p:nvSpPr>
        <p:spPr>
          <a:xfrm>
            <a:off x="13971270" y="4482465"/>
            <a:ext cx="514350" cy="541020"/>
          </a:xfrm>
          <a:prstGeom prst="rect">
            <a:avLst/>
          </a:prstGeom>
          <a:noFill/>
          <a:ln/>
        </p:spPr>
        <p:txBody>
          <a:bodyPr wrap="square" lIns="25400" tIns="25400" rIns="25400" bIns="25400" rtlCol="0" anchor="t">
            <a:normAutofit/>
          </a:bodyPr>
          <a:lstStyle/>
          <a:p>
            <a:pPr algn="l" indent="0" marL="0">
              <a:buNone/>
            </a:pPr>
            <a:r>
              <a:rPr lang="en-US" sz="3450" dirty="0">
                <a:solidFill>
                  <a:srgbClr val="B19C7D"/>
                </a:solidFill>
                <a:latin typeface="Arial" pitchFamily="34" charset="0"/>
                <a:ea typeface="Arial" pitchFamily="34" charset="-122"/>
                <a:cs typeface="Arial" pitchFamily="34" charset="-120"/>
              </a:rPr>
              <a:t>→</a:t>
            </a:r>
            <a:endParaRPr lang="en-US" sz="3450" dirty="0"/>
          </a:p>
        </p:txBody>
      </p:sp>
      <p:sp>
        <p:nvSpPr>
          <p:cNvPr id="27" name="Shape 24"/>
          <p:cNvSpPr/>
          <p:nvPr/>
        </p:nvSpPr>
        <p:spPr>
          <a:xfrm>
            <a:off x="15207615" y="3059430"/>
            <a:ext cx="1329690" cy="1329690"/>
          </a:xfrm>
          <a:prstGeom prst="ellipse">
            <a:avLst/>
          </a:prstGeom>
          <a:solidFill>
            <a:srgbClr val="FBF6EE"/>
          </a:solidFill>
          <a:ln w="45720">
            <a:solidFill>
              <a:srgbClr val="B19C7D"/>
            </a:solidFill>
            <a:prstDash val="dash"/>
          </a:ln>
        </p:spPr>
      </p:sp>
      <p:sp>
        <p:nvSpPr>
          <p:cNvPr id="28" name="Text 25"/>
          <p:cNvSpPr/>
          <p:nvPr/>
        </p:nvSpPr>
        <p:spPr>
          <a:xfrm>
            <a:off x="15215235" y="3105150"/>
            <a:ext cx="1314450" cy="1276350"/>
          </a:xfrm>
          <a:prstGeom prst="rect">
            <a:avLst/>
          </a:prstGeom>
          <a:noFill/>
          <a:ln/>
        </p:spPr>
        <p:txBody>
          <a:bodyPr wrap="square" lIns="25400" tIns="25400" rIns="25400" bIns="25400" rtlCol="0" anchor="ctr">
            <a:normAutofit/>
          </a:bodyPr>
          <a:lstStyle/>
          <a:p>
            <a:pPr algn="ctr" indent="0" marL="0">
              <a:buNone/>
            </a:pPr>
            <a:r>
              <a:rPr lang="en-US" sz="3150" b="1" dirty="0">
                <a:solidFill>
                  <a:srgbClr val="B19C7D"/>
                </a:solidFill>
                <a:latin typeface="Arial" pitchFamily="34" charset="0"/>
                <a:ea typeface="Arial" pitchFamily="34" charset="-122"/>
                <a:cs typeface="Arial" pitchFamily="34" charset="-120"/>
              </a:rPr>
              <a:t>5</a:t>
            </a:r>
            <a:endParaRPr lang="en-US" sz="3150" dirty="0"/>
          </a:p>
        </p:txBody>
      </p:sp>
      <p:sp>
        <p:nvSpPr>
          <p:cNvPr id="29" name="Text 26"/>
          <p:cNvSpPr/>
          <p:nvPr/>
        </p:nvSpPr>
        <p:spPr>
          <a:xfrm>
            <a:off x="14346936" y="4560570"/>
            <a:ext cx="3051048" cy="312420"/>
          </a:xfrm>
          <a:prstGeom prst="rect">
            <a:avLst/>
          </a:prstGeom>
          <a:noFill/>
          <a:ln/>
        </p:spPr>
        <p:txBody>
          <a:bodyPr wrap="square" lIns="25400" tIns="25400" rIns="25400" bIns="25400" rtlCol="0" anchor="t">
            <a:normAutofit/>
          </a:bodyPr>
          <a:lstStyle/>
          <a:p>
            <a:pPr algn="ctr" indent="0" marL="0">
              <a:buNone/>
            </a:pPr>
            <a:r>
              <a:rPr lang="en-US" sz="1875" b="1" spc="75" kern="0" dirty="0">
                <a:solidFill>
                  <a:srgbClr val="B19C7D"/>
                </a:solidFill>
                <a:latin typeface="Arial" pitchFamily="34" charset="0"/>
                <a:ea typeface="Arial" pitchFamily="34" charset="-122"/>
                <a:cs typeface="Arial" pitchFamily="34" charset="-120"/>
              </a:rPr>
              <a:t>Deployment</a:t>
            </a:r>
            <a:endParaRPr lang="en-US" sz="1875" dirty="0"/>
          </a:p>
        </p:txBody>
      </p:sp>
      <p:sp>
        <p:nvSpPr>
          <p:cNvPr id="30" name="Text 27"/>
          <p:cNvSpPr/>
          <p:nvPr/>
        </p:nvSpPr>
        <p:spPr>
          <a:xfrm>
            <a:off x="14444015" y="4911090"/>
            <a:ext cx="2856891" cy="655320"/>
          </a:xfrm>
          <a:prstGeom prst="rect">
            <a:avLst/>
          </a:prstGeom>
          <a:noFill/>
          <a:ln/>
        </p:spPr>
        <p:txBody>
          <a:bodyPr wrap="square" lIns="25400" tIns="25400" rIns="25400" bIns="25400" rtlCol="0" anchor="t">
            <a:normAutofit/>
          </a:bodyPr>
          <a:lstStyle/>
          <a:p>
            <a:pPr algn="ctr" indent="0" marL="0">
              <a:lnSpc>
                <a:spcPct val="135000"/>
              </a:lnSpc>
              <a:buNone/>
            </a:pPr>
            <a:r>
              <a:rPr lang="en-US" sz="1800" dirty="0">
                <a:solidFill>
                  <a:srgbClr val="5A5A5A"/>
                </a:solidFill>
                <a:latin typeface="Arial" pitchFamily="34" charset="0"/>
                <a:ea typeface="Arial" pitchFamily="34" charset="-122"/>
                <a:cs typeface="Arial" pitchFamily="34" charset="-120"/>
              </a:rPr>
              <a:t>Firebase Hosting, public release for company use</a:t>
            </a:r>
            <a:endParaRPr lang="en-US" sz="1800" dirty="0"/>
          </a:p>
        </p:txBody>
      </p:sp>
      <p:sp>
        <p:nvSpPr>
          <p:cNvPr id="31" name="Shape 28"/>
          <p:cNvSpPr/>
          <p:nvPr/>
        </p:nvSpPr>
        <p:spPr>
          <a:xfrm>
            <a:off x="952500" y="6446520"/>
            <a:ext cx="16383000" cy="1413510"/>
          </a:xfrm>
          <a:prstGeom prst="rect">
            <a:avLst/>
          </a:prstGeom>
          <a:solidFill>
            <a:srgbClr val="FBF6EE"/>
          </a:solidFill>
          <a:ln/>
        </p:spPr>
      </p:sp>
      <p:sp>
        <p:nvSpPr>
          <p:cNvPr id="32" name="Shape 29"/>
          <p:cNvSpPr/>
          <p:nvPr/>
        </p:nvSpPr>
        <p:spPr>
          <a:xfrm>
            <a:off x="952500" y="6446520"/>
            <a:ext cx="76200" cy="1413510"/>
          </a:xfrm>
          <a:prstGeom prst="rect">
            <a:avLst/>
          </a:prstGeom>
          <a:solidFill>
            <a:srgbClr val="74121D"/>
          </a:solidFill>
          <a:ln/>
        </p:spPr>
      </p:sp>
      <p:sp>
        <p:nvSpPr>
          <p:cNvPr id="33" name="Text 30"/>
          <p:cNvSpPr/>
          <p:nvPr/>
        </p:nvSpPr>
        <p:spPr>
          <a:xfrm>
            <a:off x="1371600" y="6675120"/>
            <a:ext cx="8205978" cy="297180"/>
          </a:xfrm>
          <a:prstGeom prst="rect">
            <a:avLst/>
          </a:prstGeom>
          <a:noFill/>
          <a:ln/>
        </p:spPr>
        <p:txBody>
          <a:bodyPr wrap="square" lIns="25400" tIns="25400" rIns="25400" bIns="25400" rtlCol="0" anchor="t">
            <a:normAutofit/>
          </a:bodyPr>
          <a:lstStyle/>
          <a:p>
            <a:pPr algn="l" indent="0" marL="0">
              <a:buNone/>
            </a:pPr>
            <a:r>
              <a:rPr lang="en-US" sz="1800" b="1" spc="113" kern="0" dirty="0">
                <a:solidFill>
                  <a:srgbClr val="74121D"/>
                </a:solidFill>
                <a:latin typeface="Arial" pitchFamily="34" charset="0"/>
                <a:ea typeface="Arial" pitchFamily="34" charset="-122"/>
                <a:cs typeface="Arial" pitchFamily="34" charset="-120"/>
              </a:rPr>
              <a:t>WHY AGILE</a:t>
            </a:r>
            <a:endParaRPr lang="en-US" sz="1800" dirty="0"/>
          </a:p>
        </p:txBody>
      </p:sp>
      <p:sp>
        <p:nvSpPr>
          <p:cNvPr id="34" name="Text 31"/>
          <p:cNvSpPr/>
          <p:nvPr/>
        </p:nvSpPr>
        <p:spPr>
          <a:xfrm>
            <a:off x="1371600" y="6991350"/>
            <a:ext cx="7683780" cy="67818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3A3A3A"/>
                </a:solidFill>
                <a:latin typeface="Arial" pitchFamily="34" charset="0"/>
                <a:ea typeface="Arial" pitchFamily="34" charset="-122"/>
                <a:cs typeface="Arial" pitchFamily="34" charset="-120"/>
              </a:rPr>
              <a:t>Five loosely-coupled modules · iterative feedback · changes are cheap during a 6-month FYP timeline.</a:t>
            </a:r>
            <a:endParaRPr lang="en-US" sz="1800" dirty="0"/>
          </a:p>
        </p:txBody>
      </p:sp>
      <p:sp>
        <p:nvSpPr>
          <p:cNvPr id="35" name="Shape 32"/>
          <p:cNvSpPr/>
          <p:nvPr/>
        </p:nvSpPr>
        <p:spPr>
          <a:xfrm>
            <a:off x="9174480" y="6675120"/>
            <a:ext cx="15240" cy="956310"/>
          </a:xfrm>
          <a:prstGeom prst="rect">
            <a:avLst/>
          </a:prstGeom>
          <a:solidFill>
            <a:srgbClr val="E0D6C7"/>
          </a:solidFill>
          <a:ln/>
        </p:spPr>
      </p:sp>
      <p:sp>
        <p:nvSpPr>
          <p:cNvPr id="36" name="Text 33"/>
          <p:cNvSpPr/>
          <p:nvPr/>
        </p:nvSpPr>
        <p:spPr>
          <a:xfrm>
            <a:off x="9532620" y="6675120"/>
            <a:ext cx="8205978" cy="297180"/>
          </a:xfrm>
          <a:prstGeom prst="rect">
            <a:avLst/>
          </a:prstGeom>
          <a:noFill/>
          <a:ln/>
        </p:spPr>
        <p:txBody>
          <a:bodyPr wrap="square" lIns="25400" tIns="25400" rIns="25400" bIns="25400" rtlCol="0" anchor="t">
            <a:normAutofit/>
          </a:bodyPr>
          <a:lstStyle/>
          <a:p>
            <a:pPr algn="l" indent="0" marL="0">
              <a:buNone/>
            </a:pPr>
            <a:r>
              <a:rPr lang="en-US" sz="1800" b="1" spc="113" kern="0" dirty="0">
                <a:solidFill>
                  <a:srgbClr val="74121D"/>
                </a:solidFill>
                <a:latin typeface="Arial" pitchFamily="34" charset="0"/>
                <a:ea typeface="Arial" pitchFamily="34" charset="-122"/>
                <a:cs typeface="Arial" pitchFamily="34" charset="-120"/>
              </a:rPr>
              <a:t>PSM 1 STATUS</a:t>
            </a:r>
            <a:endParaRPr lang="en-US" sz="1800" dirty="0"/>
          </a:p>
        </p:txBody>
      </p:sp>
      <p:sp>
        <p:nvSpPr>
          <p:cNvPr id="37" name="Text 34"/>
          <p:cNvSpPr/>
          <p:nvPr/>
        </p:nvSpPr>
        <p:spPr>
          <a:xfrm>
            <a:off x="9532620" y="6991350"/>
            <a:ext cx="8205978" cy="358140"/>
          </a:xfrm>
          <a:prstGeom prst="rect">
            <a:avLst/>
          </a:prstGeom>
          <a:noFill/>
          <a:ln/>
        </p:spPr>
        <p:txBody>
          <a:bodyPr wrap="square" lIns="25400" tIns="25400" rIns="25400" bIns="25400" rtlCol="0" anchor="t">
            <a:normAutofit/>
          </a:bodyPr>
          <a:lstStyle/>
          <a:p>
            <a:pPr algn="l" indent="0" marL="0">
              <a:lnSpc>
                <a:spcPct val="140000"/>
              </a:lnSpc>
              <a:buNone/>
            </a:pPr>
            <a:r>
              <a:rPr lang="en-US" sz="1800" b="1" dirty="0">
                <a:solidFill>
                  <a:srgbClr val="74121D"/>
                </a:solidFill>
                <a:latin typeface="Arial" pitchFamily="34" charset="0"/>
                <a:ea typeface="Arial" pitchFamily="34" charset="-122"/>
                <a:cs typeface="Arial" pitchFamily="34" charset="-120"/>
              </a:rPr>
              <a:t>Phases 1 &amp; 2 complete </a:t>
            </a:r>
            <a:pPr algn="l" indent="0" marL="0">
              <a:lnSpc>
                <a:spcPct val="140000"/>
              </a:lnSpc>
              <a:buNone/>
            </a:pPr>
            <a:r>
              <a:rPr lang="en-US" sz="1800" dirty="0">
                <a:solidFill>
                  <a:srgbClr val="3A3A3A"/>
                </a:solidFill>
                <a:latin typeface="Arial" pitchFamily="34" charset="0"/>
                <a:ea typeface="Arial" pitchFamily="34" charset="-122"/>
                <a:cs typeface="Arial" pitchFamily="34" charset="-120"/>
              </a:rPr>
              <a:t>— design artefacts ready for PSM 2 build.</a:t>
            </a:r>
            <a:endParaRPr lang="en-US" sz="1800" dirty="0"/>
          </a:p>
        </p:txBody>
      </p:sp>
      <p:sp>
        <p:nvSpPr>
          <p:cNvPr id="38" name="Text 35"/>
          <p:cNvSpPr/>
          <p:nvPr/>
        </p:nvSpPr>
        <p:spPr>
          <a:xfrm>
            <a:off x="952500" y="9761220"/>
            <a:ext cx="4426744" cy="297180"/>
          </a:xfrm>
          <a:prstGeom prst="rect">
            <a:avLst/>
          </a:prstGeom>
          <a:noFill/>
          <a:ln/>
        </p:spPr>
        <p:txBody>
          <a:bodyPr wrap="square" lIns="25400" tIns="25400" rIns="25400" bIns="25400" rtlCol="0" anchor="t">
            <a:normAutofit/>
          </a:bodyPr>
          <a:lstStyle/>
          <a:p>
            <a:pPr algn="l" indent="0" marL="0">
              <a:buNone/>
            </a:pPr>
            <a:r>
              <a:rPr lang="en-US" sz="1800" spc="38" kern="0" dirty="0">
                <a:solidFill>
                  <a:srgbClr val="9A8C7E"/>
                </a:solidFill>
                <a:latin typeface="Arial" pitchFamily="34" charset="0"/>
                <a:ea typeface="Arial" pitchFamily="34" charset="-122"/>
                <a:cs typeface="Arial" pitchFamily="34" charset="-120"/>
              </a:rPr>
              <a:t>UATCC Web Application · PSM 1 Viva</a:t>
            </a:r>
            <a:endParaRPr lang="en-US" sz="1800" dirty="0"/>
          </a:p>
        </p:txBody>
      </p:sp>
      <p:sp>
        <p:nvSpPr>
          <p:cNvPr id="39" name="Text 36"/>
          <p:cNvSpPr/>
          <p:nvPr/>
        </p:nvSpPr>
        <p:spPr>
          <a:xfrm>
            <a:off x="16603027" y="9761220"/>
            <a:ext cx="808673" cy="297180"/>
          </a:xfrm>
          <a:prstGeom prst="rect">
            <a:avLst/>
          </a:prstGeom>
          <a:noFill/>
          <a:ln/>
        </p:spPr>
        <p:txBody>
          <a:bodyPr wrap="square" lIns="25400" tIns="25400" rIns="25400" bIns="25400" rtlCol="0" anchor="t">
            <a:normAutofit/>
          </a:bodyPr>
          <a:lstStyle/>
          <a:p>
            <a:pPr algn="l" indent="0" marL="0">
              <a:buNone/>
            </a:pPr>
            <a:r>
              <a:rPr lang="en-US" sz="1800" spc="38" kern="0" dirty="0">
                <a:solidFill>
                  <a:srgbClr val="9A8C7E"/>
                </a:solidFill>
                <a:latin typeface="Arial" pitchFamily="34" charset="0"/>
                <a:ea typeface="Arial" pitchFamily="34" charset="-122"/>
                <a:cs typeface="Arial" pitchFamily="34" charset="-120"/>
              </a:rPr>
              <a:t>07 / 14</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0" cy="133350"/>
          </a:xfrm>
          <a:prstGeom prst="rect">
            <a:avLst/>
          </a:prstGeom>
          <a:solidFill>
            <a:srgbClr val="74121D"/>
          </a:solidFill>
          <a:ln/>
        </p:spPr>
      </p:sp>
      <p:pic>
        <p:nvPicPr>
          <p:cNvPr id="3" name="Image 0" descr="preencoded.png">    </p:cNvPr>
          <p:cNvPicPr>
            <a:picLocks noChangeAspect="1"/>
          </p:cNvPicPr>
          <p:nvPr/>
        </p:nvPicPr>
        <p:blipFill>
          <a:blip r:embed="rId1"/>
          <a:stretch>
            <a:fillRect/>
          </a:stretch>
        </p:blipFill>
        <p:spPr>
          <a:xfrm>
            <a:off x="16004143" y="361950"/>
            <a:ext cx="1521857" cy="514350"/>
          </a:xfrm>
          <a:prstGeom prst="rect">
            <a:avLst/>
          </a:prstGeom>
        </p:spPr>
      </p:pic>
      <p:sp>
        <p:nvSpPr>
          <p:cNvPr id="4" name="Text 1"/>
          <p:cNvSpPr/>
          <p:nvPr/>
        </p:nvSpPr>
        <p:spPr>
          <a:xfrm>
            <a:off x="952500" y="1238250"/>
            <a:ext cx="18021300" cy="297180"/>
          </a:xfrm>
          <a:prstGeom prst="rect">
            <a:avLst/>
          </a:prstGeom>
          <a:noFill/>
          <a:ln/>
        </p:spPr>
        <p:txBody>
          <a:bodyPr wrap="square" lIns="25400" tIns="25400" rIns="25400" bIns="25400" rtlCol="0" anchor="t">
            <a:normAutofit/>
          </a:bodyPr>
          <a:lstStyle/>
          <a:p>
            <a:pPr algn="l" indent="0" marL="0">
              <a:buNone/>
            </a:pPr>
            <a:r>
              <a:rPr lang="en-US" sz="1800" b="1" spc="225" kern="0" dirty="0">
                <a:solidFill>
                  <a:srgbClr val="B19C7D"/>
                </a:solidFill>
                <a:latin typeface="Arial" pitchFamily="34" charset="0"/>
                <a:ea typeface="Arial" pitchFamily="34" charset="-122"/>
                <a:cs typeface="Arial" pitchFamily="34" charset="-120"/>
              </a:rPr>
              <a:t>CHAPTER 4.3.1</a:t>
            </a:r>
            <a:endParaRPr lang="en-US" sz="1800" dirty="0"/>
          </a:p>
        </p:txBody>
      </p:sp>
      <p:sp>
        <p:nvSpPr>
          <p:cNvPr id="5" name="Text 2"/>
          <p:cNvSpPr/>
          <p:nvPr/>
        </p:nvSpPr>
        <p:spPr>
          <a:xfrm>
            <a:off x="952500" y="1611630"/>
            <a:ext cx="18021300" cy="638175"/>
          </a:xfrm>
          <a:prstGeom prst="rect">
            <a:avLst/>
          </a:prstGeom>
          <a:noFill/>
          <a:ln/>
        </p:spPr>
        <p:txBody>
          <a:bodyPr wrap="square" lIns="25400" tIns="25400" rIns="25400" bIns="25400" rtlCol="0" anchor="t">
            <a:normAutofit/>
          </a:bodyPr>
          <a:lstStyle/>
          <a:p>
            <a:pPr algn="l" indent="0" marL="0">
              <a:lnSpc>
                <a:spcPct val="105000"/>
              </a:lnSpc>
              <a:buNone/>
            </a:pPr>
            <a:r>
              <a:rPr lang="en-US" sz="4500" b="1" spc="-37" kern="0" dirty="0">
                <a:solidFill>
                  <a:srgbClr val="74121D"/>
                </a:solidFill>
                <a:latin typeface="Arial" pitchFamily="34" charset="0"/>
                <a:ea typeface="Arial" pitchFamily="34" charset="-122"/>
                <a:cs typeface="Arial" pitchFamily="34" charset="-120"/>
              </a:rPr>
              <a:t>System Architecture</a:t>
            </a:r>
            <a:endParaRPr lang="en-US" sz="4500" dirty="0"/>
          </a:p>
        </p:txBody>
      </p:sp>
      <p:sp>
        <p:nvSpPr>
          <p:cNvPr id="6" name="Shape 3"/>
          <p:cNvSpPr/>
          <p:nvPr/>
        </p:nvSpPr>
        <p:spPr>
          <a:xfrm>
            <a:off x="952500" y="2402205"/>
            <a:ext cx="857250" cy="47625"/>
          </a:xfrm>
          <a:prstGeom prst="roundRect">
            <a:avLst>
              <a:gd name="adj" fmla="val 50000"/>
            </a:avLst>
          </a:prstGeom>
          <a:solidFill>
            <a:srgbClr val="B19C7D"/>
          </a:solidFill>
          <a:ln/>
        </p:spPr>
      </p:sp>
      <p:sp>
        <p:nvSpPr>
          <p:cNvPr id="7" name="Shape 4"/>
          <p:cNvSpPr/>
          <p:nvPr/>
        </p:nvSpPr>
        <p:spPr>
          <a:xfrm>
            <a:off x="5398175" y="3314700"/>
            <a:ext cx="3170872" cy="906780"/>
          </a:xfrm>
          <a:prstGeom prst="roundRect">
            <a:avLst>
              <a:gd name="adj" fmla="val 8403"/>
            </a:avLst>
          </a:prstGeom>
          <a:solidFill>
            <a:srgbClr val="FFFFFF"/>
          </a:solidFill>
          <a:ln w="22860">
            <a:solidFill>
              <a:srgbClr val="74121D"/>
            </a:solidFill>
            <a:prstDash val="solid"/>
          </a:ln>
        </p:spPr>
      </p:sp>
      <p:sp>
        <p:nvSpPr>
          <p:cNvPr id="8" name="Shape 5"/>
          <p:cNvSpPr/>
          <p:nvPr/>
        </p:nvSpPr>
        <p:spPr>
          <a:xfrm>
            <a:off x="5687735" y="3549015"/>
            <a:ext cx="438150" cy="438150"/>
          </a:xfrm>
          <a:prstGeom prst="ellipse">
            <a:avLst/>
          </a:prstGeom>
          <a:solidFill>
            <a:srgbClr val="74121D"/>
          </a:solidFill>
          <a:ln/>
        </p:spPr>
      </p:sp>
      <p:sp>
        <p:nvSpPr>
          <p:cNvPr id="9" name="Text 6"/>
          <p:cNvSpPr/>
          <p:nvPr/>
        </p:nvSpPr>
        <p:spPr>
          <a:xfrm>
            <a:off x="5649635" y="3549015"/>
            <a:ext cx="514350" cy="476250"/>
          </a:xfrm>
          <a:prstGeom prst="rect">
            <a:avLst/>
          </a:prstGeom>
          <a:noFill/>
          <a:ln/>
        </p:spPr>
        <p:txBody>
          <a:bodyPr wrap="square" lIns="25400" tIns="25400" rIns="25400" bIns="25400" rtlCol="0" anchor="ctr">
            <a:normAutofit/>
          </a:bodyPr>
          <a:lstStyle/>
          <a:p>
            <a:pPr algn="ct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0" name="Text 7"/>
          <p:cNvSpPr/>
          <p:nvPr/>
        </p:nvSpPr>
        <p:spPr>
          <a:xfrm>
            <a:off x="6297335" y="3509010"/>
            <a:ext cx="2180368" cy="297180"/>
          </a:xfrm>
          <a:prstGeom prst="rect">
            <a:avLst/>
          </a:prstGeom>
          <a:noFill/>
          <a:ln/>
        </p:spPr>
        <p:txBody>
          <a:bodyPr wrap="square" lIns="25400" tIns="25400" rIns="25400" bIns="25400" rtlCol="0" anchor="t">
            <a:normAutofit/>
          </a:bodyPr>
          <a:lstStyle/>
          <a:p>
            <a:pPr algn="l" indent="0" marL="0">
              <a:buNone/>
            </a:pPr>
            <a:r>
              <a:rPr lang="en-US" sz="1800" b="1" dirty="0">
                <a:solidFill>
                  <a:srgbClr val="74121D"/>
                </a:solidFill>
                <a:latin typeface="Arial" pitchFamily="34" charset="0"/>
                <a:ea typeface="Arial" pitchFamily="34" charset="-122"/>
                <a:cs typeface="Arial" pitchFamily="34" charset="-120"/>
              </a:rPr>
              <a:t>Client</a:t>
            </a:r>
            <a:endParaRPr lang="en-US" sz="1800" dirty="0"/>
          </a:p>
        </p:txBody>
      </p:sp>
      <p:sp>
        <p:nvSpPr>
          <p:cNvPr id="11" name="Text 8"/>
          <p:cNvSpPr/>
          <p:nvPr/>
        </p:nvSpPr>
        <p:spPr>
          <a:xfrm>
            <a:off x="6297335" y="3768090"/>
            <a:ext cx="2180368" cy="297180"/>
          </a:xfrm>
          <a:prstGeom prst="rect">
            <a:avLst/>
          </a:prstGeom>
          <a:noFill/>
          <a:ln/>
        </p:spPr>
        <p:txBody>
          <a:bodyPr wrap="square" lIns="25400" tIns="25400" rIns="25400" bIns="25400" rtlCol="0" anchor="t">
            <a:normAutofit/>
          </a:bodyPr>
          <a:lstStyle/>
          <a:p>
            <a:pPr algn="l" indent="0" marL="0">
              <a:buNone/>
            </a:pPr>
            <a:r>
              <a:rPr lang="en-US" sz="1800" dirty="0">
                <a:solidFill>
                  <a:srgbClr val="5A5A5A"/>
                </a:solidFill>
                <a:latin typeface="Arial" pitchFamily="34" charset="0"/>
                <a:ea typeface="Arial" pitchFamily="34" charset="-122"/>
                <a:cs typeface="Arial" pitchFamily="34" charset="-120"/>
              </a:rPr>
              <a:t>Public web browser</a:t>
            </a:r>
            <a:endParaRPr lang="en-US" sz="1800" dirty="0"/>
          </a:p>
        </p:txBody>
      </p:sp>
      <p:sp>
        <p:nvSpPr>
          <p:cNvPr id="12" name="Shape 9"/>
          <p:cNvSpPr/>
          <p:nvPr/>
        </p:nvSpPr>
        <p:spPr>
          <a:xfrm>
            <a:off x="9426297" y="3314700"/>
            <a:ext cx="3463409" cy="906780"/>
          </a:xfrm>
          <a:prstGeom prst="roundRect">
            <a:avLst>
              <a:gd name="adj" fmla="val 8403"/>
            </a:avLst>
          </a:prstGeom>
          <a:solidFill>
            <a:srgbClr val="FFFFFF"/>
          </a:solidFill>
          <a:ln w="22860">
            <a:solidFill>
              <a:srgbClr val="74121D"/>
            </a:solidFill>
            <a:prstDash val="solid"/>
          </a:ln>
        </p:spPr>
      </p:sp>
      <p:sp>
        <p:nvSpPr>
          <p:cNvPr id="13" name="Shape 10"/>
          <p:cNvSpPr/>
          <p:nvPr/>
        </p:nvSpPr>
        <p:spPr>
          <a:xfrm>
            <a:off x="9715858" y="3549015"/>
            <a:ext cx="438150" cy="438150"/>
          </a:xfrm>
          <a:prstGeom prst="ellipse">
            <a:avLst/>
          </a:prstGeom>
          <a:solidFill>
            <a:srgbClr val="74121D"/>
          </a:solidFill>
          <a:ln/>
        </p:spPr>
      </p:sp>
      <p:sp>
        <p:nvSpPr>
          <p:cNvPr id="14" name="Text 11"/>
          <p:cNvSpPr/>
          <p:nvPr/>
        </p:nvSpPr>
        <p:spPr>
          <a:xfrm>
            <a:off x="9677758" y="3549015"/>
            <a:ext cx="514350" cy="476250"/>
          </a:xfrm>
          <a:prstGeom prst="rect">
            <a:avLst/>
          </a:prstGeom>
          <a:noFill/>
          <a:ln/>
        </p:spPr>
        <p:txBody>
          <a:bodyPr wrap="square" lIns="25400" tIns="25400" rIns="25400" bIns="25400" rtlCol="0" anchor="ctr">
            <a:normAutofit/>
          </a:bodyPr>
          <a:lstStyle/>
          <a:p>
            <a:pPr algn="ct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15" name="Text 12"/>
          <p:cNvSpPr/>
          <p:nvPr/>
        </p:nvSpPr>
        <p:spPr>
          <a:xfrm>
            <a:off x="10325457" y="3509010"/>
            <a:ext cx="2502158" cy="297180"/>
          </a:xfrm>
          <a:prstGeom prst="rect">
            <a:avLst/>
          </a:prstGeom>
          <a:noFill/>
          <a:ln/>
        </p:spPr>
        <p:txBody>
          <a:bodyPr wrap="square" lIns="25400" tIns="25400" rIns="25400" bIns="25400" rtlCol="0" anchor="t">
            <a:normAutofit/>
          </a:bodyPr>
          <a:lstStyle/>
          <a:p>
            <a:pPr algn="l" indent="0" marL="0">
              <a:buNone/>
            </a:pPr>
            <a:r>
              <a:rPr lang="en-US" sz="1800" b="1" dirty="0">
                <a:solidFill>
                  <a:srgbClr val="74121D"/>
                </a:solidFill>
                <a:latin typeface="Arial" pitchFamily="34" charset="0"/>
                <a:ea typeface="Arial" pitchFamily="34" charset="-122"/>
                <a:cs typeface="Arial" pitchFamily="34" charset="-120"/>
              </a:rPr>
              <a:t>Administrator</a:t>
            </a:r>
            <a:endParaRPr lang="en-US" sz="1800" dirty="0"/>
          </a:p>
        </p:txBody>
      </p:sp>
      <p:sp>
        <p:nvSpPr>
          <p:cNvPr id="16" name="Text 13"/>
          <p:cNvSpPr/>
          <p:nvPr/>
        </p:nvSpPr>
        <p:spPr>
          <a:xfrm>
            <a:off x="10325457" y="3768090"/>
            <a:ext cx="2502158" cy="297180"/>
          </a:xfrm>
          <a:prstGeom prst="rect">
            <a:avLst/>
          </a:prstGeom>
          <a:noFill/>
          <a:ln/>
        </p:spPr>
        <p:txBody>
          <a:bodyPr wrap="square" lIns="25400" tIns="25400" rIns="25400" bIns="25400" rtlCol="0" anchor="t">
            <a:normAutofit/>
          </a:bodyPr>
          <a:lstStyle/>
          <a:p>
            <a:pPr algn="l" indent="0" marL="0">
              <a:buNone/>
            </a:pPr>
            <a:r>
              <a:rPr lang="en-US" sz="1800" dirty="0">
                <a:solidFill>
                  <a:srgbClr val="5A5A5A"/>
                </a:solidFill>
                <a:latin typeface="Arial" pitchFamily="34" charset="0"/>
                <a:ea typeface="Arial" pitchFamily="34" charset="-122"/>
                <a:cs typeface="Arial" pitchFamily="34" charset="-120"/>
              </a:rPr>
              <a:t>Authenticated browser</a:t>
            </a:r>
            <a:endParaRPr lang="en-US" sz="1800" dirty="0"/>
          </a:p>
        </p:txBody>
      </p:sp>
      <p:sp>
        <p:nvSpPr>
          <p:cNvPr id="17" name="Text 14"/>
          <p:cNvSpPr/>
          <p:nvPr/>
        </p:nvSpPr>
        <p:spPr>
          <a:xfrm>
            <a:off x="133350" y="4583430"/>
            <a:ext cx="18021300" cy="361950"/>
          </a:xfrm>
          <a:prstGeom prst="rect">
            <a:avLst/>
          </a:prstGeom>
          <a:noFill/>
          <a:ln/>
        </p:spPr>
        <p:txBody>
          <a:bodyPr wrap="square" lIns="25400" tIns="25400" rIns="25400" bIns="25400" rtlCol="0" anchor="t">
            <a:normAutofit/>
          </a:bodyPr>
          <a:lstStyle/>
          <a:p>
            <a:pPr algn="ctr" indent="0" marL="0">
              <a:lnSpc>
                <a:spcPct val="100000"/>
              </a:lnSpc>
              <a:buNone/>
            </a:pPr>
            <a:r>
              <a:rPr lang="en-US" sz="2550" dirty="0">
                <a:solidFill>
                  <a:srgbClr val="B19C7D"/>
                </a:solidFill>
                <a:latin typeface="Arial" pitchFamily="34" charset="0"/>
                <a:ea typeface="Arial" pitchFamily="34" charset="-122"/>
                <a:cs typeface="Arial" pitchFamily="34" charset="-120"/>
              </a:rPr>
              <a:t>↓</a:t>
            </a:r>
            <a:endParaRPr lang="en-US" sz="2550" dirty="0"/>
          </a:p>
        </p:txBody>
      </p:sp>
      <p:sp>
        <p:nvSpPr>
          <p:cNvPr id="18" name="Shape 15"/>
          <p:cNvSpPr/>
          <p:nvPr/>
        </p:nvSpPr>
        <p:spPr>
          <a:xfrm>
            <a:off x="5592961" y="5269230"/>
            <a:ext cx="7102078" cy="1398270"/>
          </a:xfrm>
          <a:prstGeom prst="roundRect">
            <a:avLst>
              <a:gd name="adj" fmla="val 5450"/>
            </a:avLst>
          </a:prstGeom>
          <a:solidFill>
            <a:srgbClr val="74121D"/>
          </a:solidFill>
          <a:ln/>
        </p:spPr>
      </p:sp>
      <p:sp>
        <p:nvSpPr>
          <p:cNvPr id="19" name="Text 16"/>
          <p:cNvSpPr/>
          <p:nvPr/>
        </p:nvSpPr>
        <p:spPr>
          <a:xfrm>
            <a:off x="5761732" y="5497830"/>
            <a:ext cx="6764536" cy="297180"/>
          </a:xfrm>
          <a:prstGeom prst="rect">
            <a:avLst/>
          </a:prstGeom>
          <a:noFill/>
          <a:ln/>
        </p:spPr>
        <p:txBody>
          <a:bodyPr wrap="square" lIns="25400" tIns="25400" rIns="25400" bIns="25400" rtlCol="0" anchor="t">
            <a:normAutofit/>
          </a:bodyPr>
          <a:lstStyle/>
          <a:p>
            <a:pPr algn="ctr" indent="0" marL="0">
              <a:buNone/>
            </a:pPr>
            <a:r>
              <a:rPr lang="en-US" sz="1800" b="1" spc="150" kern="0" dirty="0">
                <a:solidFill>
                  <a:srgbClr val="E7D7C1"/>
                </a:solidFill>
                <a:latin typeface="Arial" pitchFamily="34" charset="0"/>
                <a:ea typeface="Arial" pitchFamily="34" charset="-122"/>
                <a:cs typeface="Arial" pitchFamily="34" charset="-120"/>
              </a:rPr>
              <a:t>FRONTEND</a:t>
            </a:r>
            <a:endParaRPr lang="en-US" sz="1800" dirty="0"/>
          </a:p>
        </p:txBody>
      </p:sp>
      <p:sp>
        <p:nvSpPr>
          <p:cNvPr id="20" name="Text 17"/>
          <p:cNvSpPr/>
          <p:nvPr/>
        </p:nvSpPr>
        <p:spPr>
          <a:xfrm>
            <a:off x="5761732" y="5814060"/>
            <a:ext cx="6764536" cy="365760"/>
          </a:xfrm>
          <a:prstGeom prst="rect">
            <a:avLst/>
          </a:prstGeom>
          <a:noFill/>
          <a:ln/>
        </p:spPr>
        <p:txBody>
          <a:bodyPr wrap="square" lIns="25400" tIns="25400" rIns="25400" bIns="25400" rtlCol="0" anchor="t">
            <a:normAutofit/>
          </a:bodyPr>
          <a:lstStyle/>
          <a:p>
            <a:pPr algn="ctr" indent="0" marL="0">
              <a:buNone/>
            </a:pPr>
            <a:r>
              <a:rPr lang="en-US" sz="2250" b="1" dirty="0">
                <a:solidFill>
                  <a:srgbClr val="FFFFFF"/>
                </a:solidFill>
                <a:latin typeface="Arial" pitchFamily="34" charset="0"/>
                <a:ea typeface="Arial" pitchFamily="34" charset="-122"/>
                <a:cs typeface="Arial" pitchFamily="34" charset="-120"/>
              </a:rPr>
              <a:t>React SPA · HTTPS</a:t>
            </a:r>
            <a:endParaRPr lang="en-US" sz="2250" dirty="0"/>
          </a:p>
        </p:txBody>
      </p:sp>
      <p:sp>
        <p:nvSpPr>
          <p:cNvPr id="21" name="Text 18"/>
          <p:cNvSpPr/>
          <p:nvPr/>
        </p:nvSpPr>
        <p:spPr>
          <a:xfrm>
            <a:off x="5761732" y="6179820"/>
            <a:ext cx="6764536" cy="297180"/>
          </a:xfrm>
          <a:prstGeom prst="rect">
            <a:avLst/>
          </a:prstGeom>
          <a:noFill/>
          <a:ln/>
        </p:spPr>
        <p:txBody>
          <a:bodyPr wrap="square" lIns="25400" tIns="25400" rIns="25400" bIns="25400" rtlCol="0" anchor="t">
            <a:normAutofit/>
          </a:bodyPr>
          <a:lstStyle/>
          <a:p>
            <a:pPr algn="ctr" indent="0" marL="0">
              <a:buNone/>
            </a:pPr>
            <a:r>
              <a:rPr lang="en-US" sz="1800" dirty="0">
                <a:solidFill>
                  <a:srgbClr val="E7D7C1"/>
                </a:solidFill>
                <a:latin typeface="Arial" pitchFamily="34" charset="0"/>
                <a:ea typeface="Arial" pitchFamily="34" charset="-122"/>
                <a:cs typeface="Arial" pitchFamily="34" charset="-120"/>
              </a:rPr>
              <a:t>Project browser · Request form · Chatbot · Admin dashboard</a:t>
            </a:r>
            <a:endParaRPr lang="en-US" sz="1800" dirty="0"/>
          </a:p>
        </p:txBody>
      </p:sp>
      <p:sp>
        <p:nvSpPr>
          <p:cNvPr id="22" name="Shape 19"/>
          <p:cNvSpPr/>
          <p:nvPr/>
        </p:nvSpPr>
        <p:spPr>
          <a:xfrm>
            <a:off x="2567940" y="7029450"/>
            <a:ext cx="3116580" cy="1764030"/>
          </a:xfrm>
          <a:prstGeom prst="roundRect">
            <a:avLst>
              <a:gd name="adj" fmla="val 4320"/>
            </a:avLst>
          </a:prstGeom>
          <a:solidFill>
            <a:srgbClr val="FBF6EE"/>
          </a:solidFill>
          <a:ln w="15240">
            <a:solidFill>
              <a:srgbClr val="E0D6C7"/>
            </a:solidFill>
            <a:prstDash val="solid"/>
          </a:ln>
        </p:spPr>
      </p:sp>
      <p:sp>
        <p:nvSpPr>
          <p:cNvPr id="23" name="Text 20"/>
          <p:cNvSpPr/>
          <p:nvPr/>
        </p:nvSpPr>
        <p:spPr>
          <a:xfrm>
            <a:off x="2659380" y="7273290"/>
            <a:ext cx="2933700" cy="297180"/>
          </a:xfrm>
          <a:prstGeom prst="rect">
            <a:avLst/>
          </a:prstGeom>
          <a:noFill/>
          <a:ln/>
        </p:spPr>
        <p:txBody>
          <a:bodyPr wrap="square" lIns="25400" tIns="25400" rIns="25400" bIns="25400" rtlCol="0" anchor="t">
            <a:normAutofit/>
          </a:bodyPr>
          <a:lstStyle/>
          <a:p>
            <a:pPr algn="ctr" indent="0" marL="0">
              <a:buNone/>
            </a:pPr>
            <a:r>
              <a:rPr lang="en-US" sz="1800" b="1" spc="75" kern="0" dirty="0">
                <a:solidFill>
                  <a:srgbClr val="74121D"/>
                </a:solidFill>
                <a:latin typeface="Arial" pitchFamily="34" charset="0"/>
                <a:ea typeface="Arial" pitchFamily="34" charset="-122"/>
                <a:cs typeface="Arial" pitchFamily="34" charset="-120"/>
              </a:rPr>
              <a:t>Firebase Auth</a:t>
            </a:r>
            <a:endParaRPr lang="en-US" sz="1800" dirty="0"/>
          </a:p>
        </p:txBody>
      </p:sp>
      <p:sp>
        <p:nvSpPr>
          <p:cNvPr id="24" name="Text 21"/>
          <p:cNvSpPr/>
          <p:nvPr/>
        </p:nvSpPr>
        <p:spPr>
          <a:xfrm>
            <a:off x="2752725" y="7589520"/>
            <a:ext cx="2747010" cy="998220"/>
          </a:xfrm>
          <a:prstGeom prst="rect">
            <a:avLst/>
          </a:prstGeom>
          <a:noFill/>
          <a:ln/>
        </p:spPr>
        <p:txBody>
          <a:bodyPr wrap="square" lIns="25400" tIns="25400" rIns="25400" bIns="25400" rtlCol="0" anchor="t">
            <a:normAutofit/>
          </a:bodyPr>
          <a:lstStyle/>
          <a:p>
            <a:pPr algn="ctr" indent="0" marL="0">
              <a:lnSpc>
                <a:spcPct val="140000"/>
              </a:lnSpc>
              <a:buNone/>
            </a:pPr>
            <a:r>
              <a:rPr lang="en-US" sz="1800" dirty="0">
                <a:solidFill>
                  <a:srgbClr val="5A5A5A"/>
                </a:solidFill>
                <a:latin typeface="Arial" pitchFamily="34" charset="0"/>
                <a:ea typeface="Arial" pitchFamily="34" charset="-122"/>
                <a:cs typeface="Arial" pitchFamily="34" charset="-120"/>
              </a:rPr>
              <a:t>Admin login · JWT issuance · brute-force lockout</a:t>
            </a:r>
            <a:endParaRPr lang="en-US" sz="1800" dirty="0"/>
          </a:p>
        </p:txBody>
      </p:sp>
      <p:sp>
        <p:nvSpPr>
          <p:cNvPr id="25" name="Shape 22"/>
          <p:cNvSpPr/>
          <p:nvPr/>
        </p:nvSpPr>
        <p:spPr>
          <a:xfrm>
            <a:off x="5913120" y="7029450"/>
            <a:ext cx="3116580" cy="1764030"/>
          </a:xfrm>
          <a:prstGeom prst="roundRect">
            <a:avLst>
              <a:gd name="adj" fmla="val 4320"/>
            </a:avLst>
          </a:prstGeom>
          <a:solidFill>
            <a:srgbClr val="FBF6EE"/>
          </a:solidFill>
          <a:ln w="15240">
            <a:solidFill>
              <a:srgbClr val="E0D6C7"/>
            </a:solidFill>
            <a:prstDash val="solid"/>
          </a:ln>
        </p:spPr>
      </p:sp>
      <p:sp>
        <p:nvSpPr>
          <p:cNvPr id="26" name="Text 23"/>
          <p:cNvSpPr/>
          <p:nvPr/>
        </p:nvSpPr>
        <p:spPr>
          <a:xfrm>
            <a:off x="6004560" y="7273290"/>
            <a:ext cx="2933700" cy="297180"/>
          </a:xfrm>
          <a:prstGeom prst="rect">
            <a:avLst/>
          </a:prstGeom>
          <a:noFill/>
          <a:ln/>
        </p:spPr>
        <p:txBody>
          <a:bodyPr wrap="square" lIns="25400" tIns="25400" rIns="25400" bIns="25400" rtlCol="0" anchor="t">
            <a:normAutofit/>
          </a:bodyPr>
          <a:lstStyle/>
          <a:p>
            <a:pPr algn="ctr" indent="0" marL="0">
              <a:buNone/>
            </a:pPr>
            <a:r>
              <a:rPr lang="en-US" sz="1800" b="1" spc="75" kern="0" dirty="0">
                <a:solidFill>
                  <a:srgbClr val="74121D"/>
                </a:solidFill>
                <a:latin typeface="Arial" pitchFamily="34" charset="0"/>
                <a:ea typeface="Arial" pitchFamily="34" charset="-122"/>
                <a:cs typeface="Arial" pitchFamily="34" charset="-120"/>
              </a:rPr>
              <a:t>Firestore</a:t>
            </a:r>
            <a:endParaRPr lang="en-US" sz="1800" dirty="0"/>
          </a:p>
        </p:txBody>
      </p:sp>
      <p:sp>
        <p:nvSpPr>
          <p:cNvPr id="27" name="Text 24"/>
          <p:cNvSpPr/>
          <p:nvPr/>
        </p:nvSpPr>
        <p:spPr>
          <a:xfrm>
            <a:off x="6097905" y="7589520"/>
            <a:ext cx="2747010" cy="678180"/>
          </a:xfrm>
          <a:prstGeom prst="rect">
            <a:avLst/>
          </a:prstGeom>
          <a:noFill/>
          <a:ln/>
        </p:spPr>
        <p:txBody>
          <a:bodyPr wrap="square" lIns="25400" tIns="25400" rIns="25400" bIns="25400" rtlCol="0" anchor="t">
            <a:normAutofit/>
          </a:bodyPr>
          <a:lstStyle/>
          <a:p>
            <a:pPr algn="ctr" indent="0" marL="0">
              <a:lnSpc>
                <a:spcPct val="140000"/>
              </a:lnSpc>
              <a:buNone/>
            </a:pPr>
            <a:r>
              <a:rPr lang="en-US" sz="1800" dirty="0">
                <a:solidFill>
                  <a:srgbClr val="5A5A5A"/>
                </a:solidFill>
                <a:latin typeface="Arial" pitchFamily="34" charset="0"/>
                <a:ea typeface="Arial" pitchFamily="34" charset="-122"/>
                <a:cs typeface="Arial" pitchFamily="34" charset="-120"/>
              </a:rPr>
              <a:t>Projects · Requests · Admins · Security Rules</a:t>
            </a:r>
            <a:endParaRPr lang="en-US" sz="1800" dirty="0"/>
          </a:p>
        </p:txBody>
      </p:sp>
      <p:sp>
        <p:nvSpPr>
          <p:cNvPr id="28" name="Shape 25"/>
          <p:cNvSpPr/>
          <p:nvPr/>
        </p:nvSpPr>
        <p:spPr>
          <a:xfrm>
            <a:off x="9258300" y="7029450"/>
            <a:ext cx="3116580" cy="1764030"/>
          </a:xfrm>
          <a:prstGeom prst="roundRect">
            <a:avLst>
              <a:gd name="adj" fmla="val 4320"/>
            </a:avLst>
          </a:prstGeom>
          <a:solidFill>
            <a:srgbClr val="FBF6EE"/>
          </a:solidFill>
          <a:ln w="15240">
            <a:solidFill>
              <a:srgbClr val="E0D6C7"/>
            </a:solidFill>
            <a:prstDash val="solid"/>
          </a:ln>
        </p:spPr>
      </p:sp>
      <p:sp>
        <p:nvSpPr>
          <p:cNvPr id="29" name="Text 26"/>
          <p:cNvSpPr/>
          <p:nvPr/>
        </p:nvSpPr>
        <p:spPr>
          <a:xfrm>
            <a:off x="9349740" y="7273290"/>
            <a:ext cx="2933700" cy="297180"/>
          </a:xfrm>
          <a:prstGeom prst="rect">
            <a:avLst/>
          </a:prstGeom>
          <a:noFill/>
          <a:ln/>
        </p:spPr>
        <p:txBody>
          <a:bodyPr wrap="square" lIns="25400" tIns="25400" rIns="25400" bIns="25400" rtlCol="0" anchor="t">
            <a:normAutofit/>
          </a:bodyPr>
          <a:lstStyle/>
          <a:p>
            <a:pPr algn="ctr" indent="0" marL="0">
              <a:buNone/>
            </a:pPr>
            <a:r>
              <a:rPr lang="en-US" sz="1800" b="1" spc="75" kern="0" dirty="0">
                <a:solidFill>
                  <a:srgbClr val="74121D"/>
                </a:solidFill>
                <a:latin typeface="Arial" pitchFamily="34" charset="0"/>
                <a:ea typeface="Arial" pitchFamily="34" charset="-122"/>
                <a:cs typeface="Arial" pitchFamily="34" charset="-120"/>
              </a:rPr>
              <a:t>Firebase Hosting</a:t>
            </a:r>
            <a:endParaRPr lang="en-US" sz="1800" dirty="0"/>
          </a:p>
        </p:txBody>
      </p:sp>
      <p:sp>
        <p:nvSpPr>
          <p:cNvPr id="30" name="Text 27"/>
          <p:cNvSpPr/>
          <p:nvPr/>
        </p:nvSpPr>
        <p:spPr>
          <a:xfrm>
            <a:off x="9443085" y="7589520"/>
            <a:ext cx="2747010" cy="678180"/>
          </a:xfrm>
          <a:prstGeom prst="rect">
            <a:avLst/>
          </a:prstGeom>
          <a:noFill/>
          <a:ln/>
        </p:spPr>
        <p:txBody>
          <a:bodyPr wrap="square" lIns="25400" tIns="25400" rIns="25400" bIns="25400" rtlCol="0" anchor="t">
            <a:normAutofit/>
          </a:bodyPr>
          <a:lstStyle/>
          <a:p>
            <a:pPr algn="ctr" indent="0" marL="0">
              <a:lnSpc>
                <a:spcPct val="140000"/>
              </a:lnSpc>
              <a:buNone/>
            </a:pPr>
            <a:r>
              <a:rPr lang="en-US" sz="1800" dirty="0">
                <a:solidFill>
                  <a:srgbClr val="5A5A5A"/>
                </a:solidFill>
                <a:latin typeface="Arial" pitchFamily="34" charset="0"/>
                <a:ea typeface="Arial" pitchFamily="34" charset="-122"/>
                <a:cs typeface="Arial" pitchFamily="34" charset="-120"/>
              </a:rPr>
              <a:t>SPA delivery · TLS · global CDN</a:t>
            </a:r>
            <a:endParaRPr lang="en-US" sz="1800" dirty="0"/>
          </a:p>
        </p:txBody>
      </p:sp>
      <p:sp>
        <p:nvSpPr>
          <p:cNvPr id="31" name="Shape 28"/>
          <p:cNvSpPr/>
          <p:nvPr/>
        </p:nvSpPr>
        <p:spPr>
          <a:xfrm>
            <a:off x="12603481" y="7029450"/>
            <a:ext cx="3116580" cy="1764030"/>
          </a:xfrm>
          <a:prstGeom prst="roundRect">
            <a:avLst>
              <a:gd name="adj" fmla="val 4320"/>
            </a:avLst>
          </a:prstGeom>
          <a:solidFill>
            <a:srgbClr val="E8F4EC"/>
          </a:solidFill>
          <a:ln w="15240">
            <a:solidFill>
              <a:srgbClr val="B7D9C2"/>
            </a:solidFill>
            <a:prstDash val="solid"/>
          </a:ln>
        </p:spPr>
      </p:sp>
      <p:sp>
        <p:nvSpPr>
          <p:cNvPr id="32" name="Text 29"/>
          <p:cNvSpPr/>
          <p:nvPr/>
        </p:nvSpPr>
        <p:spPr>
          <a:xfrm>
            <a:off x="12694920" y="7273290"/>
            <a:ext cx="2933700" cy="297180"/>
          </a:xfrm>
          <a:prstGeom prst="rect">
            <a:avLst/>
          </a:prstGeom>
          <a:noFill/>
          <a:ln/>
        </p:spPr>
        <p:txBody>
          <a:bodyPr wrap="square" lIns="25400" tIns="25400" rIns="25400" bIns="25400" rtlCol="0" anchor="t">
            <a:normAutofit/>
          </a:bodyPr>
          <a:lstStyle/>
          <a:p>
            <a:pPr algn="ctr" indent="0" marL="0">
              <a:buNone/>
            </a:pPr>
            <a:r>
              <a:rPr lang="en-US" sz="1800" b="1" spc="75" kern="0" dirty="0">
                <a:solidFill>
                  <a:srgbClr val="1F7A3F"/>
                </a:solidFill>
                <a:latin typeface="Arial" pitchFamily="34" charset="0"/>
                <a:ea typeface="Arial" pitchFamily="34" charset="-122"/>
                <a:cs typeface="Arial" pitchFamily="34" charset="-120"/>
              </a:rPr>
              <a:t>WhatsApp</a:t>
            </a:r>
            <a:endParaRPr lang="en-US" sz="1800" dirty="0"/>
          </a:p>
        </p:txBody>
      </p:sp>
      <p:sp>
        <p:nvSpPr>
          <p:cNvPr id="33" name="Text 30"/>
          <p:cNvSpPr/>
          <p:nvPr/>
        </p:nvSpPr>
        <p:spPr>
          <a:xfrm>
            <a:off x="12788265" y="7589520"/>
            <a:ext cx="2747010" cy="678180"/>
          </a:xfrm>
          <a:prstGeom prst="rect">
            <a:avLst/>
          </a:prstGeom>
          <a:noFill/>
          <a:ln/>
        </p:spPr>
        <p:txBody>
          <a:bodyPr wrap="square" lIns="25400" tIns="25400" rIns="25400" bIns="25400" rtlCol="0" anchor="t">
            <a:normAutofit/>
          </a:bodyPr>
          <a:lstStyle/>
          <a:p>
            <a:pPr algn="ctr" indent="0" marL="0">
              <a:lnSpc>
                <a:spcPct val="140000"/>
              </a:lnSpc>
              <a:buNone/>
            </a:pPr>
            <a:r>
              <a:rPr lang="en-US" sz="1800" dirty="0">
                <a:solidFill>
                  <a:srgbClr val="5A5A5A"/>
                </a:solidFill>
                <a:latin typeface="Arial" pitchFamily="34" charset="0"/>
                <a:ea typeface="Arial" pitchFamily="34" charset="-122"/>
                <a:cs typeface="Arial" pitchFamily="34" charset="-120"/>
              </a:rPr>
              <a:t>wa.me deep link with pre-filled message</a:t>
            </a:r>
            <a:endParaRPr lang="en-US" sz="1800" dirty="0"/>
          </a:p>
        </p:txBody>
      </p:sp>
      <p:sp>
        <p:nvSpPr>
          <p:cNvPr id="34" name="Text 31"/>
          <p:cNvSpPr/>
          <p:nvPr/>
        </p:nvSpPr>
        <p:spPr>
          <a:xfrm>
            <a:off x="952500" y="9761220"/>
            <a:ext cx="4426744" cy="297180"/>
          </a:xfrm>
          <a:prstGeom prst="rect">
            <a:avLst/>
          </a:prstGeom>
          <a:noFill/>
          <a:ln/>
        </p:spPr>
        <p:txBody>
          <a:bodyPr wrap="square" lIns="25400" tIns="25400" rIns="25400" bIns="25400" rtlCol="0" anchor="t">
            <a:normAutofit/>
          </a:bodyPr>
          <a:lstStyle/>
          <a:p>
            <a:pPr algn="l" indent="0" marL="0">
              <a:buNone/>
            </a:pPr>
            <a:r>
              <a:rPr lang="en-US" sz="1800" spc="38" kern="0" dirty="0">
                <a:solidFill>
                  <a:srgbClr val="9A8C7E"/>
                </a:solidFill>
                <a:latin typeface="Arial" pitchFamily="34" charset="0"/>
                <a:ea typeface="Arial" pitchFamily="34" charset="-122"/>
                <a:cs typeface="Arial" pitchFamily="34" charset="-120"/>
              </a:rPr>
              <a:t>UATCC Web Application · PSM 1 Viva</a:t>
            </a:r>
            <a:endParaRPr lang="en-US" sz="1800" dirty="0"/>
          </a:p>
        </p:txBody>
      </p:sp>
      <p:sp>
        <p:nvSpPr>
          <p:cNvPr id="35" name="Text 32"/>
          <p:cNvSpPr/>
          <p:nvPr/>
        </p:nvSpPr>
        <p:spPr>
          <a:xfrm>
            <a:off x="16603027" y="9761220"/>
            <a:ext cx="808673" cy="297180"/>
          </a:xfrm>
          <a:prstGeom prst="rect">
            <a:avLst/>
          </a:prstGeom>
          <a:noFill/>
          <a:ln/>
        </p:spPr>
        <p:txBody>
          <a:bodyPr wrap="square" lIns="25400" tIns="25400" rIns="25400" bIns="25400" rtlCol="0" anchor="t">
            <a:normAutofit/>
          </a:bodyPr>
          <a:lstStyle/>
          <a:p>
            <a:pPr algn="l" indent="0" marL="0">
              <a:buNone/>
            </a:pPr>
            <a:r>
              <a:rPr lang="en-US" sz="1800" spc="38" kern="0" dirty="0">
                <a:solidFill>
                  <a:srgbClr val="9A8C7E"/>
                </a:solidFill>
                <a:latin typeface="Arial" pitchFamily="34" charset="0"/>
                <a:ea typeface="Arial" pitchFamily="34" charset="-122"/>
                <a:cs typeface="Arial" pitchFamily="34" charset="-120"/>
              </a:rPr>
              <a:t>08 / 14</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0" cy="133350"/>
          </a:xfrm>
          <a:prstGeom prst="rect">
            <a:avLst/>
          </a:prstGeom>
          <a:solidFill>
            <a:srgbClr val="74121D"/>
          </a:solidFill>
          <a:ln/>
        </p:spPr>
      </p:sp>
      <p:pic>
        <p:nvPicPr>
          <p:cNvPr id="3" name="Image 0" descr="preencoded.png">    </p:cNvPr>
          <p:cNvPicPr>
            <a:picLocks noChangeAspect="1"/>
          </p:cNvPicPr>
          <p:nvPr/>
        </p:nvPicPr>
        <p:blipFill>
          <a:blip r:embed="rId1"/>
          <a:stretch>
            <a:fillRect/>
          </a:stretch>
        </p:blipFill>
        <p:spPr>
          <a:xfrm>
            <a:off x="16004143" y="361950"/>
            <a:ext cx="1521857" cy="514350"/>
          </a:xfrm>
          <a:prstGeom prst="rect">
            <a:avLst/>
          </a:prstGeom>
        </p:spPr>
      </p:pic>
      <p:sp>
        <p:nvSpPr>
          <p:cNvPr id="4" name="Text 1"/>
          <p:cNvSpPr/>
          <p:nvPr/>
        </p:nvSpPr>
        <p:spPr>
          <a:xfrm>
            <a:off x="952500" y="1238250"/>
            <a:ext cx="18021300" cy="297180"/>
          </a:xfrm>
          <a:prstGeom prst="rect">
            <a:avLst/>
          </a:prstGeom>
          <a:noFill/>
          <a:ln/>
        </p:spPr>
        <p:txBody>
          <a:bodyPr wrap="square" lIns="25400" tIns="25400" rIns="25400" bIns="25400" rtlCol="0" anchor="t">
            <a:normAutofit/>
          </a:bodyPr>
          <a:lstStyle/>
          <a:p>
            <a:pPr algn="l" indent="0" marL="0">
              <a:buNone/>
            </a:pPr>
            <a:r>
              <a:rPr lang="en-US" sz="1800" b="1" spc="225" kern="0" dirty="0">
                <a:solidFill>
                  <a:srgbClr val="B19C7D"/>
                </a:solidFill>
                <a:latin typeface="Arial" pitchFamily="34" charset="0"/>
                <a:ea typeface="Arial" pitchFamily="34" charset="-122"/>
                <a:cs typeface="Arial" pitchFamily="34" charset="-120"/>
              </a:rPr>
              <a:t>CHAPTER 4.3 – 4.4</a:t>
            </a:r>
            <a:endParaRPr lang="en-US" sz="1800" dirty="0"/>
          </a:p>
        </p:txBody>
      </p:sp>
      <p:sp>
        <p:nvSpPr>
          <p:cNvPr id="5" name="Text 2"/>
          <p:cNvSpPr/>
          <p:nvPr/>
        </p:nvSpPr>
        <p:spPr>
          <a:xfrm>
            <a:off x="952500" y="1611630"/>
            <a:ext cx="18021300" cy="638175"/>
          </a:xfrm>
          <a:prstGeom prst="rect">
            <a:avLst/>
          </a:prstGeom>
          <a:noFill/>
          <a:ln/>
        </p:spPr>
        <p:txBody>
          <a:bodyPr wrap="square" lIns="25400" tIns="25400" rIns="25400" bIns="25400" rtlCol="0" anchor="t">
            <a:normAutofit/>
          </a:bodyPr>
          <a:lstStyle/>
          <a:p>
            <a:pPr algn="l" indent="0" marL="0">
              <a:lnSpc>
                <a:spcPct val="105000"/>
              </a:lnSpc>
              <a:buNone/>
            </a:pPr>
            <a:r>
              <a:rPr lang="en-US" sz="4500" b="1" spc="-37" kern="0" dirty="0">
                <a:solidFill>
                  <a:srgbClr val="74121D"/>
                </a:solidFill>
                <a:latin typeface="Arial" pitchFamily="34" charset="0"/>
                <a:ea typeface="Arial" pitchFamily="34" charset="-122"/>
                <a:cs typeface="Arial" pitchFamily="34" charset="-120"/>
              </a:rPr>
              <a:t>System and Database Design</a:t>
            </a:r>
            <a:endParaRPr lang="en-US" sz="4500" dirty="0"/>
          </a:p>
        </p:txBody>
      </p:sp>
      <p:sp>
        <p:nvSpPr>
          <p:cNvPr id="6" name="Shape 3"/>
          <p:cNvSpPr/>
          <p:nvPr/>
        </p:nvSpPr>
        <p:spPr>
          <a:xfrm>
            <a:off x="952500" y="2402205"/>
            <a:ext cx="857250" cy="47625"/>
          </a:xfrm>
          <a:prstGeom prst="roundRect">
            <a:avLst>
              <a:gd name="adj" fmla="val 50000"/>
            </a:avLst>
          </a:prstGeom>
          <a:solidFill>
            <a:srgbClr val="B19C7D"/>
          </a:solidFill>
          <a:ln/>
        </p:spPr>
      </p:sp>
      <p:sp>
        <p:nvSpPr>
          <p:cNvPr id="7" name="Text 4"/>
          <p:cNvSpPr/>
          <p:nvPr/>
        </p:nvSpPr>
        <p:spPr>
          <a:xfrm>
            <a:off x="952500" y="2868930"/>
            <a:ext cx="7953340" cy="297180"/>
          </a:xfrm>
          <a:prstGeom prst="rect">
            <a:avLst/>
          </a:prstGeom>
          <a:noFill/>
          <a:ln/>
        </p:spPr>
        <p:txBody>
          <a:bodyPr wrap="square" lIns="25400" tIns="25400" rIns="25400" bIns="25400" rtlCol="0" anchor="t">
            <a:normAutofit/>
          </a:bodyPr>
          <a:lstStyle/>
          <a:p>
            <a:pPr algn="l" indent="0" marL="0">
              <a:buNone/>
            </a:pPr>
            <a:r>
              <a:rPr lang="en-US" sz="1800" b="1" spc="150" kern="0" dirty="0">
                <a:solidFill>
                  <a:srgbClr val="74121D"/>
                </a:solidFill>
                <a:latin typeface="Arial" pitchFamily="34" charset="0"/>
                <a:ea typeface="Arial" pitchFamily="34" charset="-122"/>
                <a:cs typeface="Arial" pitchFamily="34" charset="-120"/>
              </a:rPr>
              <a:t>USE CASES</a:t>
            </a:r>
            <a:endParaRPr lang="en-US" sz="1800" dirty="0"/>
          </a:p>
        </p:txBody>
      </p:sp>
      <p:sp>
        <p:nvSpPr>
          <p:cNvPr id="8" name="Shape 5"/>
          <p:cNvSpPr/>
          <p:nvPr/>
        </p:nvSpPr>
        <p:spPr>
          <a:xfrm>
            <a:off x="952500" y="3299460"/>
            <a:ext cx="7230309" cy="3867150"/>
          </a:xfrm>
          <a:prstGeom prst="roundRect">
            <a:avLst>
              <a:gd name="adj" fmla="val 1478"/>
            </a:avLst>
          </a:prstGeom>
          <a:ln w="15240">
            <a:solidFill>
              <a:srgbClr val="EFE6DA"/>
            </a:solidFill>
            <a:prstDash val="solid"/>
          </a:ln>
        </p:spPr>
      </p:sp>
      <p:sp>
        <p:nvSpPr>
          <p:cNvPr id="9" name="Text 6"/>
          <p:cNvSpPr/>
          <p:nvPr/>
        </p:nvSpPr>
        <p:spPr>
          <a:xfrm>
            <a:off x="1215390" y="3524250"/>
            <a:ext cx="787360" cy="297180"/>
          </a:xfrm>
          <a:prstGeom prst="rect">
            <a:avLst/>
          </a:prstGeom>
          <a:noFill/>
          <a:ln/>
        </p:spPr>
        <p:txBody>
          <a:bodyPr wrap="square" lIns="25400" tIns="25400" rIns="25400" bIns="25400" rtlCol="0" anchor="t">
            <a:normAutofit/>
          </a:bodyPr>
          <a:lstStyle/>
          <a:p>
            <a:pPr algn="l" indent="0" marL="0">
              <a:buNone/>
            </a:pPr>
            <a:r>
              <a:rPr lang="en-US" sz="1800" b="1" dirty="0">
                <a:solidFill>
                  <a:srgbClr val="74121D"/>
                </a:solidFill>
                <a:latin typeface="Arial" pitchFamily="34" charset="0"/>
                <a:ea typeface="Arial" pitchFamily="34" charset="-122"/>
                <a:cs typeface="Arial" pitchFamily="34" charset="-120"/>
              </a:rPr>
              <a:t>Client</a:t>
            </a:r>
            <a:endParaRPr lang="en-US" sz="1800" dirty="0"/>
          </a:p>
        </p:txBody>
      </p:sp>
      <p:sp>
        <p:nvSpPr>
          <p:cNvPr id="10" name="Text 7"/>
          <p:cNvSpPr/>
          <p:nvPr/>
        </p:nvSpPr>
        <p:spPr>
          <a:xfrm>
            <a:off x="2155150" y="3524250"/>
            <a:ext cx="6341245" cy="297180"/>
          </a:xfrm>
          <a:prstGeom prst="rect">
            <a:avLst/>
          </a:prstGeom>
          <a:noFill/>
          <a:ln/>
        </p:spPr>
        <p:txBody>
          <a:bodyPr wrap="square" lIns="25400" tIns="25400" rIns="25400" bIns="25400" rtlCol="0" anchor="t">
            <a:normAutofit/>
          </a:bodyPr>
          <a:lstStyle/>
          <a:p>
            <a:pPr algn="l" indent="0" marL="0">
              <a:buNone/>
            </a:pPr>
            <a:r>
              <a:rPr lang="en-US" sz="1800" dirty="0">
                <a:solidFill>
                  <a:srgbClr val="3A3A3A"/>
                </a:solidFill>
                <a:latin typeface="Arial" pitchFamily="34" charset="0"/>
                <a:ea typeface="Arial" pitchFamily="34" charset="-122"/>
                <a:cs typeface="Arial" pitchFamily="34" charset="-120"/>
              </a:rPr>
              <a:t>View projects · View services · Submit request</a:t>
            </a:r>
            <a:endParaRPr lang="en-US" sz="1800" dirty="0"/>
          </a:p>
        </p:txBody>
      </p:sp>
      <p:sp>
        <p:nvSpPr>
          <p:cNvPr id="11" name="Text 8"/>
          <p:cNvSpPr/>
          <p:nvPr/>
        </p:nvSpPr>
        <p:spPr>
          <a:xfrm>
            <a:off x="2155150" y="3878580"/>
            <a:ext cx="6341245" cy="297180"/>
          </a:xfrm>
          <a:prstGeom prst="rect">
            <a:avLst/>
          </a:prstGeom>
          <a:noFill/>
          <a:ln/>
        </p:spPr>
        <p:txBody>
          <a:bodyPr wrap="square" lIns="25400" tIns="25400" rIns="25400" bIns="25400" rtlCol="0" anchor="t">
            <a:normAutofit/>
          </a:bodyPr>
          <a:lstStyle/>
          <a:p>
            <a:pPr algn="l" indent="0" marL="0">
              <a:buNone/>
            </a:pPr>
            <a:r>
              <a:rPr lang="en-US" sz="1800" dirty="0">
                <a:solidFill>
                  <a:srgbClr val="3A3A3A"/>
                </a:solidFill>
                <a:latin typeface="Arial" pitchFamily="34" charset="0"/>
                <a:ea typeface="Arial" pitchFamily="34" charset="-122"/>
                <a:cs typeface="Arial" pitchFamily="34" charset="-120"/>
              </a:rPr>
              <a:t>Chat with bot · Contact via WhatsApp</a:t>
            </a:r>
            <a:endParaRPr lang="en-US" sz="1800" dirty="0"/>
          </a:p>
        </p:txBody>
      </p:sp>
      <p:sp>
        <p:nvSpPr>
          <p:cNvPr id="12" name="Text 9"/>
          <p:cNvSpPr/>
          <p:nvPr/>
        </p:nvSpPr>
        <p:spPr>
          <a:xfrm>
            <a:off x="1215390" y="4232910"/>
            <a:ext cx="787360" cy="556260"/>
          </a:xfrm>
          <a:prstGeom prst="rect">
            <a:avLst/>
          </a:prstGeom>
          <a:noFill/>
          <a:ln/>
        </p:spPr>
        <p:txBody>
          <a:bodyPr wrap="square" lIns="25400" tIns="25400" rIns="25400" bIns="25400" rtlCol="0" anchor="t">
            <a:normAutofit/>
          </a:bodyPr>
          <a:lstStyle/>
          <a:p>
            <a:pPr algn="l" indent="0" marL="0">
              <a:buNone/>
            </a:pPr>
            <a:r>
              <a:rPr lang="en-US" sz="1800" b="1" dirty="0">
                <a:solidFill>
                  <a:srgbClr val="74121D"/>
                </a:solidFill>
                <a:latin typeface="Arial" pitchFamily="34" charset="0"/>
                <a:ea typeface="Arial" pitchFamily="34" charset="-122"/>
                <a:cs typeface="Arial" pitchFamily="34" charset="-120"/>
              </a:rPr>
              <a:t>Admin</a:t>
            </a:r>
            <a:endParaRPr lang="en-US" sz="1800" dirty="0"/>
          </a:p>
        </p:txBody>
      </p:sp>
      <p:sp>
        <p:nvSpPr>
          <p:cNvPr id="13" name="Text 10"/>
          <p:cNvSpPr/>
          <p:nvPr/>
        </p:nvSpPr>
        <p:spPr>
          <a:xfrm>
            <a:off x="2155150" y="4232910"/>
            <a:ext cx="5937712" cy="556260"/>
          </a:xfrm>
          <a:prstGeom prst="rect">
            <a:avLst/>
          </a:prstGeom>
          <a:noFill/>
          <a:ln/>
        </p:spPr>
        <p:txBody>
          <a:bodyPr wrap="square" lIns="25400" tIns="25400" rIns="25400" bIns="25400" rtlCol="0" anchor="t">
            <a:normAutofit/>
          </a:bodyPr>
          <a:lstStyle/>
          <a:p>
            <a:pPr algn="l" indent="0" marL="0">
              <a:buNone/>
            </a:pPr>
            <a:r>
              <a:rPr lang="en-US" sz="1800" dirty="0">
                <a:solidFill>
                  <a:srgbClr val="3A3A3A"/>
                </a:solidFill>
                <a:latin typeface="Arial" pitchFamily="34" charset="0"/>
                <a:ea typeface="Arial" pitchFamily="34" charset="-122"/>
                <a:cs typeface="Arial" pitchFamily="34" charset="-120"/>
              </a:rPr>
              <a:t>Login · Add / Edit / Delete project · View requests · Manage content</a:t>
            </a:r>
            <a:endParaRPr lang="en-US" sz="1800" dirty="0"/>
          </a:p>
        </p:txBody>
      </p:sp>
      <p:sp>
        <p:nvSpPr>
          <p:cNvPr id="14" name="Shape 11"/>
          <p:cNvSpPr/>
          <p:nvPr/>
        </p:nvSpPr>
        <p:spPr>
          <a:xfrm>
            <a:off x="1215390" y="4922520"/>
            <a:ext cx="6704529" cy="9525"/>
          </a:xfrm>
          <a:prstGeom prst="rect">
            <a:avLst/>
          </a:prstGeom>
          <a:solidFill>
            <a:srgbClr val="B19C7D"/>
          </a:solidFill>
          <a:ln/>
        </p:spPr>
      </p:sp>
      <p:sp>
        <p:nvSpPr>
          <p:cNvPr id="15" name="Text 12"/>
          <p:cNvSpPr/>
          <p:nvPr/>
        </p:nvSpPr>
        <p:spPr>
          <a:xfrm>
            <a:off x="1215390" y="5063490"/>
            <a:ext cx="7374981" cy="297180"/>
          </a:xfrm>
          <a:prstGeom prst="rect">
            <a:avLst/>
          </a:prstGeom>
          <a:noFill/>
          <a:ln/>
        </p:spPr>
        <p:txBody>
          <a:bodyPr wrap="square" lIns="25400" tIns="25400" rIns="25400" bIns="25400" rtlCol="0" anchor="t">
            <a:normAutofit/>
          </a:bodyPr>
          <a:lstStyle/>
          <a:p>
            <a:pPr algn="l" indent="0" marL="0">
              <a:buNone/>
            </a:pPr>
            <a:r>
              <a:rPr lang="en-US" sz="1800" b="1" spc="113" kern="0" dirty="0">
                <a:solidFill>
                  <a:srgbClr val="74121D"/>
                </a:solidFill>
                <a:latin typeface="Arial" pitchFamily="34" charset="0"/>
                <a:ea typeface="Arial" pitchFamily="34" charset="-122"/>
                <a:cs typeface="Arial" pitchFamily="34" charset="-120"/>
              </a:rPr>
              <a:t>UML RELATIONSHIPS</a:t>
            </a:r>
            <a:endParaRPr lang="en-US" sz="1800" dirty="0"/>
          </a:p>
        </p:txBody>
      </p:sp>
      <p:sp>
        <p:nvSpPr>
          <p:cNvPr id="16" name="Text 13"/>
          <p:cNvSpPr/>
          <p:nvPr/>
        </p:nvSpPr>
        <p:spPr>
          <a:xfrm>
            <a:off x="1215390" y="5398770"/>
            <a:ext cx="7374981"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3A3A3A"/>
                </a:solidFill>
                <a:latin typeface="Arial" pitchFamily="34" charset="0"/>
                <a:ea typeface="Arial" pitchFamily="34" charset="-122"/>
                <a:cs typeface="Arial" pitchFamily="34" charset="-120"/>
              </a:rPr>
              <a:t>Submit Request </a:t>
            </a:r>
            <a:pPr algn="l" indent="0" marL="0">
              <a:lnSpc>
                <a:spcPct val="150000"/>
              </a:lnSpc>
              <a:buNone/>
            </a:pPr>
            <a:r>
              <a:rPr lang="en-US" sz="1800" b="1" dirty="0">
                <a:solidFill>
                  <a:srgbClr val="A7333F"/>
                </a:solidFill>
                <a:latin typeface="Arial" pitchFamily="34" charset="0"/>
                <a:ea typeface="Arial" pitchFamily="34" charset="-122"/>
                <a:cs typeface="Arial" pitchFamily="34" charset="-120"/>
              </a:rPr>
              <a:t>«include» </a:t>
            </a:r>
            <a:pPr algn="l" indent="0" marL="0">
              <a:lnSpc>
                <a:spcPct val="150000"/>
              </a:lnSpc>
              <a:buNone/>
            </a:pPr>
            <a:r>
              <a:rPr lang="en-US" sz="1800" dirty="0">
                <a:solidFill>
                  <a:srgbClr val="3A3A3A"/>
                </a:solidFill>
                <a:latin typeface="Arial" pitchFamily="34" charset="0"/>
                <a:ea typeface="Arial" pitchFamily="34" charset="-122"/>
                <a:cs typeface="Arial" pitchFamily="34" charset="-120"/>
              </a:rPr>
              <a:t>Validate Input</a:t>
            </a:r>
            <a:endParaRPr lang="en-US" sz="1800" dirty="0"/>
          </a:p>
        </p:txBody>
      </p:sp>
      <p:sp>
        <p:nvSpPr>
          <p:cNvPr id="17" name="Text 14"/>
          <p:cNvSpPr/>
          <p:nvPr/>
        </p:nvSpPr>
        <p:spPr>
          <a:xfrm>
            <a:off x="1215390" y="5741670"/>
            <a:ext cx="7374981"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3A3A3A"/>
                </a:solidFill>
                <a:latin typeface="Arial" pitchFamily="34" charset="0"/>
                <a:ea typeface="Arial" pitchFamily="34" charset="-122"/>
                <a:cs typeface="Arial" pitchFamily="34" charset="-120"/>
              </a:rPr>
              <a:t>Submit Request </a:t>
            </a:r>
            <a:pPr algn="l" indent="0" marL="0">
              <a:lnSpc>
                <a:spcPct val="150000"/>
              </a:lnSpc>
              <a:buNone/>
            </a:pPr>
            <a:r>
              <a:rPr lang="en-US" sz="1800" b="1" dirty="0">
                <a:solidFill>
                  <a:srgbClr val="A7333F"/>
                </a:solidFill>
                <a:latin typeface="Arial" pitchFamily="34" charset="0"/>
                <a:ea typeface="Arial" pitchFamily="34" charset="-122"/>
                <a:cs typeface="Arial" pitchFamily="34" charset="-120"/>
              </a:rPr>
              <a:t>«include» </a:t>
            </a:r>
            <a:pPr algn="l" indent="0" marL="0">
              <a:lnSpc>
                <a:spcPct val="150000"/>
              </a:lnSpc>
              <a:buNone/>
            </a:pPr>
            <a:r>
              <a:rPr lang="en-US" sz="1800" dirty="0">
                <a:solidFill>
                  <a:srgbClr val="3A3A3A"/>
                </a:solidFill>
                <a:latin typeface="Arial" pitchFamily="34" charset="0"/>
                <a:ea typeface="Arial" pitchFamily="34" charset="-122"/>
                <a:cs typeface="Arial" pitchFamily="34" charset="-120"/>
              </a:rPr>
              <a:t>Generate WhatsApp Message</a:t>
            </a:r>
            <a:endParaRPr lang="en-US" sz="1800" dirty="0"/>
          </a:p>
        </p:txBody>
      </p:sp>
      <p:sp>
        <p:nvSpPr>
          <p:cNvPr id="18" name="Text 15"/>
          <p:cNvSpPr/>
          <p:nvPr/>
        </p:nvSpPr>
        <p:spPr>
          <a:xfrm>
            <a:off x="1215390" y="6084570"/>
            <a:ext cx="7374981"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3A3A3A"/>
                </a:solidFill>
                <a:latin typeface="Arial" pitchFamily="34" charset="0"/>
                <a:ea typeface="Arial" pitchFamily="34" charset="-122"/>
                <a:cs typeface="Arial" pitchFamily="34" charset="-120"/>
              </a:rPr>
              <a:t>Manage Projects </a:t>
            </a:r>
            <a:pPr algn="l" indent="0" marL="0">
              <a:lnSpc>
                <a:spcPct val="150000"/>
              </a:lnSpc>
              <a:buNone/>
            </a:pPr>
            <a:r>
              <a:rPr lang="en-US" sz="1800" b="1" dirty="0">
                <a:solidFill>
                  <a:srgbClr val="A7333F"/>
                </a:solidFill>
                <a:latin typeface="Arial" pitchFamily="34" charset="0"/>
                <a:ea typeface="Arial" pitchFamily="34" charset="-122"/>
                <a:cs typeface="Arial" pitchFamily="34" charset="-120"/>
              </a:rPr>
              <a:t>«include» </a:t>
            </a:r>
            <a:pPr algn="l" indent="0" marL="0">
              <a:lnSpc>
                <a:spcPct val="150000"/>
              </a:lnSpc>
              <a:buNone/>
            </a:pPr>
            <a:r>
              <a:rPr lang="en-US" sz="1800" dirty="0">
                <a:solidFill>
                  <a:srgbClr val="3A3A3A"/>
                </a:solidFill>
                <a:latin typeface="Arial" pitchFamily="34" charset="0"/>
                <a:ea typeface="Arial" pitchFamily="34" charset="-122"/>
                <a:cs typeface="Arial" pitchFamily="34" charset="-120"/>
              </a:rPr>
              <a:t>Admin Login</a:t>
            </a:r>
            <a:endParaRPr lang="en-US" sz="1800" dirty="0"/>
          </a:p>
        </p:txBody>
      </p:sp>
      <p:sp>
        <p:nvSpPr>
          <p:cNvPr id="19" name="Text 16"/>
          <p:cNvSpPr/>
          <p:nvPr/>
        </p:nvSpPr>
        <p:spPr>
          <a:xfrm>
            <a:off x="1215390" y="6427470"/>
            <a:ext cx="7374981"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3A3A3A"/>
                </a:solidFill>
                <a:latin typeface="Arial" pitchFamily="34" charset="0"/>
                <a:ea typeface="Arial" pitchFamily="34" charset="-122"/>
                <a:cs typeface="Arial" pitchFamily="34" charset="-120"/>
              </a:rPr>
              <a:t>Use Chatbot </a:t>
            </a:r>
            <a:pPr algn="l" indent="0" marL="0">
              <a:lnSpc>
                <a:spcPct val="150000"/>
              </a:lnSpc>
              <a:buNone/>
            </a:pPr>
            <a:r>
              <a:rPr lang="en-US" sz="1800" b="1" dirty="0">
                <a:solidFill>
                  <a:srgbClr val="1F7A3F"/>
                </a:solidFill>
                <a:latin typeface="Arial" pitchFamily="34" charset="0"/>
                <a:ea typeface="Arial" pitchFamily="34" charset="-122"/>
                <a:cs typeface="Arial" pitchFamily="34" charset="-120"/>
              </a:rPr>
              <a:t>«extend» </a:t>
            </a:r>
            <a:pPr algn="l" indent="0" marL="0">
              <a:lnSpc>
                <a:spcPct val="150000"/>
              </a:lnSpc>
              <a:buNone/>
            </a:pPr>
            <a:r>
              <a:rPr lang="en-US" sz="1800" dirty="0">
                <a:solidFill>
                  <a:srgbClr val="3A3A3A"/>
                </a:solidFill>
                <a:latin typeface="Arial" pitchFamily="34" charset="0"/>
                <a:ea typeface="Arial" pitchFamily="34" charset="-122"/>
                <a:cs typeface="Arial" pitchFamily="34" charset="-120"/>
              </a:rPr>
              <a:t>Contact via WhatsApp</a:t>
            </a:r>
            <a:endParaRPr lang="en-US" sz="1800" dirty="0"/>
          </a:p>
        </p:txBody>
      </p:sp>
      <p:sp>
        <p:nvSpPr>
          <p:cNvPr id="20" name="Text 17"/>
          <p:cNvSpPr/>
          <p:nvPr/>
        </p:nvSpPr>
        <p:spPr>
          <a:xfrm>
            <a:off x="8659059" y="2868930"/>
            <a:ext cx="9544086" cy="297180"/>
          </a:xfrm>
          <a:prstGeom prst="rect">
            <a:avLst/>
          </a:prstGeom>
          <a:noFill/>
          <a:ln/>
        </p:spPr>
        <p:txBody>
          <a:bodyPr wrap="square" lIns="25400" tIns="25400" rIns="25400" bIns="25400" rtlCol="0" anchor="t">
            <a:normAutofit/>
          </a:bodyPr>
          <a:lstStyle/>
          <a:p>
            <a:pPr algn="l" indent="0" marL="0">
              <a:buNone/>
            </a:pPr>
            <a:r>
              <a:rPr lang="en-US" sz="1800" b="1" spc="150" kern="0" dirty="0">
                <a:solidFill>
                  <a:srgbClr val="74121D"/>
                </a:solidFill>
                <a:latin typeface="Arial" pitchFamily="34" charset="0"/>
                <a:ea typeface="Arial" pitchFamily="34" charset="-122"/>
                <a:cs typeface="Arial" pitchFamily="34" charset="-120"/>
              </a:rPr>
              <a:t>ENTITY RELATIONSHIP DIAGRAM</a:t>
            </a:r>
            <a:endParaRPr lang="en-US" sz="1800" dirty="0"/>
          </a:p>
        </p:txBody>
      </p:sp>
      <p:sp>
        <p:nvSpPr>
          <p:cNvPr id="21" name="Shape 18"/>
          <p:cNvSpPr/>
          <p:nvPr/>
        </p:nvSpPr>
        <p:spPr>
          <a:xfrm>
            <a:off x="8659059" y="3299460"/>
            <a:ext cx="2777847" cy="2960370"/>
          </a:xfrm>
          <a:prstGeom prst="roundRect">
            <a:avLst>
              <a:gd name="adj" fmla="val 1372"/>
            </a:avLst>
          </a:prstGeom>
          <a:solidFill>
            <a:srgbClr val="FFFFFF"/>
          </a:solidFill>
          <a:ln w="15240">
            <a:solidFill>
              <a:srgbClr val="74121D"/>
            </a:solidFill>
            <a:prstDash val="solid"/>
          </a:ln>
        </p:spPr>
      </p:sp>
      <p:sp>
        <p:nvSpPr>
          <p:cNvPr id="22" name="Shape 19"/>
          <p:cNvSpPr/>
          <p:nvPr/>
        </p:nvSpPr>
        <p:spPr>
          <a:xfrm>
            <a:off x="8674298" y="3314700"/>
            <a:ext cx="2747367" cy="449580"/>
          </a:xfrm>
          <a:prstGeom prst="rect">
            <a:avLst/>
          </a:prstGeom>
          <a:solidFill>
            <a:srgbClr val="74121D"/>
          </a:solidFill>
          <a:ln/>
        </p:spPr>
      </p:sp>
      <p:sp>
        <p:nvSpPr>
          <p:cNvPr id="23" name="Text 20"/>
          <p:cNvSpPr/>
          <p:nvPr/>
        </p:nvSpPr>
        <p:spPr>
          <a:xfrm>
            <a:off x="8826698" y="3409950"/>
            <a:ext cx="2524988" cy="297180"/>
          </a:xfrm>
          <a:prstGeom prst="rect">
            <a:avLst/>
          </a:prstGeom>
          <a:noFill/>
          <a:ln/>
        </p:spPr>
        <p:txBody>
          <a:bodyPr wrap="square" lIns="25400" tIns="25400" rIns="25400" bIns="25400" rtlCol="0" anchor="t">
            <a:normAutofit/>
          </a:bodyPr>
          <a:lstStyle/>
          <a:p>
            <a:pPr algn="l" indent="0" marL="0">
              <a:buNone/>
            </a:pPr>
            <a:r>
              <a:rPr lang="en-US" sz="1800" b="1" spc="75" kern="0" dirty="0">
                <a:solidFill>
                  <a:srgbClr val="FFFFFF"/>
                </a:solidFill>
                <a:latin typeface="Arial" pitchFamily="34" charset="0"/>
                <a:ea typeface="Arial" pitchFamily="34" charset="-122"/>
                <a:cs typeface="Arial" pitchFamily="34" charset="-120"/>
              </a:rPr>
              <a:t>admins</a:t>
            </a:r>
            <a:endParaRPr lang="en-US" sz="1800" dirty="0"/>
          </a:p>
        </p:txBody>
      </p:sp>
      <p:sp>
        <p:nvSpPr>
          <p:cNvPr id="24" name="Text 21"/>
          <p:cNvSpPr/>
          <p:nvPr/>
        </p:nvSpPr>
        <p:spPr>
          <a:xfrm>
            <a:off x="8826698" y="3878580"/>
            <a:ext cx="2518767" cy="403860"/>
          </a:xfrm>
          <a:prstGeom prst="rect">
            <a:avLst/>
          </a:prstGeom>
          <a:noFill/>
          <a:ln/>
        </p:spPr>
        <p:txBody>
          <a:bodyPr wrap="square" lIns="25400" tIns="25400" rIns="25400" bIns="25400" rtlCol="0" anchor="t">
            <a:normAutofit/>
          </a:bodyPr>
          <a:lstStyle/>
          <a:p>
            <a:pPr algn="l" indent="0" marL="0">
              <a:lnSpc>
                <a:spcPct val="160000"/>
              </a:lnSpc>
              <a:buNone/>
            </a:pPr>
            <a:r>
              <a:rPr lang="en-US" sz="1800" b="1" dirty="0">
                <a:solidFill>
                  <a:srgbClr val="74121D"/>
                </a:solidFill>
                <a:latin typeface="Arial" pitchFamily="34" charset="0"/>
                <a:ea typeface="Arial" pitchFamily="34" charset="-122"/>
                <a:cs typeface="Arial" pitchFamily="34" charset="-120"/>
              </a:rPr>
              <a:t>adminId </a:t>
            </a:r>
            <a:pPr algn="l" indent="0" marL="0">
              <a:lnSpc>
                <a:spcPct val="160000"/>
              </a:lnSpc>
              <a:buNone/>
            </a:pPr>
            <a:r>
              <a:rPr lang="en-US" sz="1800" dirty="0">
                <a:solidFill>
                  <a:srgbClr val="3A3A3A"/>
                </a:solidFill>
                <a:latin typeface="Arial" pitchFamily="34" charset="0"/>
                <a:ea typeface="Arial" pitchFamily="34" charset="-122"/>
                <a:cs typeface="Arial" pitchFamily="34" charset="-120"/>
              </a:rPr>
              <a:t>· PK</a:t>
            </a:r>
            <a:endParaRPr lang="en-US" sz="1800" dirty="0"/>
          </a:p>
        </p:txBody>
      </p:sp>
      <p:sp>
        <p:nvSpPr>
          <p:cNvPr id="25" name="Text 22"/>
          <p:cNvSpPr/>
          <p:nvPr/>
        </p:nvSpPr>
        <p:spPr>
          <a:xfrm>
            <a:off x="8826698" y="4244340"/>
            <a:ext cx="2518767" cy="403860"/>
          </a:xfrm>
          <a:prstGeom prst="rect">
            <a:avLst/>
          </a:prstGeom>
          <a:noFill/>
          <a:ln/>
        </p:spPr>
        <p:txBody>
          <a:bodyPr wrap="square" lIns="25400" tIns="25400" rIns="25400" bIns="25400" rtlCol="0" anchor="t">
            <a:normAutofit/>
          </a:bodyPr>
          <a:lstStyle/>
          <a:p>
            <a:pPr algn="l" indent="0" marL="0">
              <a:lnSpc>
                <a:spcPct val="160000"/>
              </a:lnSpc>
              <a:buNone/>
            </a:pPr>
            <a:r>
              <a:rPr lang="en-US" sz="1800" dirty="0">
                <a:solidFill>
                  <a:srgbClr val="3A3A3A"/>
                </a:solidFill>
                <a:latin typeface="Arial" pitchFamily="34" charset="0"/>
                <a:ea typeface="Arial" pitchFamily="34" charset="-122"/>
                <a:cs typeface="Arial" pitchFamily="34" charset="-120"/>
              </a:rPr>
              <a:t>email</a:t>
            </a:r>
            <a:endParaRPr lang="en-US" sz="1800" dirty="0"/>
          </a:p>
        </p:txBody>
      </p:sp>
      <p:sp>
        <p:nvSpPr>
          <p:cNvPr id="26" name="Text 23"/>
          <p:cNvSpPr/>
          <p:nvPr/>
        </p:nvSpPr>
        <p:spPr>
          <a:xfrm>
            <a:off x="8826698" y="4610100"/>
            <a:ext cx="2518767" cy="403860"/>
          </a:xfrm>
          <a:prstGeom prst="rect">
            <a:avLst/>
          </a:prstGeom>
          <a:noFill/>
          <a:ln/>
        </p:spPr>
        <p:txBody>
          <a:bodyPr wrap="square" lIns="25400" tIns="25400" rIns="25400" bIns="25400" rtlCol="0" anchor="t">
            <a:normAutofit/>
          </a:bodyPr>
          <a:lstStyle/>
          <a:p>
            <a:pPr algn="l" indent="0" marL="0">
              <a:lnSpc>
                <a:spcPct val="160000"/>
              </a:lnSpc>
              <a:buNone/>
            </a:pPr>
            <a:r>
              <a:rPr lang="en-US" sz="1800" dirty="0">
                <a:solidFill>
                  <a:srgbClr val="3A3A3A"/>
                </a:solidFill>
                <a:latin typeface="Arial" pitchFamily="34" charset="0"/>
                <a:ea typeface="Arial" pitchFamily="34" charset="-122"/>
                <a:cs typeface="Arial" pitchFamily="34" charset="-120"/>
              </a:rPr>
              <a:t>role</a:t>
            </a:r>
            <a:endParaRPr lang="en-US" sz="1800" dirty="0"/>
          </a:p>
        </p:txBody>
      </p:sp>
      <p:sp>
        <p:nvSpPr>
          <p:cNvPr id="27" name="Text 24"/>
          <p:cNvSpPr/>
          <p:nvPr/>
        </p:nvSpPr>
        <p:spPr>
          <a:xfrm>
            <a:off x="8826698" y="4975860"/>
            <a:ext cx="2518767" cy="403860"/>
          </a:xfrm>
          <a:prstGeom prst="rect">
            <a:avLst/>
          </a:prstGeom>
          <a:noFill/>
          <a:ln/>
        </p:spPr>
        <p:txBody>
          <a:bodyPr wrap="square" lIns="25400" tIns="25400" rIns="25400" bIns="25400" rtlCol="0" anchor="t">
            <a:normAutofit/>
          </a:bodyPr>
          <a:lstStyle/>
          <a:p>
            <a:pPr algn="l" indent="0" marL="0">
              <a:lnSpc>
                <a:spcPct val="160000"/>
              </a:lnSpc>
              <a:buNone/>
            </a:pPr>
            <a:r>
              <a:rPr lang="en-US" sz="1800" dirty="0">
                <a:solidFill>
                  <a:srgbClr val="3A3A3A"/>
                </a:solidFill>
                <a:latin typeface="Arial" pitchFamily="34" charset="0"/>
                <a:ea typeface="Arial" pitchFamily="34" charset="-122"/>
                <a:cs typeface="Arial" pitchFamily="34" charset="-120"/>
              </a:rPr>
              <a:t>createdAt</a:t>
            </a:r>
            <a:endParaRPr lang="en-US" sz="1800" dirty="0"/>
          </a:p>
        </p:txBody>
      </p:sp>
      <p:sp>
        <p:nvSpPr>
          <p:cNvPr id="28" name="Text 25"/>
          <p:cNvSpPr/>
          <p:nvPr/>
        </p:nvSpPr>
        <p:spPr>
          <a:xfrm>
            <a:off x="8826698" y="5398770"/>
            <a:ext cx="2518767" cy="769620"/>
          </a:xfrm>
          <a:prstGeom prst="rect">
            <a:avLst/>
          </a:prstGeom>
          <a:noFill/>
          <a:ln/>
        </p:spPr>
        <p:txBody>
          <a:bodyPr wrap="square" lIns="25400" tIns="25400" rIns="25400" bIns="25400" rtlCol="0" anchor="t">
            <a:normAutofit/>
          </a:bodyPr>
          <a:lstStyle/>
          <a:p>
            <a:pPr algn="l" indent="0" marL="0">
              <a:lnSpc>
                <a:spcPct val="160000"/>
              </a:lnSpc>
              <a:buNone/>
            </a:pPr>
            <a:r>
              <a:rPr lang="en-US" sz="1800" i="1" dirty="0">
                <a:solidFill>
                  <a:srgbClr val="A7333F"/>
                </a:solidFill>
                <a:latin typeface="Arial" pitchFamily="34" charset="0"/>
                <a:ea typeface="Arial" pitchFamily="34" charset="-122"/>
                <a:cs typeface="Arial" pitchFamily="34" charset="-120"/>
              </a:rPr>
              <a:t>(no password — Firebase Auth)</a:t>
            </a:r>
            <a:endParaRPr lang="en-US" sz="1800" dirty="0"/>
          </a:p>
        </p:txBody>
      </p:sp>
      <p:sp>
        <p:nvSpPr>
          <p:cNvPr id="29" name="Shape 26"/>
          <p:cNvSpPr/>
          <p:nvPr/>
        </p:nvSpPr>
        <p:spPr>
          <a:xfrm>
            <a:off x="11608355" y="3299460"/>
            <a:ext cx="2777847" cy="2903220"/>
          </a:xfrm>
          <a:prstGeom prst="roundRect">
            <a:avLst>
              <a:gd name="adj" fmla="val 1372"/>
            </a:avLst>
          </a:prstGeom>
          <a:solidFill>
            <a:srgbClr val="FFFFFF"/>
          </a:solidFill>
          <a:ln w="15240">
            <a:solidFill>
              <a:srgbClr val="74121D"/>
            </a:solidFill>
            <a:prstDash val="solid"/>
          </a:ln>
        </p:spPr>
      </p:sp>
      <p:sp>
        <p:nvSpPr>
          <p:cNvPr id="30" name="Shape 27"/>
          <p:cNvSpPr/>
          <p:nvPr/>
        </p:nvSpPr>
        <p:spPr>
          <a:xfrm>
            <a:off x="11623596" y="3314700"/>
            <a:ext cx="2747367" cy="449580"/>
          </a:xfrm>
          <a:prstGeom prst="rect">
            <a:avLst/>
          </a:prstGeom>
          <a:solidFill>
            <a:srgbClr val="74121D"/>
          </a:solidFill>
          <a:ln/>
        </p:spPr>
      </p:sp>
      <p:sp>
        <p:nvSpPr>
          <p:cNvPr id="31" name="Text 28"/>
          <p:cNvSpPr/>
          <p:nvPr/>
        </p:nvSpPr>
        <p:spPr>
          <a:xfrm>
            <a:off x="11775996" y="3409950"/>
            <a:ext cx="2524988" cy="297180"/>
          </a:xfrm>
          <a:prstGeom prst="rect">
            <a:avLst/>
          </a:prstGeom>
          <a:noFill/>
          <a:ln/>
        </p:spPr>
        <p:txBody>
          <a:bodyPr wrap="square" lIns="25400" tIns="25400" rIns="25400" bIns="25400" rtlCol="0" anchor="t">
            <a:normAutofit/>
          </a:bodyPr>
          <a:lstStyle/>
          <a:p>
            <a:pPr algn="l" indent="0" marL="0">
              <a:buNone/>
            </a:pPr>
            <a:r>
              <a:rPr lang="en-US" sz="1800" b="1" spc="75" kern="0" dirty="0">
                <a:solidFill>
                  <a:srgbClr val="FFFFFF"/>
                </a:solidFill>
                <a:latin typeface="Arial" pitchFamily="34" charset="0"/>
                <a:ea typeface="Arial" pitchFamily="34" charset="-122"/>
                <a:cs typeface="Arial" pitchFamily="34" charset="-120"/>
              </a:rPr>
              <a:t>projects</a:t>
            </a:r>
            <a:endParaRPr lang="en-US" sz="1800" dirty="0"/>
          </a:p>
        </p:txBody>
      </p:sp>
      <p:sp>
        <p:nvSpPr>
          <p:cNvPr id="32" name="Text 29"/>
          <p:cNvSpPr/>
          <p:nvPr/>
        </p:nvSpPr>
        <p:spPr>
          <a:xfrm>
            <a:off x="11775996" y="3878580"/>
            <a:ext cx="2518767" cy="403860"/>
          </a:xfrm>
          <a:prstGeom prst="rect">
            <a:avLst/>
          </a:prstGeom>
          <a:noFill/>
          <a:ln/>
        </p:spPr>
        <p:txBody>
          <a:bodyPr wrap="square" lIns="25400" tIns="25400" rIns="25400" bIns="25400" rtlCol="0" anchor="t">
            <a:normAutofit/>
          </a:bodyPr>
          <a:lstStyle/>
          <a:p>
            <a:pPr algn="l" indent="0" marL="0">
              <a:lnSpc>
                <a:spcPct val="160000"/>
              </a:lnSpc>
              <a:buNone/>
            </a:pPr>
            <a:r>
              <a:rPr lang="en-US" sz="1800" b="1" dirty="0">
                <a:solidFill>
                  <a:srgbClr val="74121D"/>
                </a:solidFill>
                <a:latin typeface="Arial" pitchFamily="34" charset="0"/>
                <a:ea typeface="Arial" pitchFamily="34" charset="-122"/>
                <a:cs typeface="Arial" pitchFamily="34" charset="-120"/>
              </a:rPr>
              <a:t>projectId </a:t>
            </a:r>
            <a:pPr algn="l" indent="0" marL="0">
              <a:lnSpc>
                <a:spcPct val="160000"/>
              </a:lnSpc>
              <a:buNone/>
            </a:pPr>
            <a:r>
              <a:rPr lang="en-US" sz="1800" dirty="0">
                <a:solidFill>
                  <a:srgbClr val="3A3A3A"/>
                </a:solidFill>
                <a:latin typeface="Arial" pitchFamily="34" charset="0"/>
                <a:ea typeface="Arial" pitchFamily="34" charset="-122"/>
                <a:cs typeface="Arial" pitchFamily="34" charset="-120"/>
              </a:rPr>
              <a:t>· PK</a:t>
            </a:r>
            <a:endParaRPr lang="en-US" sz="1800" dirty="0"/>
          </a:p>
        </p:txBody>
      </p:sp>
      <p:sp>
        <p:nvSpPr>
          <p:cNvPr id="33" name="Text 30"/>
          <p:cNvSpPr/>
          <p:nvPr/>
        </p:nvSpPr>
        <p:spPr>
          <a:xfrm>
            <a:off x="11775996" y="4244340"/>
            <a:ext cx="2518767" cy="403860"/>
          </a:xfrm>
          <a:prstGeom prst="rect">
            <a:avLst/>
          </a:prstGeom>
          <a:noFill/>
          <a:ln/>
        </p:spPr>
        <p:txBody>
          <a:bodyPr wrap="square" lIns="25400" tIns="25400" rIns="25400" bIns="25400" rtlCol="0" anchor="t">
            <a:normAutofit/>
          </a:bodyPr>
          <a:lstStyle/>
          <a:p>
            <a:pPr algn="l" indent="0" marL="0">
              <a:lnSpc>
                <a:spcPct val="160000"/>
              </a:lnSpc>
              <a:buNone/>
            </a:pPr>
            <a:r>
              <a:rPr lang="en-US" sz="1800" dirty="0">
                <a:solidFill>
                  <a:srgbClr val="3A3A3A"/>
                </a:solidFill>
                <a:latin typeface="Arial" pitchFamily="34" charset="0"/>
                <a:ea typeface="Arial" pitchFamily="34" charset="-122"/>
                <a:cs typeface="Arial" pitchFamily="34" charset="-120"/>
              </a:rPr>
              <a:t>title</a:t>
            </a:r>
            <a:endParaRPr lang="en-US" sz="1800" dirty="0"/>
          </a:p>
        </p:txBody>
      </p:sp>
      <p:sp>
        <p:nvSpPr>
          <p:cNvPr id="34" name="Text 31"/>
          <p:cNvSpPr/>
          <p:nvPr/>
        </p:nvSpPr>
        <p:spPr>
          <a:xfrm>
            <a:off x="11775996" y="4610100"/>
            <a:ext cx="2518767" cy="403860"/>
          </a:xfrm>
          <a:prstGeom prst="rect">
            <a:avLst/>
          </a:prstGeom>
          <a:noFill/>
          <a:ln/>
        </p:spPr>
        <p:txBody>
          <a:bodyPr wrap="square" lIns="25400" tIns="25400" rIns="25400" bIns="25400" rtlCol="0" anchor="t">
            <a:normAutofit/>
          </a:bodyPr>
          <a:lstStyle/>
          <a:p>
            <a:pPr algn="l" indent="0" marL="0">
              <a:lnSpc>
                <a:spcPct val="160000"/>
              </a:lnSpc>
              <a:buNone/>
            </a:pPr>
            <a:r>
              <a:rPr lang="en-US" sz="1800" dirty="0">
                <a:solidFill>
                  <a:srgbClr val="3A3A3A"/>
                </a:solidFill>
                <a:latin typeface="Arial" pitchFamily="34" charset="0"/>
                <a:ea typeface="Arial" pitchFamily="34" charset="-122"/>
                <a:cs typeface="Arial" pitchFamily="34" charset="-120"/>
              </a:rPr>
              <a:t>description</a:t>
            </a:r>
            <a:endParaRPr lang="en-US" sz="1800" dirty="0"/>
          </a:p>
        </p:txBody>
      </p:sp>
      <p:sp>
        <p:nvSpPr>
          <p:cNvPr id="35" name="Text 32"/>
          <p:cNvSpPr/>
          <p:nvPr/>
        </p:nvSpPr>
        <p:spPr>
          <a:xfrm>
            <a:off x="11775996" y="4975860"/>
            <a:ext cx="2518767" cy="403860"/>
          </a:xfrm>
          <a:prstGeom prst="rect">
            <a:avLst/>
          </a:prstGeom>
          <a:noFill/>
          <a:ln/>
        </p:spPr>
        <p:txBody>
          <a:bodyPr wrap="square" lIns="25400" tIns="25400" rIns="25400" bIns="25400" rtlCol="0" anchor="t">
            <a:normAutofit/>
          </a:bodyPr>
          <a:lstStyle/>
          <a:p>
            <a:pPr algn="l" indent="0" marL="0">
              <a:lnSpc>
                <a:spcPct val="160000"/>
              </a:lnSpc>
              <a:buNone/>
            </a:pPr>
            <a:r>
              <a:rPr lang="en-US" sz="1800" dirty="0">
                <a:solidFill>
                  <a:srgbClr val="3A3A3A"/>
                </a:solidFill>
                <a:latin typeface="Arial" pitchFamily="34" charset="0"/>
                <a:ea typeface="Arial" pitchFamily="34" charset="-122"/>
                <a:cs typeface="Arial" pitchFamily="34" charset="-120"/>
              </a:rPr>
              <a:t>imageUrl</a:t>
            </a:r>
            <a:endParaRPr lang="en-US" sz="1800" dirty="0"/>
          </a:p>
        </p:txBody>
      </p:sp>
      <p:sp>
        <p:nvSpPr>
          <p:cNvPr id="36" name="Text 33"/>
          <p:cNvSpPr/>
          <p:nvPr/>
        </p:nvSpPr>
        <p:spPr>
          <a:xfrm>
            <a:off x="11775996" y="5341620"/>
            <a:ext cx="2518767" cy="403860"/>
          </a:xfrm>
          <a:prstGeom prst="rect">
            <a:avLst/>
          </a:prstGeom>
          <a:noFill/>
          <a:ln/>
        </p:spPr>
        <p:txBody>
          <a:bodyPr wrap="square" lIns="25400" tIns="25400" rIns="25400" bIns="25400" rtlCol="0" anchor="t">
            <a:normAutofit/>
          </a:bodyPr>
          <a:lstStyle/>
          <a:p>
            <a:pPr algn="l" indent="0" marL="0">
              <a:lnSpc>
                <a:spcPct val="160000"/>
              </a:lnSpc>
              <a:buNone/>
            </a:pPr>
            <a:r>
              <a:rPr lang="en-US" sz="1800" dirty="0">
                <a:solidFill>
                  <a:srgbClr val="3A3A3A"/>
                </a:solidFill>
                <a:latin typeface="Arial" pitchFamily="34" charset="0"/>
                <a:ea typeface="Arial" pitchFamily="34" charset="-122"/>
                <a:cs typeface="Arial" pitchFamily="34" charset="-120"/>
              </a:rPr>
              <a:t>category</a:t>
            </a:r>
            <a:endParaRPr lang="en-US" sz="1800" dirty="0"/>
          </a:p>
        </p:txBody>
      </p:sp>
      <p:sp>
        <p:nvSpPr>
          <p:cNvPr id="37" name="Text 34"/>
          <p:cNvSpPr/>
          <p:nvPr/>
        </p:nvSpPr>
        <p:spPr>
          <a:xfrm>
            <a:off x="11775996" y="5707380"/>
            <a:ext cx="2518767" cy="403860"/>
          </a:xfrm>
          <a:prstGeom prst="rect">
            <a:avLst/>
          </a:prstGeom>
          <a:noFill/>
          <a:ln/>
        </p:spPr>
        <p:txBody>
          <a:bodyPr wrap="square" lIns="25400" tIns="25400" rIns="25400" bIns="25400" rtlCol="0" anchor="t">
            <a:normAutofit/>
          </a:bodyPr>
          <a:lstStyle/>
          <a:p>
            <a:pPr algn="l" indent="0" marL="0">
              <a:lnSpc>
                <a:spcPct val="160000"/>
              </a:lnSpc>
              <a:buNone/>
            </a:pPr>
            <a:r>
              <a:rPr lang="en-US" sz="1800" dirty="0">
                <a:solidFill>
                  <a:srgbClr val="3A3A3A"/>
                </a:solidFill>
                <a:latin typeface="Arial" pitchFamily="34" charset="0"/>
                <a:ea typeface="Arial" pitchFamily="34" charset="-122"/>
                <a:cs typeface="Arial" pitchFamily="34" charset="-120"/>
              </a:rPr>
              <a:t>createdAt</a:t>
            </a:r>
            <a:endParaRPr lang="en-US" sz="1800" dirty="0"/>
          </a:p>
        </p:txBody>
      </p:sp>
      <p:sp>
        <p:nvSpPr>
          <p:cNvPr id="38" name="Shape 35"/>
          <p:cNvSpPr/>
          <p:nvPr/>
        </p:nvSpPr>
        <p:spPr>
          <a:xfrm>
            <a:off x="14557653" y="3299460"/>
            <a:ext cx="2777847" cy="3268980"/>
          </a:xfrm>
          <a:prstGeom prst="roundRect">
            <a:avLst>
              <a:gd name="adj" fmla="val 1372"/>
            </a:avLst>
          </a:prstGeom>
          <a:solidFill>
            <a:srgbClr val="FFFFFF"/>
          </a:solidFill>
          <a:ln w="15240">
            <a:solidFill>
              <a:srgbClr val="74121D"/>
            </a:solidFill>
            <a:prstDash val="solid"/>
          </a:ln>
        </p:spPr>
      </p:sp>
      <p:sp>
        <p:nvSpPr>
          <p:cNvPr id="39" name="Shape 36"/>
          <p:cNvSpPr/>
          <p:nvPr/>
        </p:nvSpPr>
        <p:spPr>
          <a:xfrm>
            <a:off x="14572893" y="3314700"/>
            <a:ext cx="2747367" cy="449580"/>
          </a:xfrm>
          <a:prstGeom prst="rect">
            <a:avLst/>
          </a:prstGeom>
          <a:solidFill>
            <a:srgbClr val="74121D"/>
          </a:solidFill>
          <a:ln/>
        </p:spPr>
      </p:sp>
      <p:sp>
        <p:nvSpPr>
          <p:cNvPr id="40" name="Text 37"/>
          <p:cNvSpPr/>
          <p:nvPr/>
        </p:nvSpPr>
        <p:spPr>
          <a:xfrm>
            <a:off x="14725293" y="3409950"/>
            <a:ext cx="2524988" cy="297180"/>
          </a:xfrm>
          <a:prstGeom prst="rect">
            <a:avLst/>
          </a:prstGeom>
          <a:noFill/>
          <a:ln/>
        </p:spPr>
        <p:txBody>
          <a:bodyPr wrap="square" lIns="25400" tIns="25400" rIns="25400" bIns="25400" rtlCol="0" anchor="t">
            <a:normAutofit/>
          </a:bodyPr>
          <a:lstStyle/>
          <a:p>
            <a:pPr algn="l" indent="0" marL="0">
              <a:buNone/>
            </a:pPr>
            <a:r>
              <a:rPr lang="en-US" sz="1800" b="1" spc="75" kern="0" dirty="0">
                <a:solidFill>
                  <a:srgbClr val="FFFFFF"/>
                </a:solidFill>
                <a:latin typeface="Arial" pitchFamily="34" charset="0"/>
                <a:ea typeface="Arial" pitchFamily="34" charset="-122"/>
                <a:cs typeface="Arial" pitchFamily="34" charset="-120"/>
              </a:rPr>
              <a:t>requests</a:t>
            </a:r>
            <a:endParaRPr lang="en-US" sz="1800" dirty="0"/>
          </a:p>
        </p:txBody>
      </p:sp>
      <p:sp>
        <p:nvSpPr>
          <p:cNvPr id="41" name="Text 38"/>
          <p:cNvSpPr/>
          <p:nvPr/>
        </p:nvSpPr>
        <p:spPr>
          <a:xfrm>
            <a:off x="14725293" y="3878580"/>
            <a:ext cx="2518767" cy="403860"/>
          </a:xfrm>
          <a:prstGeom prst="rect">
            <a:avLst/>
          </a:prstGeom>
          <a:noFill/>
          <a:ln/>
        </p:spPr>
        <p:txBody>
          <a:bodyPr wrap="square" lIns="25400" tIns="25400" rIns="25400" bIns="25400" rtlCol="0" anchor="t">
            <a:normAutofit/>
          </a:bodyPr>
          <a:lstStyle/>
          <a:p>
            <a:pPr algn="l" indent="0" marL="0">
              <a:lnSpc>
                <a:spcPct val="160000"/>
              </a:lnSpc>
              <a:buNone/>
            </a:pPr>
            <a:r>
              <a:rPr lang="en-US" sz="1800" b="1" dirty="0">
                <a:solidFill>
                  <a:srgbClr val="74121D"/>
                </a:solidFill>
                <a:latin typeface="Arial" pitchFamily="34" charset="0"/>
                <a:ea typeface="Arial" pitchFamily="34" charset="-122"/>
                <a:cs typeface="Arial" pitchFamily="34" charset="-120"/>
              </a:rPr>
              <a:t>requestId </a:t>
            </a:r>
            <a:pPr algn="l" indent="0" marL="0">
              <a:lnSpc>
                <a:spcPct val="160000"/>
              </a:lnSpc>
              <a:buNone/>
            </a:pPr>
            <a:r>
              <a:rPr lang="en-US" sz="1800" dirty="0">
                <a:solidFill>
                  <a:srgbClr val="3A3A3A"/>
                </a:solidFill>
                <a:latin typeface="Arial" pitchFamily="34" charset="0"/>
                <a:ea typeface="Arial" pitchFamily="34" charset="-122"/>
                <a:cs typeface="Arial" pitchFamily="34" charset="-120"/>
              </a:rPr>
              <a:t>· PK</a:t>
            </a:r>
            <a:endParaRPr lang="en-US" sz="1800" dirty="0"/>
          </a:p>
        </p:txBody>
      </p:sp>
      <p:sp>
        <p:nvSpPr>
          <p:cNvPr id="42" name="Text 39"/>
          <p:cNvSpPr/>
          <p:nvPr/>
        </p:nvSpPr>
        <p:spPr>
          <a:xfrm>
            <a:off x="14725293" y="4244340"/>
            <a:ext cx="2518767" cy="403860"/>
          </a:xfrm>
          <a:prstGeom prst="rect">
            <a:avLst/>
          </a:prstGeom>
          <a:noFill/>
          <a:ln/>
        </p:spPr>
        <p:txBody>
          <a:bodyPr wrap="square" lIns="25400" tIns="25400" rIns="25400" bIns="25400" rtlCol="0" anchor="t">
            <a:normAutofit/>
          </a:bodyPr>
          <a:lstStyle/>
          <a:p>
            <a:pPr algn="l" indent="0" marL="0">
              <a:lnSpc>
                <a:spcPct val="160000"/>
              </a:lnSpc>
              <a:buNone/>
            </a:pPr>
            <a:r>
              <a:rPr lang="en-US" sz="1800" dirty="0">
                <a:solidFill>
                  <a:srgbClr val="3A3A3A"/>
                </a:solidFill>
                <a:latin typeface="Arial" pitchFamily="34" charset="0"/>
                <a:ea typeface="Arial" pitchFamily="34" charset="-122"/>
                <a:cs typeface="Arial" pitchFamily="34" charset="-120"/>
              </a:rPr>
              <a:t>clientName</a:t>
            </a:r>
            <a:endParaRPr lang="en-US" sz="1800" dirty="0"/>
          </a:p>
        </p:txBody>
      </p:sp>
      <p:sp>
        <p:nvSpPr>
          <p:cNvPr id="43" name="Text 40"/>
          <p:cNvSpPr/>
          <p:nvPr/>
        </p:nvSpPr>
        <p:spPr>
          <a:xfrm>
            <a:off x="14725293" y="4610100"/>
            <a:ext cx="2518767" cy="403860"/>
          </a:xfrm>
          <a:prstGeom prst="rect">
            <a:avLst/>
          </a:prstGeom>
          <a:noFill/>
          <a:ln/>
        </p:spPr>
        <p:txBody>
          <a:bodyPr wrap="square" lIns="25400" tIns="25400" rIns="25400" bIns="25400" rtlCol="0" anchor="t">
            <a:normAutofit/>
          </a:bodyPr>
          <a:lstStyle/>
          <a:p>
            <a:pPr algn="l" indent="0" marL="0">
              <a:lnSpc>
                <a:spcPct val="160000"/>
              </a:lnSpc>
              <a:buNone/>
            </a:pPr>
            <a:r>
              <a:rPr lang="en-US" sz="1800" dirty="0">
                <a:solidFill>
                  <a:srgbClr val="3A3A3A"/>
                </a:solidFill>
                <a:latin typeface="Arial" pitchFamily="34" charset="0"/>
                <a:ea typeface="Arial" pitchFamily="34" charset="-122"/>
                <a:cs typeface="Arial" pitchFamily="34" charset="-120"/>
              </a:rPr>
              <a:t>phoneNumber</a:t>
            </a:r>
            <a:endParaRPr lang="en-US" sz="1800" dirty="0"/>
          </a:p>
        </p:txBody>
      </p:sp>
      <p:sp>
        <p:nvSpPr>
          <p:cNvPr id="44" name="Text 41"/>
          <p:cNvSpPr/>
          <p:nvPr/>
        </p:nvSpPr>
        <p:spPr>
          <a:xfrm>
            <a:off x="14725293" y="4975860"/>
            <a:ext cx="2518767" cy="403860"/>
          </a:xfrm>
          <a:prstGeom prst="rect">
            <a:avLst/>
          </a:prstGeom>
          <a:noFill/>
          <a:ln/>
        </p:spPr>
        <p:txBody>
          <a:bodyPr wrap="square" lIns="25400" tIns="25400" rIns="25400" bIns="25400" rtlCol="0" anchor="t">
            <a:normAutofit/>
          </a:bodyPr>
          <a:lstStyle/>
          <a:p>
            <a:pPr algn="l" indent="0" marL="0">
              <a:lnSpc>
                <a:spcPct val="160000"/>
              </a:lnSpc>
              <a:buNone/>
            </a:pPr>
            <a:r>
              <a:rPr lang="en-US" sz="1800" dirty="0">
                <a:solidFill>
                  <a:srgbClr val="3A3A3A"/>
                </a:solidFill>
                <a:latin typeface="Arial" pitchFamily="34" charset="0"/>
                <a:ea typeface="Arial" pitchFamily="34" charset="-122"/>
                <a:cs typeface="Arial" pitchFamily="34" charset="-120"/>
              </a:rPr>
              <a:t>serviceType</a:t>
            </a:r>
            <a:endParaRPr lang="en-US" sz="1800" dirty="0"/>
          </a:p>
        </p:txBody>
      </p:sp>
      <p:sp>
        <p:nvSpPr>
          <p:cNvPr id="45" name="Text 42"/>
          <p:cNvSpPr/>
          <p:nvPr/>
        </p:nvSpPr>
        <p:spPr>
          <a:xfrm>
            <a:off x="14725293" y="5341620"/>
            <a:ext cx="2518767" cy="403860"/>
          </a:xfrm>
          <a:prstGeom prst="rect">
            <a:avLst/>
          </a:prstGeom>
          <a:noFill/>
          <a:ln/>
        </p:spPr>
        <p:txBody>
          <a:bodyPr wrap="square" lIns="25400" tIns="25400" rIns="25400" bIns="25400" rtlCol="0" anchor="t">
            <a:normAutofit/>
          </a:bodyPr>
          <a:lstStyle/>
          <a:p>
            <a:pPr algn="l" indent="0" marL="0">
              <a:lnSpc>
                <a:spcPct val="160000"/>
              </a:lnSpc>
              <a:buNone/>
            </a:pPr>
            <a:r>
              <a:rPr lang="en-US" sz="1800" dirty="0">
                <a:solidFill>
                  <a:srgbClr val="3A3A3A"/>
                </a:solidFill>
                <a:latin typeface="Arial" pitchFamily="34" charset="0"/>
                <a:ea typeface="Arial" pitchFamily="34" charset="-122"/>
                <a:cs typeface="Arial" pitchFamily="34" charset="-120"/>
              </a:rPr>
              <a:t>projectLocation</a:t>
            </a:r>
            <a:endParaRPr lang="en-US" sz="1800" dirty="0"/>
          </a:p>
        </p:txBody>
      </p:sp>
      <p:sp>
        <p:nvSpPr>
          <p:cNvPr id="46" name="Text 43"/>
          <p:cNvSpPr/>
          <p:nvPr/>
        </p:nvSpPr>
        <p:spPr>
          <a:xfrm>
            <a:off x="14725293" y="5707380"/>
            <a:ext cx="2518767" cy="403860"/>
          </a:xfrm>
          <a:prstGeom prst="rect">
            <a:avLst/>
          </a:prstGeom>
          <a:noFill/>
          <a:ln/>
        </p:spPr>
        <p:txBody>
          <a:bodyPr wrap="square" lIns="25400" tIns="25400" rIns="25400" bIns="25400" rtlCol="0" anchor="t">
            <a:normAutofit/>
          </a:bodyPr>
          <a:lstStyle/>
          <a:p>
            <a:pPr algn="l" indent="0" marL="0">
              <a:lnSpc>
                <a:spcPct val="160000"/>
              </a:lnSpc>
              <a:buNone/>
            </a:pPr>
            <a:r>
              <a:rPr lang="en-US" sz="1800" dirty="0">
                <a:solidFill>
                  <a:srgbClr val="3A3A3A"/>
                </a:solidFill>
                <a:latin typeface="Arial" pitchFamily="34" charset="0"/>
                <a:ea typeface="Arial" pitchFamily="34" charset="-122"/>
                <a:cs typeface="Arial" pitchFamily="34" charset="-120"/>
              </a:rPr>
              <a:t>message</a:t>
            </a:r>
            <a:endParaRPr lang="en-US" sz="1800" dirty="0"/>
          </a:p>
        </p:txBody>
      </p:sp>
      <p:sp>
        <p:nvSpPr>
          <p:cNvPr id="47" name="Text 44"/>
          <p:cNvSpPr/>
          <p:nvPr/>
        </p:nvSpPr>
        <p:spPr>
          <a:xfrm>
            <a:off x="14725293" y="6073140"/>
            <a:ext cx="2518767" cy="403860"/>
          </a:xfrm>
          <a:prstGeom prst="rect">
            <a:avLst/>
          </a:prstGeom>
          <a:noFill/>
          <a:ln/>
        </p:spPr>
        <p:txBody>
          <a:bodyPr wrap="square" lIns="25400" tIns="25400" rIns="25400" bIns="25400" rtlCol="0" anchor="t">
            <a:normAutofit/>
          </a:bodyPr>
          <a:lstStyle/>
          <a:p>
            <a:pPr algn="l" indent="0" marL="0">
              <a:lnSpc>
                <a:spcPct val="160000"/>
              </a:lnSpc>
              <a:buNone/>
            </a:pPr>
            <a:r>
              <a:rPr lang="en-US" sz="1800" dirty="0">
                <a:solidFill>
                  <a:srgbClr val="3A3A3A"/>
                </a:solidFill>
                <a:latin typeface="Arial" pitchFamily="34" charset="0"/>
                <a:ea typeface="Arial" pitchFamily="34" charset="-122"/>
                <a:cs typeface="Arial" pitchFamily="34" charset="-120"/>
              </a:rPr>
              <a:t>createdAt</a:t>
            </a:r>
            <a:endParaRPr lang="en-US" sz="1800" dirty="0"/>
          </a:p>
        </p:txBody>
      </p:sp>
      <p:sp>
        <p:nvSpPr>
          <p:cNvPr id="48" name="Shape 45"/>
          <p:cNvSpPr/>
          <p:nvPr/>
        </p:nvSpPr>
        <p:spPr>
          <a:xfrm>
            <a:off x="8659059" y="6797040"/>
            <a:ext cx="8676442" cy="1325880"/>
          </a:xfrm>
          <a:prstGeom prst="rect">
            <a:avLst/>
          </a:prstGeom>
          <a:solidFill>
            <a:srgbClr val="FBF6EE"/>
          </a:solidFill>
          <a:ln/>
        </p:spPr>
      </p:sp>
      <p:sp>
        <p:nvSpPr>
          <p:cNvPr id="49" name="Shape 46"/>
          <p:cNvSpPr/>
          <p:nvPr/>
        </p:nvSpPr>
        <p:spPr>
          <a:xfrm>
            <a:off x="8659059" y="6797040"/>
            <a:ext cx="53340" cy="1325880"/>
          </a:xfrm>
          <a:prstGeom prst="rect">
            <a:avLst/>
          </a:prstGeom>
          <a:solidFill>
            <a:srgbClr val="B19C7D"/>
          </a:solidFill>
          <a:ln/>
        </p:spPr>
      </p:sp>
      <p:sp>
        <p:nvSpPr>
          <p:cNvPr id="50" name="Text 47"/>
          <p:cNvSpPr/>
          <p:nvPr/>
        </p:nvSpPr>
        <p:spPr>
          <a:xfrm>
            <a:off x="8940998" y="6968490"/>
            <a:ext cx="8982492" cy="297180"/>
          </a:xfrm>
          <a:prstGeom prst="rect">
            <a:avLst/>
          </a:prstGeom>
          <a:noFill/>
          <a:ln/>
        </p:spPr>
        <p:txBody>
          <a:bodyPr wrap="square" lIns="25400" tIns="25400" rIns="25400" bIns="25400" rtlCol="0" anchor="t">
            <a:normAutofit/>
          </a:bodyPr>
          <a:lstStyle/>
          <a:p>
            <a:pPr algn="l" indent="0" marL="0">
              <a:buNone/>
            </a:pPr>
            <a:r>
              <a:rPr lang="en-US" sz="1800" b="1" spc="75" kern="0" dirty="0">
                <a:solidFill>
                  <a:srgbClr val="74121D"/>
                </a:solidFill>
                <a:latin typeface="Arial" pitchFamily="34" charset="0"/>
                <a:ea typeface="Arial" pitchFamily="34" charset="-122"/>
                <a:cs typeface="Arial" pitchFamily="34" charset="-120"/>
              </a:rPr>
              <a:t>FIRESTORE SECURITY RULES</a:t>
            </a:r>
            <a:endParaRPr lang="en-US" sz="1800" dirty="0"/>
          </a:p>
        </p:txBody>
      </p:sp>
      <p:sp>
        <p:nvSpPr>
          <p:cNvPr id="51" name="Text 48"/>
          <p:cNvSpPr/>
          <p:nvPr/>
        </p:nvSpPr>
        <p:spPr>
          <a:xfrm>
            <a:off x="8940998" y="7265670"/>
            <a:ext cx="8410879" cy="723900"/>
          </a:xfrm>
          <a:prstGeom prst="rect">
            <a:avLst/>
          </a:prstGeom>
          <a:noFill/>
          <a:ln/>
        </p:spPr>
        <p:txBody>
          <a:bodyPr wrap="square" lIns="25400" tIns="25400" rIns="25400" bIns="25400" rtlCol="0" anchor="t">
            <a:normAutofit/>
          </a:bodyPr>
          <a:lstStyle/>
          <a:p>
            <a:pPr algn="l" indent="0" marL="0">
              <a:lnSpc>
                <a:spcPct val="150000"/>
              </a:lnSpc>
              <a:buNone/>
            </a:pPr>
            <a:r>
              <a:rPr lang="en-US" sz="1800" b="1" dirty="0">
                <a:solidFill>
                  <a:srgbClr val="3A3A3A"/>
                </a:solidFill>
                <a:latin typeface="Arial" pitchFamily="34" charset="0"/>
                <a:ea typeface="Arial" pitchFamily="34" charset="-122"/>
                <a:cs typeface="Arial" pitchFamily="34" charset="-120"/>
              </a:rPr>
              <a:t>projects </a:t>
            </a:r>
            <a:pPr algn="l" indent="0" marL="0">
              <a:lnSpc>
                <a:spcPct val="150000"/>
              </a:lnSpc>
              <a:buNone/>
            </a:pPr>
            <a:r>
              <a:rPr lang="en-US" sz="1800" dirty="0">
                <a:solidFill>
                  <a:srgbClr val="3A3A3A"/>
                </a:solidFill>
                <a:latin typeface="Arial" pitchFamily="34" charset="0"/>
                <a:ea typeface="Arial" pitchFamily="34" charset="-122"/>
                <a:cs typeface="Arial" pitchFamily="34" charset="-120"/>
              </a:rPr>
              <a:t>– public read, admin write · </a:t>
            </a:r>
            <a:pPr algn="l" indent="0" marL="0">
              <a:lnSpc>
                <a:spcPct val="150000"/>
              </a:lnSpc>
              <a:buNone/>
            </a:pPr>
            <a:r>
              <a:rPr lang="en-US" sz="1800" b="1" dirty="0">
                <a:solidFill>
                  <a:srgbClr val="3A3A3A"/>
                </a:solidFill>
                <a:latin typeface="Arial" pitchFamily="34" charset="0"/>
                <a:ea typeface="Arial" pitchFamily="34" charset="-122"/>
                <a:cs typeface="Arial" pitchFamily="34" charset="-120"/>
              </a:rPr>
              <a:t>requests </a:t>
            </a:r>
            <a:pPr algn="l" indent="0" marL="0">
              <a:lnSpc>
                <a:spcPct val="150000"/>
              </a:lnSpc>
              <a:buNone/>
            </a:pPr>
            <a:r>
              <a:rPr lang="en-US" sz="1800" dirty="0">
                <a:solidFill>
                  <a:srgbClr val="3A3A3A"/>
                </a:solidFill>
                <a:latin typeface="Arial" pitchFamily="34" charset="0"/>
                <a:ea typeface="Arial" pitchFamily="34" charset="-122"/>
                <a:cs typeface="Arial" pitchFamily="34" charset="-120"/>
              </a:rPr>
              <a:t>– public create, admin read · </a:t>
            </a:r>
            <a:pPr algn="l" indent="0" marL="0">
              <a:lnSpc>
                <a:spcPct val="150000"/>
              </a:lnSpc>
              <a:buNone/>
            </a:pPr>
            <a:r>
              <a:rPr lang="en-US" sz="1800" b="1" dirty="0">
                <a:solidFill>
                  <a:srgbClr val="3A3A3A"/>
                </a:solidFill>
                <a:latin typeface="Arial" pitchFamily="34" charset="0"/>
                <a:ea typeface="Arial" pitchFamily="34" charset="-122"/>
                <a:cs typeface="Arial" pitchFamily="34" charset="-120"/>
              </a:rPr>
              <a:t>admins </a:t>
            </a:r>
            <a:pPr algn="l" indent="0" marL="0">
              <a:lnSpc>
                <a:spcPct val="150000"/>
              </a:lnSpc>
              <a:buNone/>
            </a:pPr>
            <a:r>
              <a:rPr lang="en-US" sz="1800" dirty="0">
                <a:solidFill>
                  <a:srgbClr val="3A3A3A"/>
                </a:solidFill>
                <a:latin typeface="Arial" pitchFamily="34" charset="0"/>
                <a:ea typeface="Arial" pitchFamily="34" charset="-122"/>
                <a:cs typeface="Arial" pitchFamily="34" charset="-120"/>
              </a:rPr>
              <a:t>– authenticated only</a:t>
            </a:r>
            <a:endParaRPr lang="en-US" sz="1800" dirty="0"/>
          </a:p>
        </p:txBody>
      </p:sp>
      <p:sp>
        <p:nvSpPr>
          <p:cNvPr id="52" name="Text 49"/>
          <p:cNvSpPr/>
          <p:nvPr/>
        </p:nvSpPr>
        <p:spPr>
          <a:xfrm>
            <a:off x="952500" y="9761220"/>
            <a:ext cx="4426744" cy="297180"/>
          </a:xfrm>
          <a:prstGeom prst="rect">
            <a:avLst/>
          </a:prstGeom>
          <a:noFill/>
          <a:ln/>
        </p:spPr>
        <p:txBody>
          <a:bodyPr wrap="square" lIns="25400" tIns="25400" rIns="25400" bIns="25400" rtlCol="0" anchor="t">
            <a:normAutofit/>
          </a:bodyPr>
          <a:lstStyle/>
          <a:p>
            <a:pPr algn="l" indent="0" marL="0">
              <a:buNone/>
            </a:pPr>
            <a:r>
              <a:rPr lang="en-US" sz="1800" spc="38" kern="0" dirty="0">
                <a:solidFill>
                  <a:srgbClr val="9A8C7E"/>
                </a:solidFill>
                <a:latin typeface="Arial" pitchFamily="34" charset="0"/>
                <a:ea typeface="Arial" pitchFamily="34" charset="-122"/>
                <a:cs typeface="Arial" pitchFamily="34" charset="-120"/>
              </a:rPr>
              <a:t>UATCC Web Application · PSM 1 Viva</a:t>
            </a:r>
            <a:endParaRPr lang="en-US" sz="1800" dirty="0"/>
          </a:p>
        </p:txBody>
      </p:sp>
      <p:sp>
        <p:nvSpPr>
          <p:cNvPr id="53" name="Text 50"/>
          <p:cNvSpPr/>
          <p:nvPr/>
        </p:nvSpPr>
        <p:spPr>
          <a:xfrm>
            <a:off x="16603027" y="9761220"/>
            <a:ext cx="808673" cy="297180"/>
          </a:xfrm>
          <a:prstGeom prst="rect">
            <a:avLst/>
          </a:prstGeom>
          <a:noFill/>
          <a:ln/>
        </p:spPr>
        <p:txBody>
          <a:bodyPr wrap="square" lIns="25400" tIns="25400" rIns="25400" bIns="25400" rtlCol="0" anchor="t">
            <a:normAutofit/>
          </a:bodyPr>
          <a:lstStyle/>
          <a:p>
            <a:pPr algn="l" indent="0" marL="0">
              <a:buNone/>
            </a:pPr>
            <a:r>
              <a:rPr lang="en-US" sz="1800" spc="38" kern="0" dirty="0">
                <a:solidFill>
                  <a:srgbClr val="9A8C7E"/>
                </a:solidFill>
                <a:latin typeface="Arial" pitchFamily="34" charset="0"/>
                <a:ea typeface="Arial" pitchFamily="34" charset="-122"/>
                <a:cs typeface="Arial" pitchFamily="34" charset="-120"/>
              </a:rPr>
              <a:t>09 / 14</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0" cy="133350"/>
          </a:xfrm>
          <a:prstGeom prst="rect">
            <a:avLst/>
          </a:prstGeom>
          <a:solidFill>
            <a:srgbClr val="74121D"/>
          </a:solidFill>
          <a:ln/>
        </p:spPr>
      </p:sp>
      <p:pic>
        <p:nvPicPr>
          <p:cNvPr id="3" name="Image 0" descr="preencoded.png">    </p:cNvPr>
          <p:cNvPicPr>
            <a:picLocks noChangeAspect="1"/>
          </p:cNvPicPr>
          <p:nvPr/>
        </p:nvPicPr>
        <p:blipFill>
          <a:blip r:embed="rId1"/>
          <a:stretch>
            <a:fillRect/>
          </a:stretch>
        </p:blipFill>
        <p:spPr>
          <a:xfrm>
            <a:off x="16004143" y="361950"/>
            <a:ext cx="1521857" cy="514350"/>
          </a:xfrm>
          <a:prstGeom prst="rect">
            <a:avLst/>
          </a:prstGeom>
        </p:spPr>
      </p:pic>
      <p:sp>
        <p:nvSpPr>
          <p:cNvPr id="4" name="Text 1"/>
          <p:cNvSpPr/>
          <p:nvPr/>
        </p:nvSpPr>
        <p:spPr>
          <a:xfrm>
            <a:off x="952500" y="1238250"/>
            <a:ext cx="18021300" cy="297180"/>
          </a:xfrm>
          <a:prstGeom prst="rect">
            <a:avLst/>
          </a:prstGeom>
          <a:noFill/>
          <a:ln/>
        </p:spPr>
        <p:txBody>
          <a:bodyPr wrap="square" lIns="25400" tIns="25400" rIns="25400" bIns="25400" rtlCol="0" anchor="t">
            <a:normAutofit/>
          </a:bodyPr>
          <a:lstStyle/>
          <a:p>
            <a:pPr algn="l" indent="0" marL="0">
              <a:buNone/>
            </a:pPr>
            <a:r>
              <a:rPr lang="en-US" sz="1800" b="1" spc="225" kern="0" dirty="0">
                <a:solidFill>
                  <a:srgbClr val="B19C7D"/>
                </a:solidFill>
                <a:latin typeface="Arial" pitchFamily="34" charset="0"/>
                <a:ea typeface="Arial" pitchFamily="34" charset="-122"/>
                <a:cs typeface="Arial" pitchFamily="34" charset="-120"/>
              </a:rPr>
              <a:t>CHAPTER 4.2 · FUNCTIONAL REQUIREMENTS</a:t>
            </a:r>
            <a:endParaRPr lang="en-US" sz="1800" dirty="0"/>
          </a:p>
        </p:txBody>
      </p:sp>
      <p:sp>
        <p:nvSpPr>
          <p:cNvPr id="5" name="Text 2"/>
          <p:cNvSpPr/>
          <p:nvPr/>
        </p:nvSpPr>
        <p:spPr>
          <a:xfrm>
            <a:off x="952500" y="1611630"/>
            <a:ext cx="18021300" cy="638175"/>
          </a:xfrm>
          <a:prstGeom prst="rect">
            <a:avLst/>
          </a:prstGeom>
          <a:noFill/>
          <a:ln/>
        </p:spPr>
        <p:txBody>
          <a:bodyPr wrap="square" lIns="25400" tIns="25400" rIns="25400" bIns="25400" rtlCol="0" anchor="t">
            <a:normAutofit/>
          </a:bodyPr>
          <a:lstStyle/>
          <a:p>
            <a:pPr algn="l" indent="0" marL="0">
              <a:lnSpc>
                <a:spcPct val="105000"/>
              </a:lnSpc>
              <a:buNone/>
            </a:pPr>
            <a:r>
              <a:rPr lang="en-US" sz="4500" b="1" spc="-37" kern="0" dirty="0">
                <a:solidFill>
                  <a:srgbClr val="74121D"/>
                </a:solidFill>
                <a:latin typeface="Arial" pitchFamily="34" charset="0"/>
                <a:ea typeface="Arial" pitchFamily="34" charset="-122"/>
                <a:cs typeface="Arial" pitchFamily="34" charset="-120"/>
              </a:rPr>
              <a:t>Core Features</a:t>
            </a:r>
            <a:endParaRPr lang="en-US" sz="4500" dirty="0"/>
          </a:p>
        </p:txBody>
      </p:sp>
      <p:sp>
        <p:nvSpPr>
          <p:cNvPr id="6" name="Shape 3"/>
          <p:cNvSpPr/>
          <p:nvPr/>
        </p:nvSpPr>
        <p:spPr>
          <a:xfrm>
            <a:off x="952500" y="2402205"/>
            <a:ext cx="857250" cy="47625"/>
          </a:xfrm>
          <a:prstGeom prst="roundRect">
            <a:avLst>
              <a:gd name="adj" fmla="val 50000"/>
            </a:avLst>
          </a:prstGeom>
          <a:solidFill>
            <a:srgbClr val="B19C7D"/>
          </a:solidFill>
          <a:ln/>
        </p:spPr>
      </p:sp>
      <p:sp>
        <p:nvSpPr>
          <p:cNvPr id="7" name="Shape 4"/>
          <p:cNvSpPr/>
          <p:nvPr/>
        </p:nvSpPr>
        <p:spPr>
          <a:xfrm>
            <a:off x="952500" y="2868930"/>
            <a:ext cx="5270421" cy="2792730"/>
          </a:xfrm>
          <a:prstGeom prst="rect">
            <a:avLst/>
          </a:prstGeom>
          <a:ln w="15240">
            <a:solidFill>
              <a:srgbClr val="EFE6DA"/>
            </a:solidFill>
            <a:prstDash val="solid"/>
          </a:ln>
        </p:spPr>
      </p:sp>
      <p:sp>
        <p:nvSpPr>
          <p:cNvPr id="8" name="Shape 5"/>
          <p:cNvSpPr/>
          <p:nvPr/>
        </p:nvSpPr>
        <p:spPr>
          <a:xfrm>
            <a:off x="1234440" y="3169920"/>
            <a:ext cx="438150" cy="438150"/>
          </a:xfrm>
          <a:prstGeom prst="roundRect">
            <a:avLst>
              <a:gd name="adj" fmla="val 17391"/>
            </a:avLst>
          </a:prstGeom>
          <a:solidFill>
            <a:srgbClr val="74121D"/>
          </a:solidFill>
          <a:ln/>
        </p:spPr>
      </p:sp>
      <p:sp>
        <p:nvSpPr>
          <p:cNvPr id="9" name="Text 6"/>
          <p:cNvSpPr/>
          <p:nvPr/>
        </p:nvSpPr>
        <p:spPr>
          <a:xfrm>
            <a:off x="1196340" y="3169920"/>
            <a:ext cx="514350" cy="476250"/>
          </a:xfrm>
          <a:prstGeom prst="rect">
            <a:avLst/>
          </a:prstGeom>
          <a:noFill/>
          <a:ln/>
        </p:spPr>
        <p:txBody>
          <a:bodyPr wrap="square" lIns="25400" tIns="25400" rIns="25400" bIns="25400" rtlCol="0" anchor="ctr">
            <a:normAutofit/>
          </a:bodyPr>
          <a:lstStyle/>
          <a:p>
            <a:pPr algn="ctr" indent="0" marL="0">
              <a:buNone/>
            </a:pPr>
            <a:r>
              <a:rPr lang="en-US" sz="1800" b="1" dirty="0">
                <a:solidFill>
                  <a:srgbClr val="FFFFFF"/>
                </a:solidFill>
                <a:latin typeface="Arial" pitchFamily="34" charset="0"/>
                <a:ea typeface="Arial" pitchFamily="34" charset="-122"/>
                <a:cs typeface="Arial" pitchFamily="34" charset="-120"/>
              </a:rPr>
              <a:t>01</a:t>
            </a:r>
            <a:endParaRPr lang="en-US" sz="1800" dirty="0"/>
          </a:p>
        </p:txBody>
      </p:sp>
      <p:sp>
        <p:nvSpPr>
          <p:cNvPr id="10" name="Text 7"/>
          <p:cNvSpPr/>
          <p:nvPr/>
        </p:nvSpPr>
        <p:spPr>
          <a:xfrm>
            <a:off x="1805940" y="3251835"/>
            <a:ext cx="3508915" cy="312420"/>
          </a:xfrm>
          <a:prstGeom prst="rect">
            <a:avLst/>
          </a:prstGeom>
          <a:noFill/>
          <a:ln/>
        </p:spPr>
        <p:txBody>
          <a:bodyPr wrap="square" lIns="25400" tIns="25400" rIns="25400" bIns="25400" rtlCol="0" anchor="t">
            <a:normAutofit/>
          </a:bodyPr>
          <a:lstStyle/>
          <a:p>
            <a:pPr algn="l" indent="0" marL="0">
              <a:buNone/>
            </a:pPr>
            <a:r>
              <a:rPr lang="en-US" sz="1875" b="1" dirty="0">
                <a:solidFill>
                  <a:srgbClr val="74121D"/>
                </a:solidFill>
                <a:latin typeface="Arial" pitchFamily="34" charset="0"/>
                <a:ea typeface="Arial" pitchFamily="34" charset="-122"/>
                <a:cs typeface="Arial" pitchFamily="34" charset="-120"/>
              </a:rPr>
              <a:t>Project &amp; Service Showcase</a:t>
            </a:r>
            <a:endParaRPr lang="en-US" sz="1875" dirty="0"/>
          </a:p>
        </p:txBody>
      </p:sp>
      <p:sp>
        <p:nvSpPr>
          <p:cNvPr id="11" name="Text 8"/>
          <p:cNvSpPr/>
          <p:nvPr/>
        </p:nvSpPr>
        <p:spPr>
          <a:xfrm>
            <a:off x="1234440" y="3741420"/>
            <a:ext cx="4847737" cy="1032510"/>
          </a:xfrm>
          <a:prstGeom prst="rect">
            <a:avLst/>
          </a:prstGeom>
          <a:noFill/>
          <a:ln/>
        </p:spPr>
        <p:txBody>
          <a:bodyPr wrap="square" lIns="25400" tIns="25400" rIns="25400" bIns="25400" rtlCol="0" anchor="t">
            <a:normAutofit/>
          </a:bodyPr>
          <a:lstStyle/>
          <a:p>
            <a:pPr algn="l" indent="0" marL="0">
              <a:lnSpc>
                <a:spcPct val="145000"/>
              </a:lnSpc>
              <a:buNone/>
            </a:pPr>
            <a:r>
              <a:rPr lang="en-US" sz="1800" dirty="0">
                <a:solidFill>
                  <a:srgbClr val="3A3A3A"/>
                </a:solidFill>
                <a:latin typeface="Arial" pitchFamily="34" charset="0"/>
                <a:ea typeface="Arial" pitchFamily="34" charset="-122"/>
                <a:cs typeface="Arial" pitchFamily="34" charset="-120"/>
              </a:rPr>
              <a:t>Dynamic listings rendered from Firestore — Residential, Commercial, Industrial categories.</a:t>
            </a:r>
            <a:endParaRPr lang="en-US" sz="1800" dirty="0"/>
          </a:p>
        </p:txBody>
      </p:sp>
      <p:sp>
        <p:nvSpPr>
          <p:cNvPr id="12" name="Text 9"/>
          <p:cNvSpPr/>
          <p:nvPr/>
        </p:nvSpPr>
        <p:spPr>
          <a:xfrm>
            <a:off x="1234440" y="4850130"/>
            <a:ext cx="5177195" cy="297180"/>
          </a:xfrm>
          <a:prstGeom prst="rect">
            <a:avLst/>
          </a:prstGeom>
          <a:noFill/>
          <a:ln/>
        </p:spPr>
        <p:txBody>
          <a:bodyPr wrap="square" lIns="25400" tIns="25400" rIns="25400" bIns="25400" rtlCol="0" anchor="t">
            <a:normAutofit/>
          </a:bodyPr>
          <a:lstStyle/>
          <a:p>
            <a:pPr algn="l" indent="0" marL="0">
              <a:buNone/>
            </a:pPr>
            <a:r>
              <a:rPr lang="en-US" sz="1800" b="1" spc="75" kern="0" dirty="0">
                <a:solidFill>
                  <a:srgbClr val="B19C7D"/>
                </a:solidFill>
                <a:latin typeface="Arial" pitchFamily="34" charset="0"/>
                <a:ea typeface="Arial" pitchFamily="34" charset="-122"/>
                <a:cs typeface="Arial" pitchFamily="34" charset="-120"/>
              </a:rPr>
              <a:t>FR1 · FR8</a:t>
            </a:r>
            <a:endParaRPr lang="en-US" sz="1800" dirty="0"/>
          </a:p>
        </p:txBody>
      </p:sp>
      <p:sp>
        <p:nvSpPr>
          <p:cNvPr id="13" name="Shape 10"/>
          <p:cNvSpPr/>
          <p:nvPr/>
        </p:nvSpPr>
        <p:spPr>
          <a:xfrm>
            <a:off x="6508671" y="2868930"/>
            <a:ext cx="5270540" cy="2792730"/>
          </a:xfrm>
          <a:prstGeom prst="rect">
            <a:avLst/>
          </a:prstGeom>
          <a:ln w="15240">
            <a:solidFill>
              <a:srgbClr val="EFE6DA"/>
            </a:solidFill>
            <a:prstDash val="solid"/>
          </a:ln>
        </p:spPr>
      </p:sp>
      <p:sp>
        <p:nvSpPr>
          <p:cNvPr id="14" name="Shape 11"/>
          <p:cNvSpPr/>
          <p:nvPr/>
        </p:nvSpPr>
        <p:spPr>
          <a:xfrm>
            <a:off x="6790611" y="3169920"/>
            <a:ext cx="438150" cy="438150"/>
          </a:xfrm>
          <a:prstGeom prst="roundRect">
            <a:avLst>
              <a:gd name="adj" fmla="val 17391"/>
            </a:avLst>
          </a:prstGeom>
          <a:solidFill>
            <a:srgbClr val="74121D"/>
          </a:solidFill>
          <a:ln/>
        </p:spPr>
      </p:sp>
      <p:sp>
        <p:nvSpPr>
          <p:cNvPr id="15" name="Text 12"/>
          <p:cNvSpPr/>
          <p:nvPr/>
        </p:nvSpPr>
        <p:spPr>
          <a:xfrm>
            <a:off x="6752511" y="3169920"/>
            <a:ext cx="514350" cy="476250"/>
          </a:xfrm>
          <a:prstGeom prst="rect">
            <a:avLst/>
          </a:prstGeom>
          <a:noFill/>
          <a:ln/>
        </p:spPr>
        <p:txBody>
          <a:bodyPr wrap="square" lIns="25400" tIns="25400" rIns="25400" bIns="25400" rtlCol="0" anchor="ctr">
            <a:normAutofit/>
          </a:bodyPr>
          <a:lstStyle/>
          <a:p>
            <a:pPr algn="ctr" indent="0" marL="0">
              <a:buNone/>
            </a:pPr>
            <a:r>
              <a:rPr lang="en-US" sz="1800" b="1" dirty="0">
                <a:solidFill>
                  <a:srgbClr val="FFFFFF"/>
                </a:solidFill>
                <a:latin typeface="Arial" pitchFamily="34" charset="0"/>
                <a:ea typeface="Arial" pitchFamily="34" charset="-122"/>
                <a:cs typeface="Arial" pitchFamily="34" charset="-120"/>
              </a:rPr>
              <a:t>02</a:t>
            </a:r>
            <a:endParaRPr lang="en-US" sz="1800" dirty="0"/>
          </a:p>
        </p:txBody>
      </p:sp>
      <p:sp>
        <p:nvSpPr>
          <p:cNvPr id="16" name="Text 13"/>
          <p:cNvSpPr/>
          <p:nvPr/>
        </p:nvSpPr>
        <p:spPr>
          <a:xfrm>
            <a:off x="7362111" y="3251835"/>
            <a:ext cx="3158311" cy="312420"/>
          </a:xfrm>
          <a:prstGeom prst="rect">
            <a:avLst/>
          </a:prstGeom>
          <a:noFill/>
          <a:ln/>
        </p:spPr>
        <p:txBody>
          <a:bodyPr wrap="square" lIns="25400" tIns="25400" rIns="25400" bIns="25400" rtlCol="0" anchor="t">
            <a:normAutofit/>
          </a:bodyPr>
          <a:lstStyle/>
          <a:p>
            <a:pPr algn="l" indent="0" marL="0">
              <a:buNone/>
            </a:pPr>
            <a:r>
              <a:rPr lang="en-US" sz="1875" b="1" dirty="0">
                <a:solidFill>
                  <a:srgbClr val="74121D"/>
                </a:solidFill>
                <a:latin typeface="Arial" pitchFamily="34" charset="0"/>
                <a:ea typeface="Arial" pitchFamily="34" charset="-122"/>
                <a:cs typeface="Arial" pitchFamily="34" charset="-120"/>
              </a:rPr>
              <a:t>Structured Request Form</a:t>
            </a:r>
            <a:endParaRPr lang="en-US" sz="1875" dirty="0"/>
          </a:p>
        </p:txBody>
      </p:sp>
      <p:sp>
        <p:nvSpPr>
          <p:cNvPr id="17" name="Text 14"/>
          <p:cNvSpPr/>
          <p:nvPr/>
        </p:nvSpPr>
        <p:spPr>
          <a:xfrm>
            <a:off x="6790611" y="3741420"/>
            <a:ext cx="4847860" cy="1032510"/>
          </a:xfrm>
          <a:prstGeom prst="rect">
            <a:avLst/>
          </a:prstGeom>
          <a:noFill/>
          <a:ln/>
        </p:spPr>
        <p:txBody>
          <a:bodyPr wrap="square" lIns="25400" tIns="25400" rIns="25400" bIns="25400" rtlCol="0" anchor="t">
            <a:normAutofit/>
          </a:bodyPr>
          <a:lstStyle/>
          <a:p>
            <a:pPr algn="l" indent="0" marL="0">
              <a:lnSpc>
                <a:spcPct val="145000"/>
              </a:lnSpc>
              <a:buNone/>
            </a:pPr>
            <a:r>
              <a:rPr lang="en-US" sz="1800" dirty="0">
                <a:solidFill>
                  <a:srgbClr val="3A3A3A"/>
                </a:solidFill>
                <a:latin typeface="Arial" pitchFamily="34" charset="0"/>
                <a:ea typeface="Arial" pitchFamily="34" charset="-122"/>
                <a:cs typeface="Arial" pitchFamily="34" charset="-120"/>
              </a:rPr>
              <a:t>Validated multi-field form replaces unstructured chat — name, phone, service type, location, message.</a:t>
            </a:r>
            <a:endParaRPr lang="en-US" sz="1800" dirty="0"/>
          </a:p>
        </p:txBody>
      </p:sp>
      <p:sp>
        <p:nvSpPr>
          <p:cNvPr id="18" name="Text 15"/>
          <p:cNvSpPr/>
          <p:nvPr/>
        </p:nvSpPr>
        <p:spPr>
          <a:xfrm>
            <a:off x="6790611" y="4850130"/>
            <a:ext cx="5177326" cy="297180"/>
          </a:xfrm>
          <a:prstGeom prst="rect">
            <a:avLst/>
          </a:prstGeom>
          <a:noFill/>
          <a:ln/>
        </p:spPr>
        <p:txBody>
          <a:bodyPr wrap="square" lIns="25400" tIns="25400" rIns="25400" bIns="25400" rtlCol="0" anchor="t">
            <a:normAutofit/>
          </a:bodyPr>
          <a:lstStyle/>
          <a:p>
            <a:pPr algn="l" indent="0" marL="0">
              <a:buNone/>
            </a:pPr>
            <a:r>
              <a:rPr lang="en-US" sz="1800" b="1" spc="75" kern="0" dirty="0">
                <a:solidFill>
                  <a:srgbClr val="B19C7D"/>
                </a:solidFill>
                <a:latin typeface="Arial" pitchFamily="34" charset="0"/>
                <a:ea typeface="Arial" pitchFamily="34" charset="-122"/>
                <a:cs typeface="Arial" pitchFamily="34" charset="-120"/>
              </a:rPr>
              <a:t>FR2 · FR9</a:t>
            </a:r>
            <a:endParaRPr lang="en-US" sz="1800" dirty="0"/>
          </a:p>
        </p:txBody>
      </p:sp>
      <p:sp>
        <p:nvSpPr>
          <p:cNvPr id="19" name="Shape 16"/>
          <p:cNvSpPr/>
          <p:nvPr/>
        </p:nvSpPr>
        <p:spPr>
          <a:xfrm>
            <a:off x="12064960" y="2868930"/>
            <a:ext cx="5270540" cy="2792730"/>
          </a:xfrm>
          <a:prstGeom prst="rect">
            <a:avLst/>
          </a:prstGeom>
          <a:ln w="15240">
            <a:solidFill>
              <a:srgbClr val="EFE6DA"/>
            </a:solidFill>
            <a:prstDash val="solid"/>
          </a:ln>
        </p:spPr>
      </p:sp>
      <p:sp>
        <p:nvSpPr>
          <p:cNvPr id="20" name="Shape 17"/>
          <p:cNvSpPr/>
          <p:nvPr/>
        </p:nvSpPr>
        <p:spPr>
          <a:xfrm>
            <a:off x="12346901" y="3169920"/>
            <a:ext cx="438150" cy="438150"/>
          </a:xfrm>
          <a:prstGeom prst="roundRect">
            <a:avLst>
              <a:gd name="adj" fmla="val 17391"/>
            </a:avLst>
          </a:prstGeom>
          <a:solidFill>
            <a:srgbClr val="74121D"/>
          </a:solidFill>
          <a:ln/>
        </p:spPr>
      </p:sp>
      <p:sp>
        <p:nvSpPr>
          <p:cNvPr id="21" name="Text 18"/>
          <p:cNvSpPr/>
          <p:nvPr/>
        </p:nvSpPr>
        <p:spPr>
          <a:xfrm>
            <a:off x="12308801" y="3169920"/>
            <a:ext cx="514350" cy="476250"/>
          </a:xfrm>
          <a:prstGeom prst="rect">
            <a:avLst/>
          </a:prstGeom>
          <a:noFill/>
          <a:ln/>
        </p:spPr>
        <p:txBody>
          <a:bodyPr wrap="square" lIns="25400" tIns="25400" rIns="25400" bIns="25400" rtlCol="0" anchor="ctr">
            <a:normAutofit/>
          </a:bodyPr>
          <a:lstStyle/>
          <a:p>
            <a:pPr algn="ctr" indent="0" marL="0">
              <a:buNone/>
            </a:pPr>
            <a:r>
              <a:rPr lang="en-US" sz="1800" b="1" dirty="0">
                <a:solidFill>
                  <a:srgbClr val="FFFFFF"/>
                </a:solidFill>
                <a:latin typeface="Arial" pitchFamily="34" charset="0"/>
                <a:ea typeface="Arial" pitchFamily="34" charset="-122"/>
                <a:cs typeface="Arial" pitchFamily="34" charset="-120"/>
              </a:rPr>
              <a:t>03</a:t>
            </a:r>
            <a:endParaRPr lang="en-US" sz="1800" dirty="0"/>
          </a:p>
        </p:txBody>
      </p:sp>
      <p:sp>
        <p:nvSpPr>
          <p:cNvPr id="22" name="Text 19"/>
          <p:cNvSpPr/>
          <p:nvPr/>
        </p:nvSpPr>
        <p:spPr>
          <a:xfrm>
            <a:off x="12918401" y="3251835"/>
            <a:ext cx="2444401" cy="312420"/>
          </a:xfrm>
          <a:prstGeom prst="rect">
            <a:avLst/>
          </a:prstGeom>
          <a:noFill/>
          <a:ln/>
        </p:spPr>
        <p:txBody>
          <a:bodyPr wrap="square" lIns="25400" tIns="25400" rIns="25400" bIns="25400" rtlCol="0" anchor="t">
            <a:normAutofit/>
          </a:bodyPr>
          <a:lstStyle/>
          <a:p>
            <a:pPr algn="l" indent="0" marL="0">
              <a:buNone/>
            </a:pPr>
            <a:r>
              <a:rPr lang="en-US" sz="1875" b="1" dirty="0">
                <a:solidFill>
                  <a:srgbClr val="74121D"/>
                </a:solidFill>
                <a:latin typeface="Arial" pitchFamily="34" charset="0"/>
                <a:ea typeface="Arial" pitchFamily="34" charset="-122"/>
                <a:cs typeface="Arial" pitchFamily="34" charset="-120"/>
              </a:rPr>
              <a:t>WhatsApp Hand-off</a:t>
            </a:r>
            <a:endParaRPr lang="en-US" sz="1875" dirty="0"/>
          </a:p>
        </p:txBody>
      </p:sp>
      <p:sp>
        <p:nvSpPr>
          <p:cNvPr id="23" name="Text 20"/>
          <p:cNvSpPr/>
          <p:nvPr/>
        </p:nvSpPr>
        <p:spPr>
          <a:xfrm>
            <a:off x="12346901" y="3741420"/>
            <a:ext cx="4847860" cy="701040"/>
          </a:xfrm>
          <a:prstGeom prst="rect">
            <a:avLst/>
          </a:prstGeom>
          <a:noFill/>
          <a:ln/>
        </p:spPr>
        <p:txBody>
          <a:bodyPr wrap="square" lIns="25400" tIns="25400" rIns="25400" bIns="25400" rtlCol="0" anchor="t">
            <a:normAutofit/>
          </a:bodyPr>
          <a:lstStyle/>
          <a:p>
            <a:pPr algn="l" indent="0" marL="0">
              <a:lnSpc>
                <a:spcPct val="145000"/>
              </a:lnSpc>
              <a:buNone/>
            </a:pPr>
            <a:r>
              <a:rPr lang="en-US" sz="1800" dirty="0">
                <a:solidFill>
                  <a:srgbClr val="3A3A3A"/>
                </a:solidFill>
                <a:latin typeface="Arial" pitchFamily="34" charset="0"/>
                <a:ea typeface="Arial" pitchFamily="34" charset="-122"/>
                <a:cs typeface="Arial" pitchFamily="34" charset="-120"/>
              </a:rPr>
              <a:t>Submission auto-generates a pre-filled wa.me message and opens the company chat.</a:t>
            </a:r>
            <a:endParaRPr lang="en-US" sz="1800" dirty="0"/>
          </a:p>
        </p:txBody>
      </p:sp>
      <p:sp>
        <p:nvSpPr>
          <p:cNvPr id="24" name="Text 21"/>
          <p:cNvSpPr/>
          <p:nvPr/>
        </p:nvSpPr>
        <p:spPr>
          <a:xfrm>
            <a:off x="12346901" y="4518660"/>
            <a:ext cx="5177326" cy="297180"/>
          </a:xfrm>
          <a:prstGeom prst="rect">
            <a:avLst/>
          </a:prstGeom>
          <a:noFill/>
          <a:ln/>
        </p:spPr>
        <p:txBody>
          <a:bodyPr wrap="square" lIns="25400" tIns="25400" rIns="25400" bIns="25400" rtlCol="0" anchor="t">
            <a:normAutofit/>
          </a:bodyPr>
          <a:lstStyle/>
          <a:p>
            <a:pPr algn="l" indent="0" marL="0">
              <a:buNone/>
            </a:pPr>
            <a:r>
              <a:rPr lang="en-US" sz="1800" b="1" spc="75" kern="0" dirty="0">
                <a:solidFill>
                  <a:srgbClr val="B19C7D"/>
                </a:solidFill>
                <a:latin typeface="Arial" pitchFamily="34" charset="0"/>
                <a:ea typeface="Arial" pitchFamily="34" charset="-122"/>
                <a:cs typeface="Arial" pitchFamily="34" charset="-120"/>
              </a:rPr>
              <a:t>FR3 · FR4</a:t>
            </a:r>
            <a:endParaRPr lang="en-US" sz="1800" dirty="0"/>
          </a:p>
        </p:txBody>
      </p:sp>
      <p:sp>
        <p:nvSpPr>
          <p:cNvPr id="25" name="Shape 22"/>
          <p:cNvSpPr/>
          <p:nvPr/>
        </p:nvSpPr>
        <p:spPr>
          <a:xfrm>
            <a:off x="952500" y="5947410"/>
            <a:ext cx="5270421" cy="2792730"/>
          </a:xfrm>
          <a:prstGeom prst="rect">
            <a:avLst/>
          </a:prstGeom>
          <a:ln w="15240">
            <a:solidFill>
              <a:srgbClr val="EFE6DA"/>
            </a:solidFill>
            <a:prstDash val="solid"/>
          </a:ln>
        </p:spPr>
      </p:sp>
      <p:sp>
        <p:nvSpPr>
          <p:cNvPr id="26" name="Shape 23"/>
          <p:cNvSpPr/>
          <p:nvPr/>
        </p:nvSpPr>
        <p:spPr>
          <a:xfrm>
            <a:off x="1234440" y="6248400"/>
            <a:ext cx="438150" cy="438150"/>
          </a:xfrm>
          <a:prstGeom prst="roundRect">
            <a:avLst>
              <a:gd name="adj" fmla="val 17391"/>
            </a:avLst>
          </a:prstGeom>
          <a:solidFill>
            <a:srgbClr val="74121D"/>
          </a:solidFill>
          <a:ln/>
        </p:spPr>
      </p:sp>
      <p:sp>
        <p:nvSpPr>
          <p:cNvPr id="27" name="Text 24"/>
          <p:cNvSpPr/>
          <p:nvPr/>
        </p:nvSpPr>
        <p:spPr>
          <a:xfrm>
            <a:off x="1196340" y="6248400"/>
            <a:ext cx="514350" cy="476250"/>
          </a:xfrm>
          <a:prstGeom prst="rect">
            <a:avLst/>
          </a:prstGeom>
          <a:noFill/>
          <a:ln/>
        </p:spPr>
        <p:txBody>
          <a:bodyPr wrap="square" lIns="25400" tIns="25400" rIns="25400" bIns="25400" rtlCol="0" anchor="ctr">
            <a:normAutofit/>
          </a:bodyPr>
          <a:lstStyle/>
          <a:p>
            <a:pPr algn="ctr" indent="0" marL="0">
              <a:buNone/>
            </a:pPr>
            <a:r>
              <a:rPr lang="en-US" sz="1800" b="1" dirty="0">
                <a:solidFill>
                  <a:srgbClr val="FFFFFF"/>
                </a:solidFill>
                <a:latin typeface="Arial" pitchFamily="34" charset="0"/>
                <a:ea typeface="Arial" pitchFamily="34" charset="-122"/>
                <a:cs typeface="Arial" pitchFamily="34" charset="-120"/>
              </a:rPr>
              <a:t>04</a:t>
            </a:r>
            <a:endParaRPr lang="en-US" sz="1800" dirty="0"/>
          </a:p>
        </p:txBody>
      </p:sp>
      <p:sp>
        <p:nvSpPr>
          <p:cNvPr id="28" name="Text 25"/>
          <p:cNvSpPr/>
          <p:nvPr/>
        </p:nvSpPr>
        <p:spPr>
          <a:xfrm>
            <a:off x="1805940" y="6330315"/>
            <a:ext cx="2474000" cy="312420"/>
          </a:xfrm>
          <a:prstGeom prst="rect">
            <a:avLst/>
          </a:prstGeom>
          <a:noFill/>
          <a:ln/>
        </p:spPr>
        <p:txBody>
          <a:bodyPr wrap="square" lIns="25400" tIns="25400" rIns="25400" bIns="25400" rtlCol="0" anchor="t">
            <a:normAutofit/>
          </a:bodyPr>
          <a:lstStyle/>
          <a:p>
            <a:pPr algn="l" indent="0" marL="0">
              <a:buNone/>
            </a:pPr>
            <a:r>
              <a:rPr lang="en-US" sz="1875" b="1" dirty="0">
                <a:solidFill>
                  <a:srgbClr val="74121D"/>
                </a:solidFill>
                <a:latin typeface="Arial" pitchFamily="34" charset="0"/>
                <a:ea typeface="Arial" pitchFamily="34" charset="-122"/>
                <a:cs typeface="Arial" pitchFamily="34" charset="-120"/>
              </a:rPr>
              <a:t>Rule-based Chatbot</a:t>
            </a:r>
            <a:endParaRPr lang="en-US" sz="1875" dirty="0"/>
          </a:p>
        </p:txBody>
      </p:sp>
      <p:sp>
        <p:nvSpPr>
          <p:cNvPr id="29" name="Text 26"/>
          <p:cNvSpPr/>
          <p:nvPr/>
        </p:nvSpPr>
        <p:spPr>
          <a:xfrm>
            <a:off x="1234440" y="6819900"/>
            <a:ext cx="4847737" cy="1032510"/>
          </a:xfrm>
          <a:prstGeom prst="rect">
            <a:avLst/>
          </a:prstGeom>
          <a:noFill/>
          <a:ln/>
        </p:spPr>
        <p:txBody>
          <a:bodyPr wrap="square" lIns="25400" tIns="25400" rIns="25400" bIns="25400" rtlCol="0" anchor="t">
            <a:normAutofit/>
          </a:bodyPr>
          <a:lstStyle/>
          <a:p>
            <a:pPr algn="l" indent="0" marL="0">
              <a:lnSpc>
                <a:spcPct val="145000"/>
              </a:lnSpc>
              <a:buNone/>
            </a:pPr>
            <a:r>
              <a:rPr lang="en-US" sz="1800" dirty="0">
                <a:solidFill>
                  <a:srgbClr val="3A3A3A"/>
                </a:solidFill>
                <a:latin typeface="Arial" pitchFamily="34" charset="0"/>
                <a:ea typeface="Arial" pitchFamily="34" charset="-122"/>
                <a:cs typeface="Arial" pitchFamily="34" charset="-120"/>
              </a:rPr>
              <a:t>Six intents — greeting, services, projects, contact, location, request — with WhatsApp fallback.</a:t>
            </a:r>
            <a:endParaRPr lang="en-US" sz="1800" dirty="0"/>
          </a:p>
        </p:txBody>
      </p:sp>
      <p:sp>
        <p:nvSpPr>
          <p:cNvPr id="30" name="Text 27"/>
          <p:cNvSpPr/>
          <p:nvPr/>
        </p:nvSpPr>
        <p:spPr>
          <a:xfrm>
            <a:off x="1234440" y="7928610"/>
            <a:ext cx="5177195" cy="297180"/>
          </a:xfrm>
          <a:prstGeom prst="rect">
            <a:avLst/>
          </a:prstGeom>
          <a:noFill/>
          <a:ln/>
        </p:spPr>
        <p:txBody>
          <a:bodyPr wrap="square" lIns="25400" tIns="25400" rIns="25400" bIns="25400" rtlCol="0" anchor="t">
            <a:normAutofit/>
          </a:bodyPr>
          <a:lstStyle/>
          <a:p>
            <a:pPr algn="l" indent="0" marL="0">
              <a:buNone/>
            </a:pPr>
            <a:r>
              <a:rPr lang="en-US" sz="1800" b="1" spc="75" kern="0" dirty="0">
                <a:solidFill>
                  <a:srgbClr val="B19C7D"/>
                </a:solidFill>
                <a:latin typeface="Arial" pitchFamily="34" charset="0"/>
                <a:ea typeface="Arial" pitchFamily="34" charset="-122"/>
                <a:cs typeface="Arial" pitchFamily="34" charset="-120"/>
              </a:rPr>
              <a:t>FR5</a:t>
            </a:r>
            <a:endParaRPr lang="en-US" sz="1800" dirty="0"/>
          </a:p>
        </p:txBody>
      </p:sp>
      <p:sp>
        <p:nvSpPr>
          <p:cNvPr id="31" name="Shape 28"/>
          <p:cNvSpPr/>
          <p:nvPr/>
        </p:nvSpPr>
        <p:spPr>
          <a:xfrm>
            <a:off x="6508671" y="5947410"/>
            <a:ext cx="5270540" cy="2792730"/>
          </a:xfrm>
          <a:prstGeom prst="rect">
            <a:avLst/>
          </a:prstGeom>
          <a:ln w="15240">
            <a:solidFill>
              <a:srgbClr val="EFE6DA"/>
            </a:solidFill>
            <a:prstDash val="solid"/>
          </a:ln>
        </p:spPr>
      </p:sp>
      <p:sp>
        <p:nvSpPr>
          <p:cNvPr id="32" name="Shape 29"/>
          <p:cNvSpPr/>
          <p:nvPr/>
        </p:nvSpPr>
        <p:spPr>
          <a:xfrm>
            <a:off x="6790611" y="6248400"/>
            <a:ext cx="438150" cy="438150"/>
          </a:xfrm>
          <a:prstGeom prst="roundRect">
            <a:avLst>
              <a:gd name="adj" fmla="val 17391"/>
            </a:avLst>
          </a:prstGeom>
          <a:solidFill>
            <a:srgbClr val="74121D"/>
          </a:solidFill>
          <a:ln/>
        </p:spPr>
      </p:sp>
      <p:sp>
        <p:nvSpPr>
          <p:cNvPr id="33" name="Text 30"/>
          <p:cNvSpPr/>
          <p:nvPr/>
        </p:nvSpPr>
        <p:spPr>
          <a:xfrm>
            <a:off x="6752511" y="6248400"/>
            <a:ext cx="514350" cy="476250"/>
          </a:xfrm>
          <a:prstGeom prst="rect">
            <a:avLst/>
          </a:prstGeom>
          <a:noFill/>
          <a:ln/>
        </p:spPr>
        <p:txBody>
          <a:bodyPr wrap="square" lIns="25400" tIns="25400" rIns="25400" bIns="25400" rtlCol="0" anchor="ctr">
            <a:normAutofit/>
          </a:bodyPr>
          <a:lstStyle/>
          <a:p>
            <a:pPr algn="ctr" indent="0" marL="0">
              <a:buNone/>
            </a:pPr>
            <a:r>
              <a:rPr lang="en-US" sz="1800" b="1" dirty="0">
                <a:solidFill>
                  <a:srgbClr val="FFFFFF"/>
                </a:solidFill>
                <a:latin typeface="Arial" pitchFamily="34" charset="0"/>
                <a:ea typeface="Arial" pitchFamily="34" charset="-122"/>
                <a:cs typeface="Arial" pitchFamily="34" charset="-120"/>
              </a:rPr>
              <a:t>05</a:t>
            </a:r>
            <a:endParaRPr lang="en-US" sz="1800" dirty="0"/>
          </a:p>
        </p:txBody>
      </p:sp>
      <p:sp>
        <p:nvSpPr>
          <p:cNvPr id="34" name="Text 31"/>
          <p:cNvSpPr/>
          <p:nvPr/>
        </p:nvSpPr>
        <p:spPr>
          <a:xfrm>
            <a:off x="7362111" y="6330315"/>
            <a:ext cx="2255806" cy="312420"/>
          </a:xfrm>
          <a:prstGeom prst="rect">
            <a:avLst/>
          </a:prstGeom>
          <a:noFill/>
          <a:ln/>
        </p:spPr>
        <p:txBody>
          <a:bodyPr wrap="square" lIns="25400" tIns="25400" rIns="25400" bIns="25400" rtlCol="0" anchor="t">
            <a:normAutofit/>
          </a:bodyPr>
          <a:lstStyle/>
          <a:p>
            <a:pPr algn="l" indent="0" marL="0">
              <a:buNone/>
            </a:pPr>
            <a:r>
              <a:rPr lang="en-US" sz="1875" b="1" dirty="0">
                <a:solidFill>
                  <a:srgbClr val="74121D"/>
                </a:solidFill>
                <a:latin typeface="Arial" pitchFamily="34" charset="0"/>
                <a:ea typeface="Arial" pitchFamily="34" charset="-122"/>
                <a:cs typeface="Arial" pitchFamily="34" charset="-120"/>
              </a:rPr>
              <a:t>Admin Dashboard</a:t>
            </a:r>
            <a:endParaRPr lang="en-US" sz="1875" dirty="0"/>
          </a:p>
        </p:txBody>
      </p:sp>
      <p:sp>
        <p:nvSpPr>
          <p:cNvPr id="35" name="Text 32"/>
          <p:cNvSpPr/>
          <p:nvPr/>
        </p:nvSpPr>
        <p:spPr>
          <a:xfrm>
            <a:off x="6790611" y="6819900"/>
            <a:ext cx="4847860" cy="701040"/>
          </a:xfrm>
          <a:prstGeom prst="rect">
            <a:avLst/>
          </a:prstGeom>
          <a:noFill/>
          <a:ln/>
        </p:spPr>
        <p:txBody>
          <a:bodyPr wrap="square" lIns="25400" tIns="25400" rIns="25400" bIns="25400" rtlCol="0" anchor="t">
            <a:normAutofit/>
          </a:bodyPr>
          <a:lstStyle/>
          <a:p>
            <a:pPr algn="l" indent="0" marL="0">
              <a:lnSpc>
                <a:spcPct val="145000"/>
              </a:lnSpc>
              <a:buNone/>
            </a:pPr>
            <a:r>
              <a:rPr lang="en-US" sz="1800" dirty="0">
                <a:solidFill>
                  <a:srgbClr val="3A3A3A"/>
                </a:solidFill>
                <a:latin typeface="Arial" pitchFamily="34" charset="0"/>
                <a:ea typeface="Arial" pitchFamily="34" charset="-122"/>
                <a:cs typeface="Arial" pitchFamily="34" charset="-120"/>
              </a:rPr>
              <a:t>Secure login, full CRUD over projects, and management of website content.</a:t>
            </a:r>
            <a:endParaRPr lang="en-US" sz="1800" dirty="0"/>
          </a:p>
        </p:txBody>
      </p:sp>
      <p:sp>
        <p:nvSpPr>
          <p:cNvPr id="36" name="Text 33"/>
          <p:cNvSpPr/>
          <p:nvPr/>
        </p:nvSpPr>
        <p:spPr>
          <a:xfrm>
            <a:off x="6790611" y="7597140"/>
            <a:ext cx="5177326" cy="297180"/>
          </a:xfrm>
          <a:prstGeom prst="rect">
            <a:avLst/>
          </a:prstGeom>
          <a:noFill/>
          <a:ln/>
        </p:spPr>
        <p:txBody>
          <a:bodyPr wrap="square" lIns="25400" tIns="25400" rIns="25400" bIns="25400" rtlCol="0" anchor="t">
            <a:normAutofit/>
          </a:bodyPr>
          <a:lstStyle/>
          <a:p>
            <a:pPr algn="l" indent="0" marL="0">
              <a:buNone/>
            </a:pPr>
            <a:r>
              <a:rPr lang="en-US" sz="1800" b="1" spc="75" kern="0" dirty="0">
                <a:solidFill>
                  <a:srgbClr val="B19C7D"/>
                </a:solidFill>
                <a:latin typeface="Arial" pitchFamily="34" charset="0"/>
                <a:ea typeface="Arial" pitchFamily="34" charset="-122"/>
                <a:cs typeface="Arial" pitchFamily="34" charset="-120"/>
              </a:rPr>
              <a:t>FR6 · FR7 · FR10</a:t>
            </a:r>
            <a:endParaRPr lang="en-US" sz="1800" dirty="0"/>
          </a:p>
        </p:txBody>
      </p:sp>
      <p:sp>
        <p:nvSpPr>
          <p:cNvPr id="37" name="Shape 34"/>
          <p:cNvSpPr/>
          <p:nvPr/>
        </p:nvSpPr>
        <p:spPr>
          <a:xfrm>
            <a:off x="12064960" y="5947410"/>
            <a:ext cx="5270540" cy="2792730"/>
          </a:xfrm>
          <a:prstGeom prst="rect">
            <a:avLst/>
          </a:prstGeom>
          <a:solidFill>
            <a:srgbClr val="FBF6EE"/>
          </a:solidFill>
          <a:ln w="15240">
            <a:solidFill>
              <a:srgbClr val="EFE6DA"/>
            </a:solidFill>
            <a:prstDash val="solid"/>
          </a:ln>
        </p:spPr>
      </p:sp>
      <p:sp>
        <p:nvSpPr>
          <p:cNvPr id="38" name="Shape 35"/>
          <p:cNvSpPr/>
          <p:nvPr/>
        </p:nvSpPr>
        <p:spPr>
          <a:xfrm>
            <a:off x="12346901" y="6248400"/>
            <a:ext cx="438150" cy="438150"/>
          </a:xfrm>
          <a:prstGeom prst="roundRect">
            <a:avLst>
              <a:gd name="adj" fmla="val 17391"/>
            </a:avLst>
          </a:prstGeom>
          <a:solidFill>
            <a:srgbClr val="74121D"/>
          </a:solidFill>
          <a:ln/>
        </p:spPr>
      </p:sp>
      <p:sp>
        <p:nvSpPr>
          <p:cNvPr id="39" name="Text 36"/>
          <p:cNvSpPr/>
          <p:nvPr/>
        </p:nvSpPr>
        <p:spPr>
          <a:xfrm>
            <a:off x="12308801" y="6248400"/>
            <a:ext cx="514350" cy="476250"/>
          </a:xfrm>
          <a:prstGeom prst="rect">
            <a:avLst/>
          </a:prstGeom>
          <a:noFill/>
          <a:ln/>
        </p:spPr>
        <p:txBody>
          <a:bodyPr wrap="square" lIns="25400" tIns="25400" rIns="25400" bIns="25400" rtlCol="0" anchor="ctr">
            <a:normAutofit/>
          </a:bodyPr>
          <a:lstStyle/>
          <a:p>
            <a:pPr algn="ctr" indent="0" marL="0">
              <a:buNone/>
            </a:pPr>
            <a:r>
              <a:rPr lang="en-US" sz="1800" b="1" dirty="0">
                <a:solidFill>
                  <a:srgbClr val="FFFFFF"/>
                </a:solidFill>
                <a:latin typeface="Arial" pitchFamily="34" charset="0"/>
                <a:ea typeface="Arial" pitchFamily="34" charset="-122"/>
                <a:cs typeface="Arial" pitchFamily="34" charset="-120"/>
              </a:rPr>
              <a:t>06</a:t>
            </a:r>
            <a:endParaRPr lang="en-US" sz="1800" dirty="0"/>
          </a:p>
        </p:txBody>
      </p:sp>
      <p:sp>
        <p:nvSpPr>
          <p:cNvPr id="40" name="Text 37"/>
          <p:cNvSpPr/>
          <p:nvPr/>
        </p:nvSpPr>
        <p:spPr>
          <a:xfrm>
            <a:off x="12918401" y="6330315"/>
            <a:ext cx="1805535" cy="312420"/>
          </a:xfrm>
          <a:prstGeom prst="rect">
            <a:avLst/>
          </a:prstGeom>
          <a:noFill/>
          <a:ln/>
        </p:spPr>
        <p:txBody>
          <a:bodyPr wrap="square" lIns="25400" tIns="25400" rIns="25400" bIns="25400" rtlCol="0" anchor="t">
            <a:normAutofit/>
          </a:bodyPr>
          <a:lstStyle/>
          <a:p>
            <a:pPr algn="l" indent="0" marL="0">
              <a:buNone/>
            </a:pPr>
            <a:r>
              <a:rPr lang="en-US" sz="1875" b="1" dirty="0">
                <a:solidFill>
                  <a:srgbClr val="74121D"/>
                </a:solidFill>
                <a:latin typeface="Arial" pitchFamily="34" charset="0"/>
                <a:ea typeface="Arial" pitchFamily="34" charset="-122"/>
                <a:cs typeface="Arial" pitchFamily="34" charset="-120"/>
              </a:rPr>
              <a:t>Security Layer</a:t>
            </a:r>
            <a:endParaRPr lang="en-US" sz="1875" dirty="0"/>
          </a:p>
        </p:txBody>
      </p:sp>
      <p:sp>
        <p:nvSpPr>
          <p:cNvPr id="41" name="Text 38"/>
          <p:cNvSpPr/>
          <p:nvPr/>
        </p:nvSpPr>
        <p:spPr>
          <a:xfrm>
            <a:off x="12346901" y="6819900"/>
            <a:ext cx="4847860" cy="701040"/>
          </a:xfrm>
          <a:prstGeom prst="rect">
            <a:avLst/>
          </a:prstGeom>
          <a:noFill/>
          <a:ln/>
        </p:spPr>
        <p:txBody>
          <a:bodyPr wrap="square" lIns="25400" tIns="25400" rIns="25400" bIns="25400" rtlCol="0" anchor="t">
            <a:normAutofit/>
          </a:bodyPr>
          <a:lstStyle/>
          <a:p>
            <a:pPr algn="l" indent="0" marL="0">
              <a:lnSpc>
                <a:spcPct val="145000"/>
              </a:lnSpc>
              <a:buNone/>
            </a:pPr>
            <a:r>
              <a:rPr lang="en-US" sz="1800" dirty="0">
                <a:solidFill>
                  <a:srgbClr val="3A3A3A"/>
                </a:solidFill>
                <a:latin typeface="Arial" pitchFamily="34" charset="0"/>
                <a:ea typeface="Arial" pitchFamily="34" charset="-122"/>
                <a:cs typeface="Arial" pitchFamily="34" charset="-120"/>
              </a:rPr>
              <a:t>HTTPS · JWT route guards · Firestore Rules · RBAC · brute-force lockout after 5 attempts.</a:t>
            </a:r>
            <a:endParaRPr lang="en-US" sz="1800" dirty="0"/>
          </a:p>
        </p:txBody>
      </p:sp>
      <p:sp>
        <p:nvSpPr>
          <p:cNvPr id="42" name="Text 39"/>
          <p:cNvSpPr/>
          <p:nvPr/>
        </p:nvSpPr>
        <p:spPr>
          <a:xfrm>
            <a:off x="12346901" y="7597140"/>
            <a:ext cx="5177326" cy="297180"/>
          </a:xfrm>
          <a:prstGeom prst="rect">
            <a:avLst/>
          </a:prstGeom>
          <a:noFill/>
          <a:ln/>
        </p:spPr>
        <p:txBody>
          <a:bodyPr wrap="square" lIns="25400" tIns="25400" rIns="25400" bIns="25400" rtlCol="0" anchor="t">
            <a:normAutofit/>
          </a:bodyPr>
          <a:lstStyle/>
          <a:p>
            <a:pPr algn="l" indent="0" marL="0">
              <a:buNone/>
            </a:pPr>
            <a:r>
              <a:rPr lang="en-US" sz="1800" b="1" spc="75" kern="0" dirty="0">
                <a:solidFill>
                  <a:srgbClr val="B19C7D"/>
                </a:solidFill>
                <a:latin typeface="Arial" pitchFamily="34" charset="0"/>
                <a:ea typeface="Arial" pitchFamily="34" charset="-122"/>
                <a:cs typeface="Arial" pitchFamily="34" charset="-120"/>
              </a:rPr>
              <a:t>NFR4 · NFR5 · NFR6</a:t>
            </a:r>
            <a:endParaRPr lang="en-US" sz="1800" dirty="0"/>
          </a:p>
        </p:txBody>
      </p:sp>
      <p:sp>
        <p:nvSpPr>
          <p:cNvPr id="43" name="Text 40"/>
          <p:cNvSpPr/>
          <p:nvPr/>
        </p:nvSpPr>
        <p:spPr>
          <a:xfrm>
            <a:off x="952500" y="9761220"/>
            <a:ext cx="4426744" cy="297180"/>
          </a:xfrm>
          <a:prstGeom prst="rect">
            <a:avLst/>
          </a:prstGeom>
          <a:noFill/>
          <a:ln/>
        </p:spPr>
        <p:txBody>
          <a:bodyPr wrap="square" lIns="25400" tIns="25400" rIns="25400" bIns="25400" rtlCol="0" anchor="t">
            <a:normAutofit/>
          </a:bodyPr>
          <a:lstStyle/>
          <a:p>
            <a:pPr algn="l" indent="0" marL="0">
              <a:buNone/>
            </a:pPr>
            <a:r>
              <a:rPr lang="en-US" sz="1800" spc="38" kern="0" dirty="0">
                <a:solidFill>
                  <a:srgbClr val="9A8C7E"/>
                </a:solidFill>
                <a:latin typeface="Arial" pitchFamily="34" charset="0"/>
                <a:ea typeface="Arial" pitchFamily="34" charset="-122"/>
                <a:cs typeface="Arial" pitchFamily="34" charset="-120"/>
              </a:rPr>
              <a:t>UATCC Web Application · PSM 1 Viva</a:t>
            </a:r>
            <a:endParaRPr lang="en-US" sz="1800" dirty="0"/>
          </a:p>
        </p:txBody>
      </p:sp>
      <p:sp>
        <p:nvSpPr>
          <p:cNvPr id="44" name="Text 41"/>
          <p:cNvSpPr/>
          <p:nvPr/>
        </p:nvSpPr>
        <p:spPr>
          <a:xfrm>
            <a:off x="16603027" y="9761220"/>
            <a:ext cx="808673" cy="297180"/>
          </a:xfrm>
          <a:prstGeom prst="rect">
            <a:avLst/>
          </a:prstGeom>
          <a:noFill/>
          <a:ln/>
        </p:spPr>
        <p:txBody>
          <a:bodyPr wrap="square" lIns="25400" tIns="25400" rIns="25400" bIns="25400" rtlCol="0" anchor="t">
            <a:normAutofit/>
          </a:bodyPr>
          <a:lstStyle/>
          <a:p>
            <a:pPr algn="l" indent="0" marL="0">
              <a:buNone/>
            </a:pPr>
            <a:r>
              <a:rPr lang="en-US" sz="1800" spc="38" kern="0" dirty="0">
                <a:solidFill>
                  <a:srgbClr val="9A8C7E"/>
                </a:solidFill>
                <a:latin typeface="Arial" pitchFamily="34" charset="0"/>
                <a:ea typeface="Arial" pitchFamily="34" charset="-122"/>
                <a:cs typeface="Arial" pitchFamily="34" charset="-120"/>
              </a:rPr>
              <a:t>10 / 14</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0" cy="133350"/>
          </a:xfrm>
          <a:prstGeom prst="rect">
            <a:avLst/>
          </a:prstGeom>
          <a:solidFill>
            <a:srgbClr val="74121D"/>
          </a:solidFill>
          <a:ln/>
        </p:spPr>
      </p:sp>
      <p:pic>
        <p:nvPicPr>
          <p:cNvPr id="3" name="Image 0" descr="preencoded.png">    </p:cNvPr>
          <p:cNvPicPr>
            <a:picLocks noChangeAspect="1"/>
          </p:cNvPicPr>
          <p:nvPr/>
        </p:nvPicPr>
        <p:blipFill>
          <a:blip r:embed="rId1"/>
          <a:stretch>
            <a:fillRect/>
          </a:stretch>
        </p:blipFill>
        <p:spPr>
          <a:xfrm>
            <a:off x="16004143" y="361950"/>
            <a:ext cx="1521857" cy="514350"/>
          </a:xfrm>
          <a:prstGeom prst="rect">
            <a:avLst/>
          </a:prstGeom>
        </p:spPr>
      </p:pic>
      <p:sp>
        <p:nvSpPr>
          <p:cNvPr id="4" name="Text 1"/>
          <p:cNvSpPr/>
          <p:nvPr/>
        </p:nvSpPr>
        <p:spPr>
          <a:xfrm>
            <a:off x="952500" y="1238250"/>
            <a:ext cx="18021300" cy="297180"/>
          </a:xfrm>
          <a:prstGeom prst="rect">
            <a:avLst/>
          </a:prstGeom>
          <a:noFill/>
          <a:ln/>
        </p:spPr>
        <p:txBody>
          <a:bodyPr wrap="square" lIns="25400" tIns="25400" rIns="25400" bIns="25400" rtlCol="0" anchor="t">
            <a:normAutofit/>
          </a:bodyPr>
          <a:lstStyle/>
          <a:p>
            <a:pPr algn="l" indent="0" marL="0">
              <a:buNone/>
            </a:pPr>
            <a:r>
              <a:rPr lang="en-US" sz="1800" b="1" spc="225" kern="0" dirty="0">
                <a:solidFill>
                  <a:srgbClr val="B19C7D"/>
                </a:solidFill>
                <a:latin typeface="Arial" pitchFamily="34" charset="0"/>
                <a:ea typeface="Arial" pitchFamily="34" charset="-122"/>
                <a:cs typeface="Arial" pitchFamily="34" charset="-120"/>
              </a:rPr>
              <a:t>APPENDIX C</a:t>
            </a:r>
            <a:endParaRPr lang="en-US" sz="1800" dirty="0"/>
          </a:p>
        </p:txBody>
      </p:sp>
      <p:sp>
        <p:nvSpPr>
          <p:cNvPr id="5" name="Text 2"/>
          <p:cNvSpPr/>
          <p:nvPr/>
        </p:nvSpPr>
        <p:spPr>
          <a:xfrm>
            <a:off x="952500" y="1611630"/>
            <a:ext cx="18021300" cy="638175"/>
          </a:xfrm>
          <a:prstGeom prst="rect">
            <a:avLst/>
          </a:prstGeom>
          <a:noFill/>
          <a:ln/>
        </p:spPr>
        <p:txBody>
          <a:bodyPr wrap="square" lIns="25400" tIns="25400" rIns="25400" bIns="25400" rtlCol="0" anchor="t">
            <a:normAutofit/>
          </a:bodyPr>
          <a:lstStyle/>
          <a:p>
            <a:pPr algn="l" indent="0" marL="0">
              <a:lnSpc>
                <a:spcPct val="105000"/>
              </a:lnSpc>
              <a:buNone/>
            </a:pPr>
            <a:r>
              <a:rPr lang="en-US" sz="4500" b="1" spc="-37" kern="0" dirty="0">
                <a:solidFill>
                  <a:srgbClr val="74121D"/>
                </a:solidFill>
                <a:latin typeface="Arial" pitchFamily="34" charset="0"/>
                <a:ea typeface="Arial" pitchFamily="34" charset="-122"/>
                <a:cs typeface="Arial" pitchFamily="34" charset="-120"/>
              </a:rPr>
              <a:t>Wireframe Previews</a:t>
            </a:r>
            <a:endParaRPr lang="en-US" sz="4500" dirty="0"/>
          </a:p>
        </p:txBody>
      </p:sp>
      <p:sp>
        <p:nvSpPr>
          <p:cNvPr id="6" name="Shape 3"/>
          <p:cNvSpPr/>
          <p:nvPr/>
        </p:nvSpPr>
        <p:spPr>
          <a:xfrm>
            <a:off x="952500" y="2402205"/>
            <a:ext cx="857250" cy="47625"/>
          </a:xfrm>
          <a:prstGeom prst="roundRect">
            <a:avLst>
              <a:gd name="adj" fmla="val 50000"/>
            </a:avLst>
          </a:prstGeom>
          <a:solidFill>
            <a:srgbClr val="B19C7D"/>
          </a:solidFill>
          <a:ln/>
        </p:spPr>
      </p:sp>
      <p:sp>
        <p:nvSpPr>
          <p:cNvPr id="7" name="Shape 4"/>
          <p:cNvSpPr/>
          <p:nvPr/>
        </p:nvSpPr>
        <p:spPr>
          <a:xfrm>
            <a:off x="952500" y="2868930"/>
            <a:ext cx="5245061" cy="4030980"/>
          </a:xfrm>
          <a:prstGeom prst="rect">
            <a:avLst/>
          </a:prstGeom>
          <a:solidFill>
            <a:srgbClr val="FFFFFF"/>
          </a:solidFill>
          <a:ln w="15240">
            <a:solidFill>
              <a:srgbClr val="E0D6C7"/>
            </a:solidFill>
            <a:prstDash val="solid"/>
          </a:ln>
          <a:effectLst>
            <a:outerShdw sx="100000" sy="100000" kx="0" ky="0" algn="bl" rotWithShape="0" blurRad="76200" dist="19050" dir="5400000">
              <a:srgbClr val="74121D">
                <a:alpha val="8000"/>
              </a:srgbClr>
            </a:outerShdw>
          </a:effectLst>
        </p:spPr>
      </p:sp>
      <p:sp>
        <p:nvSpPr>
          <p:cNvPr id="8" name="Shape 5"/>
          <p:cNvSpPr/>
          <p:nvPr/>
        </p:nvSpPr>
        <p:spPr>
          <a:xfrm>
            <a:off x="967740" y="2884170"/>
            <a:ext cx="5214581" cy="438150"/>
          </a:xfrm>
          <a:prstGeom prst="rect">
            <a:avLst/>
          </a:prstGeom>
          <a:solidFill>
            <a:srgbClr val="74121D"/>
          </a:solidFill>
          <a:ln/>
        </p:spPr>
      </p:sp>
      <p:sp>
        <p:nvSpPr>
          <p:cNvPr id="9" name="Text 6"/>
          <p:cNvSpPr/>
          <p:nvPr/>
        </p:nvSpPr>
        <p:spPr>
          <a:xfrm>
            <a:off x="1139190" y="3023235"/>
            <a:ext cx="580668" cy="198120"/>
          </a:xfrm>
          <a:prstGeom prst="rect">
            <a:avLst/>
          </a:prstGeom>
          <a:noFill/>
          <a:ln/>
        </p:spPr>
        <p:txBody>
          <a:bodyPr wrap="square" lIns="25400" tIns="25400" rIns="25400" bIns="25400" rtlCol="0" anchor="t">
            <a:normAutofit/>
          </a:bodyPr>
          <a:lstStyle/>
          <a:p>
            <a:pPr algn="l" indent="0" marL="0">
              <a:buNone/>
            </a:pPr>
            <a:r>
              <a:rPr lang="en-US" sz="1050" b="1" spc="75" kern="0" dirty="0">
                <a:solidFill>
                  <a:srgbClr val="FFFFFF"/>
                </a:solidFill>
                <a:latin typeface="Arial" pitchFamily="34" charset="0"/>
                <a:ea typeface="Arial" pitchFamily="34" charset="-122"/>
                <a:cs typeface="Arial" pitchFamily="34" charset="-120"/>
              </a:rPr>
              <a:t>UATCC</a:t>
            </a:r>
            <a:endParaRPr lang="en-US" sz="1050" dirty="0"/>
          </a:p>
        </p:txBody>
      </p:sp>
      <p:sp>
        <p:nvSpPr>
          <p:cNvPr id="10" name="Text 7"/>
          <p:cNvSpPr/>
          <p:nvPr/>
        </p:nvSpPr>
        <p:spPr>
          <a:xfrm>
            <a:off x="4156115" y="3038475"/>
            <a:ext cx="2040231" cy="167640"/>
          </a:xfrm>
          <a:prstGeom prst="rect">
            <a:avLst/>
          </a:prstGeom>
          <a:noFill/>
          <a:ln/>
        </p:spPr>
        <p:txBody>
          <a:bodyPr wrap="square" lIns="25400" tIns="25400" rIns="25400" bIns="25400" rtlCol="0" anchor="t">
            <a:normAutofit/>
          </a:bodyPr>
          <a:lstStyle/>
          <a:p>
            <a:pPr algn="l" indent="0" marL="0">
              <a:buNone/>
            </a:pPr>
            <a:r>
              <a:rPr lang="en-US" sz="900" dirty="0">
                <a:solidFill>
                  <a:srgbClr val="E7D7C1"/>
                </a:solidFill>
                <a:latin typeface="Arial" pitchFamily="34" charset="0"/>
                <a:ea typeface="Arial" pitchFamily="34" charset="-122"/>
                <a:cs typeface="Arial" pitchFamily="34" charset="-120"/>
              </a:rPr>
              <a:t>Home · Projects · Services · Contact</a:t>
            </a:r>
            <a:endParaRPr lang="en-US" sz="900" dirty="0"/>
          </a:p>
        </p:txBody>
      </p:sp>
      <p:sp>
        <p:nvSpPr>
          <p:cNvPr id="11" name="Shape 8"/>
          <p:cNvSpPr/>
          <p:nvPr/>
        </p:nvSpPr>
        <p:spPr>
          <a:xfrm>
            <a:off x="967740" y="3322320"/>
            <a:ext cx="5214581" cy="2381250"/>
          </a:xfrm>
          <a:prstGeom prst="rect">
            <a:avLst/>
          </a:prstGeom>
          <a:gradFill rotWithShape="1">
            <a:gsLst>
              <a:gs pos="0">
                <a:srgbClr val="F5EFE5">
                  <a:alpha val="100000"/>
                </a:srgbClr>
              </a:gs>
              <a:gs pos="100000">
                <a:srgbClr val="EAD7C1">
                  <a:alpha val="100000"/>
                </a:srgbClr>
              </a:gs>
            </a:gsLst>
            <a:lin ang="2700000" scaled="0"/>
          </a:gradFill>
          <a:ln/>
        </p:spPr>
      </p:sp>
      <p:sp>
        <p:nvSpPr>
          <p:cNvPr id="12" name="Text 9"/>
          <p:cNvSpPr/>
          <p:nvPr/>
        </p:nvSpPr>
        <p:spPr>
          <a:xfrm>
            <a:off x="2241113" y="4082415"/>
            <a:ext cx="2934617" cy="297180"/>
          </a:xfrm>
          <a:prstGeom prst="rect">
            <a:avLst/>
          </a:prstGeom>
          <a:noFill/>
          <a:ln/>
        </p:spPr>
        <p:txBody>
          <a:bodyPr wrap="square" lIns="25400" tIns="25400" rIns="25400" bIns="25400" rtlCol="0" anchor="t">
            <a:normAutofit/>
          </a:bodyPr>
          <a:lstStyle/>
          <a:p>
            <a:pPr algn="l" indent="0" marL="0">
              <a:buNone/>
            </a:pPr>
            <a:r>
              <a:rPr lang="en-US" sz="1800" b="1" dirty="0">
                <a:solidFill>
                  <a:srgbClr val="74121D"/>
                </a:solidFill>
                <a:latin typeface="Arial" pitchFamily="34" charset="0"/>
                <a:ea typeface="Arial" pitchFamily="34" charset="-122"/>
                <a:cs typeface="Arial" pitchFamily="34" charset="-120"/>
              </a:rPr>
              <a:t>Construction Excellence</a:t>
            </a:r>
            <a:endParaRPr lang="en-US" sz="1800" dirty="0"/>
          </a:p>
        </p:txBody>
      </p:sp>
      <p:sp>
        <p:nvSpPr>
          <p:cNvPr id="13" name="Text 10"/>
          <p:cNvSpPr/>
          <p:nvPr/>
        </p:nvSpPr>
        <p:spPr>
          <a:xfrm>
            <a:off x="2881194" y="4398645"/>
            <a:ext cx="1526441" cy="167640"/>
          </a:xfrm>
          <a:prstGeom prst="rect">
            <a:avLst/>
          </a:prstGeom>
          <a:noFill/>
          <a:ln/>
        </p:spPr>
        <p:txBody>
          <a:bodyPr wrap="square" lIns="25400" tIns="25400" rIns="25400" bIns="25400" rtlCol="0" anchor="t">
            <a:normAutofit/>
          </a:bodyPr>
          <a:lstStyle/>
          <a:p>
            <a:pPr algn="l" indent="0" marL="0">
              <a:buNone/>
            </a:pPr>
            <a:r>
              <a:rPr lang="en-US" sz="900" dirty="0">
                <a:solidFill>
                  <a:srgbClr val="5A5A5A"/>
                </a:solidFill>
                <a:latin typeface="Arial" pitchFamily="34" charset="0"/>
                <a:ea typeface="Arial" pitchFamily="34" charset="-122"/>
                <a:cs typeface="Arial" pitchFamily="34" charset="-120"/>
              </a:rPr>
              <a:t>Building tomorrow's spaces</a:t>
            </a:r>
            <a:endParaRPr lang="en-US" sz="900" dirty="0"/>
          </a:p>
        </p:txBody>
      </p:sp>
      <p:sp>
        <p:nvSpPr>
          <p:cNvPr id="14" name="Shape 11"/>
          <p:cNvSpPr/>
          <p:nvPr/>
        </p:nvSpPr>
        <p:spPr>
          <a:xfrm>
            <a:off x="2971443" y="4661535"/>
            <a:ext cx="1207175" cy="281940"/>
          </a:xfrm>
          <a:prstGeom prst="roundRect">
            <a:avLst>
              <a:gd name="adj" fmla="val 10135"/>
            </a:avLst>
          </a:prstGeom>
          <a:solidFill>
            <a:srgbClr val="74121D"/>
          </a:solidFill>
          <a:ln/>
        </p:spPr>
      </p:sp>
      <p:sp>
        <p:nvSpPr>
          <p:cNvPr id="15" name="Text 12"/>
          <p:cNvSpPr/>
          <p:nvPr/>
        </p:nvSpPr>
        <p:spPr>
          <a:xfrm>
            <a:off x="3142893" y="4737735"/>
            <a:ext cx="940475" cy="167640"/>
          </a:xfrm>
          <a:prstGeom prst="rect">
            <a:avLst/>
          </a:prstGeom>
          <a:noFill/>
          <a:ln/>
        </p:spPr>
        <p:txBody>
          <a:bodyPr wrap="square" lIns="25400" tIns="25400" rIns="25400" bIns="25400" rtlCol="0" anchor="t">
            <a:normAutofit/>
          </a:bodyPr>
          <a:lstStyle/>
          <a:p>
            <a:pPr algn="l" indent="0" marL="0">
              <a:buNone/>
            </a:pPr>
            <a:r>
              <a:rPr lang="en-US" sz="900" dirty="0">
                <a:solidFill>
                  <a:srgbClr val="FFFFFF"/>
                </a:solidFill>
                <a:latin typeface="Arial" pitchFamily="34" charset="0"/>
                <a:ea typeface="Arial" pitchFamily="34" charset="-122"/>
                <a:cs typeface="Arial" pitchFamily="34" charset="-120"/>
              </a:rPr>
              <a:t>Request a Quote</a:t>
            </a:r>
            <a:endParaRPr lang="en-US" sz="900" dirty="0"/>
          </a:p>
        </p:txBody>
      </p:sp>
      <p:sp>
        <p:nvSpPr>
          <p:cNvPr id="16" name="Shape 13"/>
          <p:cNvSpPr/>
          <p:nvPr/>
        </p:nvSpPr>
        <p:spPr>
          <a:xfrm>
            <a:off x="967740" y="5703570"/>
            <a:ext cx="5214581" cy="1181100"/>
          </a:xfrm>
          <a:prstGeom prst="rect">
            <a:avLst/>
          </a:prstGeom>
          <a:solidFill>
            <a:srgbClr val="FFFFFF"/>
          </a:solidFill>
          <a:ln/>
        </p:spPr>
      </p:sp>
      <p:sp>
        <p:nvSpPr>
          <p:cNvPr id="17" name="Text 14"/>
          <p:cNvSpPr/>
          <p:nvPr/>
        </p:nvSpPr>
        <p:spPr>
          <a:xfrm>
            <a:off x="1139190" y="5817870"/>
            <a:ext cx="5358848" cy="152400"/>
          </a:xfrm>
          <a:prstGeom prst="rect">
            <a:avLst/>
          </a:prstGeom>
          <a:noFill/>
          <a:ln/>
        </p:spPr>
        <p:txBody>
          <a:bodyPr wrap="square" lIns="25400" tIns="25400" rIns="25400" bIns="25400" rtlCol="0" anchor="t">
            <a:normAutofit/>
          </a:bodyPr>
          <a:lstStyle/>
          <a:p>
            <a:pPr algn="l" indent="0" marL="0">
              <a:buNone/>
            </a:pPr>
            <a:r>
              <a:rPr lang="en-US" sz="825" b="1" dirty="0">
                <a:solidFill>
                  <a:srgbClr val="74121D"/>
                </a:solidFill>
                <a:latin typeface="Arial" pitchFamily="34" charset="0"/>
                <a:ea typeface="Arial" pitchFamily="34" charset="-122"/>
                <a:cs typeface="Arial" pitchFamily="34" charset="-120"/>
              </a:rPr>
              <a:t>FEATURED PROJECTS</a:t>
            </a:r>
            <a:endParaRPr lang="en-US" sz="825" dirty="0"/>
          </a:p>
        </p:txBody>
      </p:sp>
      <p:sp>
        <p:nvSpPr>
          <p:cNvPr id="18" name="Shape 15"/>
          <p:cNvSpPr/>
          <p:nvPr/>
        </p:nvSpPr>
        <p:spPr>
          <a:xfrm>
            <a:off x="1139190" y="5989320"/>
            <a:ext cx="1585793" cy="476250"/>
          </a:xfrm>
          <a:prstGeom prst="rect">
            <a:avLst/>
          </a:prstGeom>
          <a:solidFill>
            <a:srgbClr val="E0D6C7"/>
          </a:solidFill>
          <a:ln/>
        </p:spPr>
      </p:sp>
      <p:sp>
        <p:nvSpPr>
          <p:cNvPr id="19" name="Shape 16"/>
          <p:cNvSpPr/>
          <p:nvPr/>
        </p:nvSpPr>
        <p:spPr>
          <a:xfrm>
            <a:off x="2782133" y="5989320"/>
            <a:ext cx="1585793" cy="476250"/>
          </a:xfrm>
          <a:prstGeom prst="rect">
            <a:avLst/>
          </a:prstGeom>
          <a:solidFill>
            <a:srgbClr val="B19C7D"/>
          </a:solidFill>
          <a:ln/>
        </p:spPr>
      </p:sp>
      <p:sp>
        <p:nvSpPr>
          <p:cNvPr id="20" name="Shape 17"/>
          <p:cNvSpPr/>
          <p:nvPr/>
        </p:nvSpPr>
        <p:spPr>
          <a:xfrm>
            <a:off x="4425077" y="5989320"/>
            <a:ext cx="1585793" cy="476250"/>
          </a:xfrm>
          <a:prstGeom prst="rect">
            <a:avLst/>
          </a:prstGeom>
          <a:solidFill>
            <a:srgbClr val="74121D"/>
          </a:solidFill>
          <a:ln/>
        </p:spPr>
      </p:sp>
      <p:sp>
        <p:nvSpPr>
          <p:cNvPr id="21" name="Text 18"/>
          <p:cNvSpPr/>
          <p:nvPr/>
        </p:nvSpPr>
        <p:spPr>
          <a:xfrm>
            <a:off x="952500" y="7033260"/>
            <a:ext cx="5769567" cy="297180"/>
          </a:xfrm>
          <a:prstGeom prst="rect">
            <a:avLst/>
          </a:prstGeom>
          <a:noFill/>
          <a:ln/>
        </p:spPr>
        <p:txBody>
          <a:bodyPr wrap="square" lIns="25400" tIns="25400" rIns="25400" bIns="25400" rtlCol="0" anchor="t">
            <a:normAutofit/>
          </a:bodyPr>
          <a:lstStyle/>
          <a:p>
            <a:pPr algn="l" indent="0" marL="0">
              <a:buNone/>
            </a:pPr>
            <a:r>
              <a:rPr lang="en-US" sz="1800" b="1" dirty="0">
                <a:solidFill>
                  <a:srgbClr val="74121D"/>
                </a:solidFill>
                <a:latin typeface="Arial" pitchFamily="34" charset="0"/>
                <a:ea typeface="Arial" pitchFamily="34" charset="-122"/>
                <a:cs typeface="Arial" pitchFamily="34" charset="-120"/>
              </a:rPr>
              <a:t>Homepage</a:t>
            </a:r>
            <a:endParaRPr lang="en-US" sz="1800" dirty="0"/>
          </a:p>
        </p:txBody>
      </p:sp>
      <p:sp>
        <p:nvSpPr>
          <p:cNvPr id="22" name="Text 19"/>
          <p:cNvSpPr/>
          <p:nvPr/>
        </p:nvSpPr>
        <p:spPr>
          <a:xfrm>
            <a:off x="952500" y="7311390"/>
            <a:ext cx="5769567" cy="297180"/>
          </a:xfrm>
          <a:prstGeom prst="rect">
            <a:avLst/>
          </a:prstGeom>
          <a:noFill/>
          <a:ln/>
        </p:spPr>
        <p:txBody>
          <a:bodyPr wrap="square" lIns="25400" tIns="25400" rIns="25400" bIns="25400" rtlCol="0" anchor="t">
            <a:normAutofit/>
          </a:bodyPr>
          <a:lstStyle/>
          <a:p>
            <a:pPr algn="l" indent="0" marL="0">
              <a:buNone/>
            </a:pPr>
            <a:r>
              <a:rPr lang="en-US" sz="1800" dirty="0">
                <a:solidFill>
                  <a:srgbClr val="5A5A5A"/>
                </a:solidFill>
                <a:latin typeface="Arial" pitchFamily="34" charset="0"/>
                <a:ea typeface="Arial" pitchFamily="34" charset="-122"/>
                <a:cs typeface="Arial" pitchFamily="34" charset="-120"/>
              </a:rPr>
              <a:t>Hero, featured projects, services preview</a:t>
            </a:r>
            <a:endParaRPr lang="en-US" sz="1800" dirty="0"/>
          </a:p>
        </p:txBody>
      </p:sp>
      <p:sp>
        <p:nvSpPr>
          <p:cNvPr id="23" name="Shape 20"/>
          <p:cNvSpPr/>
          <p:nvPr/>
        </p:nvSpPr>
        <p:spPr>
          <a:xfrm>
            <a:off x="6521411" y="2868930"/>
            <a:ext cx="5245061" cy="4030980"/>
          </a:xfrm>
          <a:prstGeom prst="rect">
            <a:avLst/>
          </a:prstGeom>
          <a:solidFill>
            <a:srgbClr val="FFFFFF"/>
          </a:solidFill>
          <a:ln w="15240">
            <a:solidFill>
              <a:srgbClr val="E0D6C7"/>
            </a:solidFill>
            <a:prstDash val="solid"/>
          </a:ln>
          <a:effectLst>
            <a:outerShdw sx="100000" sy="100000" kx="0" ky="0" algn="bl" rotWithShape="0" blurRad="76200" dist="19050" dir="5400000">
              <a:srgbClr val="74121D">
                <a:alpha val="8000"/>
              </a:srgbClr>
            </a:outerShdw>
          </a:effectLst>
        </p:spPr>
      </p:sp>
      <p:sp>
        <p:nvSpPr>
          <p:cNvPr id="24" name="Shape 21"/>
          <p:cNvSpPr/>
          <p:nvPr/>
        </p:nvSpPr>
        <p:spPr>
          <a:xfrm>
            <a:off x="6536650" y="2884170"/>
            <a:ext cx="5214581" cy="160020"/>
          </a:xfrm>
          <a:prstGeom prst="rect">
            <a:avLst/>
          </a:prstGeom>
          <a:solidFill>
            <a:srgbClr val="74121D"/>
          </a:solidFill>
          <a:ln/>
        </p:spPr>
      </p:sp>
      <p:sp>
        <p:nvSpPr>
          <p:cNvPr id="25" name="Text 22"/>
          <p:cNvSpPr/>
          <p:nvPr/>
        </p:nvSpPr>
        <p:spPr>
          <a:xfrm>
            <a:off x="6708100" y="2884170"/>
            <a:ext cx="580668" cy="198120"/>
          </a:xfrm>
          <a:prstGeom prst="rect">
            <a:avLst/>
          </a:prstGeom>
          <a:noFill/>
          <a:ln/>
        </p:spPr>
        <p:txBody>
          <a:bodyPr wrap="square" lIns="25400" tIns="25400" rIns="25400" bIns="25400" rtlCol="0" anchor="t">
            <a:normAutofit/>
          </a:bodyPr>
          <a:lstStyle/>
          <a:p>
            <a:pPr algn="l" indent="0" marL="0">
              <a:buNone/>
            </a:pPr>
            <a:r>
              <a:rPr lang="en-US" sz="1050" b="1" spc="75" kern="0" dirty="0">
                <a:solidFill>
                  <a:srgbClr val="FFFFFF"/>
                </a:solidFill>
                <a:latin typeface="Arial" pitchFamily="34" charset="0"/>
                <a:ea typeface="Arial" pitchFamily="34" charset="-122"/>
                <a:cs typeface="Arial" pitchFamily="34" charset="-120"/>
              </a:rPr>
              <a:t>UATCC</a:t>
            </a:r>
            <a:endParaRPr lang="en-US" sz="1050" dirty="0"/>
          </a:p>
        </p:txBody>
      </p:sp>
      <p:sp>
        <p:nvSpPr>
          <p:cNvPr id="26" name="Text 23"/>
          <p:cNvSpPr/>
          <p:nvPr/>
        </p:nvSpPr>
        <p:spPr>
          <a:xfrm>
            <a:off x="10741105" y="2899410"/>
            <a:ext cx="914876" cy="167640"/>
          </a:xfrm>
          <a:prstGeom prst="rect">
            <a:avLst/>
          </a:prstGeom>
          <a:noFill/>
          <a:ln/>
        </p:spPr>
        <p:txBody>
          <a:bodyPr wrap="square" lIns="25400" tIns="25400" rIns="25400" bIns="25400" rtlCol="0" anchor="t">
            <a:normAutofit/>
          </a:bodyPr>
          <a:lstStyle/>
          <a:p>
            <a:pPr algn="l" indent="0" marL="0">
              <a:buNone/>
            </a:pPr>
            <a:r>
              <a:rPr lang="en-US" sz="900" dirty="0">
                <a:solidFill>
                  <a:srgbClr val="E7D7C1"/>
                </a:solidFill>
                <a:latin typeface="Arial" pitchFamily="34" charset="0"/>
                <a:ea typeface="Arial" pitchFamily="34" charset="-122"/>
                <a:cs typeface="Arial" pitchFamily="34" charset="-120"/>
              </a:rPr>
              <a:t>Request Service</a:t>
            </a:r>
            <a:endParaRPr lang="en-US" sz="900" dirty="0"/>
          </a:p>
        </p:txBody>
      </p:sp>
      <p:sp>
        <p:nvSpPr>
          <p:cNvPr id="27" name="Shape 24"/>
          <p:cNvSpPr/>
          <p:nvPr/>
        </p:nvSpPr>
        <p:spPr>
          <a:xfrm>
            <a:off x="6536650" y="3044190"/>
            <a:ext cx="5214581" cy="3844290"/>
          </a:xfrm>
          <a:prstGeom prst="rect">
            <a:avLst/>
          </a:prstGeom>
          <a:solidFill>
            <a:srgbClr val="FBF6EE"/>
          </a:solidFill>
          <a:ln/>
        </p:spPr>
      </p:sp>
      <p:sp>
        <p:nvSpPr>
          <p:cNvPr id="28" name="Text 25"/>
          <p:cNvSpPr/>
          <p:nvPr/>
        </p:nvSpPr>
        <p:spPr>
          <a:xfrm>
            <a:off x="6746200" y="3215640"/>
            <a:ext cx="5275028" cy="213360"/>
          </a:xfrm>
          <a:prstGeom prst="rect">
            <a:avLst/>
          </a:prstGeom>
          <a:noFill/>
          <a:ln/>
        </p:spPr>
        <p:txBody>
          <a:bodyPr wrap="square" lIns="25400" tIns="25400" rIns="25400" bIns="25400" rtlCol="0" anchor="t">
            <a:normAutofit/>
          </a:bodyPr>
          <a:lstStyle/>
          <a:p>
            <a:pPr algn="l" indent="0" marL="0">
              <a:buNone/>
            </a:pPr>
            <a:r>
              <a:rPr lang="en-US" sz="1200" b="1" dirty="0">
                <a:solidFill>
                  <a:srgbClr val="74121D"/>
                </a:solidFill>
                <a:latin typeface="Arial" pitchFamily="34" charset="0"/>
                <a:ea typeface="Arial" pitchFamily="34" charset="-122"/>
                <a:cs typeface="Arial" pitchFamily="34" charset="-120"/>
              </a:rPr>
              <a:t>Submit a Service Request</a:t>
            </a:r>
            <a:endParaRPr lang="en-US" sz="1200" dirty="0"/>
          </a:p>
        </p:txBody>
      </p:sp>
      <p:sp>
        <p:nvSpPr>
          <p:cNvPr id="29" name="Shape 26"/>
          <p:cNvSpPr/>
          <p:nvPr/>
        </p:nvSpPr>
        <p:spPr>
          <a:xfrm>
            <a:off x="6746200" y="3524250"/>
            <a:ext cx="4795480" cy="415290"/>
          </a:xfrm>
          <a:prstGeom prst="rect">
            <a:avLst/>
          </a:prstGeom>
          <a:solidFill>
            <a:srgbClr val="FFFFFF"/>
          </a:solidFill>
          <a:ln w="7620">
            <a:solidFill>
              <a:srgbClr val="D6CABA"/>
            </a:solidFill>
            <a:prstDash val="solid"/>
          </a:ln>
        </p:spPr>
      </p:sp>
      <p:sp>
        <p:nvSpPr>
          <p:cNvPr id="30" name="Text 27"/>
          <p:cNvSpPr/>
          <p:nvPr/>
        </p:nvSpPr>
        <p:spPr>
          <a:xfrm>
            <a:off x="6849070" y="3589020"/>
            <a:ext cx="4733605" cy="323850"/>
          </a:xfrm>
          <a:prstGeom prst="rect">
            <a:avLst/>
          </a:prstGeom>
          <a:noFill/>
          <a:ln/>
        </p:spPr>
        <p:txBody>
          <a:bodyPr wrap="square" lIns="25400" tIns="25400" rIns="25400" bIns="25400" rtlCol="0" anchor="t">
            <a:normAutofit/>
          </a:bodyPr>
          <a:lstStyle/>
          <a:p>
            <a:pPr algn="l" indent="0" marL="0">
              <a:buNone/>
            </a:pPr>
            <a:r>
              <a:rPr lang="en-US" sz="825" dirty="0">
                <a:solidFill>
                  <a:srgbClr val="9A8C7E"/>
                </a:solidFill>
                <a:latin typeface="Arial" pitchFamily="34" charset="0"/>
                <a:ea typeface="Arial" pitchFamily="34" charset="-122"/>
                <a:cs typeface="Arial" pitchFamily="34" charset="-120"/>
              </a:rPr>
              <a:t>Full Name</a:t>
            </a:r>
            <a:endParaRPr lang="en-US" sz="825" dirty="0"/>
          </a:p>
        </p:txBody>
      </p:sp>
      <p:sp>
        <p:nvSpPr>
          <p:cNvPr id="31" name="Shape 28"/>
          <p:cNvSpPr/>
          <p:nvPr/>
        </p:nvSpPr>
        <p:spPr>
          <a:xfrm>
            <a:off x="6746200" y="4034790"/>
            <a:ext cx="4795480" cy="415290"/>
          </a:xfrm>
          <a:prstGeom prst="rect">
            <a:avLst/>
          </a:prstGeom>
          <a:solidFill>
            <a:srgbClr val="FFFFFF"/>
          </a:solidFill>
          <a:ln w="7620">
            <a:solidFill>
              <a:srgbClr val="D6CABA"/>
            </a:solidFill>
            <a:prstDash val="solid"/>
          </a:ln>
        </p:spPr>
      </p:sp>
      <p:sp>
        <p:nvSpPr>
          <p:cNvPr id="32" name="Text 29"/>
          <p:cNvSpPr/>
          <p:nvPr/>
        </p:nvSpPr>
        <p:spPr>
          <a:xfrm>
            <a:off x="6849070" y="4099560"/>
            <a:ext cx="4733605" cy="323850"/>
          </a:xfrm>
          <a:prstGeom prst="rect">
            <a:avLst/>
          </a:prstGeom>
          <a:noFill/>
          <a:ln/>
        </p:spPr>
        <p:txBody>
          <a:bodyPr wrap="square" lIns="25400" tIns="25400" rIns="25400" bIns="25400" rtlCol="0" anchor="t">
            <a:normAutofit/>
          </a:bodyPr>
          <a:lstStyle/>
          <a:p>
            <a:pPr algn="l" indent="0" marL="0">
              <a:buNone/>
            </a:pPr>
            <a:r>
              <a:rPr lang="en-US" sz="825" dirty="0">
                <a:solidFill>
                  <a:srgbClr val="9A8C7E"/>
                </a:solidFill>
                <a:latin typeface="Arial" pitchFamily="34" charset="0"/>
                <a:ea typeface="Arial" pitchFamily="34" charset="-122"/>
                <a:cs typeface="Arial" pitchFamily="34" charset="-120"/>
              </a:rPr>
              <a:t>Phone Number</a:t>
            </a:r>
            <a:endParaRPr lang="en-US" sz="825" dirty="0"/>
          </a:p>
        </p:txBody>
      </p:sp>
      <p:sp>
        <p:nvSpPr>
          <p:cNvPr id="33" name="Shape 30"/>
          <p:cNvSpPr/>
          <p:nvPr/>
        </p:nvSpPr>
        <p:spPr>
          <a:xfrm>
            <a:off x="6746200" y="4545330"/>
            <a:ext cx="4795480" cy="415290"/>
          </a:xfrm>
          <a:prstGeom prst="rect">
            <a:avLst/>
          </a:prstGeom>
          <a:solidFill>
            <a:srgbClr val="FFFFFF"/>
          </a:solidFill>
          <a:ln w="7620">
            <a:solidFill>
              <a:srgbClr val="D6CABA"/>
            </a:solidFill>
            <a:prstDash val="solid"/>
          </a:ln>
        </p:spPr>
      </p:sp>
      <p:sp>
        <p:nvSpPr>
          <p:cNvPr id="34" name="Text 31"/>
          <p:cNvSpPr/>
          <p:nvPr/>
        </p:nvSpPr>
        <p:spPr>
          <a:xfrm>
            <a:off x="6849070" y="4610100"/>
            <a:ext cx="4733605" cy="323850"/>
          </a:xfrm>
          <a:prstGeom prst="rect">
            <a:avLst/>
          </a:prstGeom>
          <a:noFill/>
          <a:ln/>
        </p:spPr>
        <p:txBody>
          <a:bodyPr wrap="square" lIns="25400" tIns="25400" rIns="25400" bIns="25400" rtlCol="0" anchor="t">
            <a:normAutofit/>
          </a:bodyPr>
          <a:lstStyle/>
          <a:p>
            <a:pPr algn="l" indent="0" marL="0">
              <a:buNone/>
            </a:pPr>
            <a:r>
              <a:rPr lang="en-US" sz="825" dirty="0">
                <a:solidFill>
                  <a:srgbClr val="9A8C7E"/>
                </a:solidFill>
                <a:latin typeface="Arial" pitchFamily="34" charset="0"/>
                <a:ea typeface="Arial" pitchFamily="34" charset="-122"/>
                <a:cs typeface="Arial" pitchFamily="34" charset="-120"/>
              </a:rPr>
              <a:t>Service Type ▾</a:t>
            </a:r>
            <a:endParaRPr lang="en-US" sz="825" dirty="0"/>
          </a:p>
        </p:txBody>
      </p:sp>
      <p:sp>
        <p:nvSpPr>
          <p:cNvPr id="35" name="Shape 32"/>
          <p:cNvSpPr/>
          <p:nvPr/>
        </p:nvSpPr>
        <p:spPr>
          <a:xfrm>
            <a:off x="6746200" y="5055870"/>
            <a:ext cx="4795480" cy="415290"/>
          </a:xfrm>
          <a:prstGeom prst="rect">
            <a:avLst/>
          </a:prstGeom>
          <a:solidFill>
            <a:srgbClr val="FFFFFF"/>
          </a:solidFill>
          <a:ln w="7620">
            <a:solidFill>
              <a:srgbClr val="D6CABA"/>
            </a:solidFill>
            <a:prstDash val="solid"/>
          </a:ln>
        </p:spPr>
      </p:sp>
      <p:sp>
        <p:nvSpPr>
          <p:cNvPr id="36" name="Text 33"/>
          <p:cNvSpPr/>
          <p:nvPr/>
        </p:nvSpPr>
        <p:spPr>
          <a:xfrm>
            <a:off x="6849070" y="5120640"/>
            <a:ext cx="4733605" cy="323850"/>
          </a:xfrm>
          <a:prstGeom prst="rect">
            <a:avLst/>
          </a:prstGeom>
          <a:noFill/>
          <a:ln/>
        </p:spPr>
        <p:txBody>
          <a:bodyPr wrap="square" lIns="25400" tIns="25400" rIns="25400" bIns="25400" rtlCol="0" anchor="t">
            <a:normAutofit/>
          </a:bodyPr>
          <a:lstStyle/>
          <a:p>
            <a:pPr algn="l" indent="0" marL="0">
              <a:buNone/>
            </a:pPr>
            <a:r>
              <a:rPr lang="en-US" sz="825" dirty="0">
                <a:solidFill>
                  <a:srgbClr val="9A8C7E"/>
                </a:solidFill>
                <a:latin typeface="Arial" pitchFamily="34" charset="0"/>
                <a:ea typeface="Arial" pitchFamily="34" charset="-122"/>
                <a:cs typeface="Arial" pitchFamily="34" charset="-120"/>
              </a:rPr>
              <a:t>Project Location</a:t>
            </a:r>
            <a:endParaRPr lang="en-US" sz="825" dirty="0"/>
          </a:p>
        </p:txBody>
      </p:sp>
      <p:sp>
        <p:nvSpPr>
          <p:cNvPr id="37" name="Shape 34"/>
          <p:cNvSpPr/>
          <p:nvPr/>
        </p:nvSpPr>
        <p:spPr>
          <a:xfrm>
            <a:off x="6746200" y="5566410"/>
            <a:ext cx="4795480" cy="701040"/>
          </a:xfrm>
          <a:prstGeom prst="rect">
            <a:avLst/>
          </a:prstGeom>
          <a:solidFill>
            <a:srgbClr val="FFFFFF"/>
          </a:solidFill>
          <a:ln w="7620">
            <a:solidFill>
              <a:srgbClr val="D6CABA"/>
            </a:solidFill>
            <a:prstDash val="solid"/>
          </a:ln>
        </p:spPr>
      </p:sp>
      <p:sp>
        <p:nvSpPr>
          <p:cNvPr id="38" name="Text 35"/>
          <p:cNvSpPr/>
          <p:nvPr/>
        </p:nvSpPr>
        <p:spPr>
          <a:xfrm>
            <a:off x="6849070" y="5631180"/>
            <a:ext cx="4733605" cy="609600"/>
          </a:xfrm>
          <a:prstGeom prst="rect">
            <a:avLst/>
          </a:prstGeom>
          <a:noFill/>
          <a:ln/>
        </p:spPr>
        <p:txBody>
          <a:bodyPr wrap="square" lIns="25400" tIns="25400" rIns="25400" bIns="25400" rtlCol="0" anchor="t">
            <a:normAutofit/>
          </a:bodyPr>
          <a:lstStyle/>
          <a:p>
            <a:pPr algn="l" indent="0" marL="0">
              <a:buNone/>
            </a:pPr>
            <a:r>
              <a:rPr lang="en-US" sz="825" dirty="0">
                <a:solidFill>
                  <a:srgbClr val="9A8C7E"/>
                </a:solidFill>
                <a:latin typeface="Arial" pitchFamily="34" charset="0"/>
                <a:ea typeface="Arial" pitchFamily="34" charset="-122"/>
                <a:cs typeface="Arial" pitchFamily="34" charset="-120"/>
              </a:rPr>
              <a:t>Description…</a:t>
            </a:r>
            <a:endParaRPr lang="en-US" sz="825" dirty="0"/>
          </a:p>
        </p:txBody>
      </p:sp>
      <p:sp>
        <p:nvSpPr>
          <p:cNvPr id="39" name="Shape 36"/>
          <p:cNvSpPr/>
          <p:nvPr/>
        </p:nvSpPr>
        <p:spPr>
          <a:xfrm>
            <a:off x="6746200" y="6419850"/>
            <a:ext cx="1308735" cy="297180"/>
          </a:xfrm>
          <a:prstGeom prst="roundRect">
            <a:avLst>
              <a:gd name="adj" fmla="val 9615"/>
            </a:avLst>
          </a:prstGeom>
          <a:solidFill>
            <a:srgbClr val="1F7A3F"/>
          </a:solidFill>
          <a:ln/>
        </p:spPr>
      </p:sp>
      <p:sp>
        <p:nvSpPr>
          <p:cNvPr id="40" name="Text 37"/>
          <p:cNvSpPr/>
          <p:nvPr/>
        </p:nvSpPr>
        <p:spPr>
          <a:xfrm>
            <a:off x="6898600" y="6496050"/>
            <a:ext cx="1080135" cy="182880"/>
          </a:xfrm>
          <a:prstGeom prst="rect">
            <a:avLst/>
          </a:prstGeom>
          <a:noFill/>
          <a:ln/>
        </p:spPr>
        <p:txBody>
          <a:bodyPr wrap="square" lIns="25400" tIns="25400" rIns="25400" bIns="25400" rtlCol="0" anchor="t">
            <a:normAutofit/>
          </a:bodyPr>
          <a:lstStyle/>
          <a:p>
            <a:pPr algn="l" indent="0" marL="0">
              <a:buNone/>
            </a:pPr>
            <a:r>
              <a:rPr lang="en-US" sz="900" dirty="0">
                <a:solidFill>
                  <a:srgbClr val="FFFFFF"/>
                </a:solidFill>
                <a:latin typeface="Arial" pitchFamily="34" charset="0"/>
                <a:ea typeface="Arial" pitchFamily="34" charset="-122"/>
                <a:cs typeface="Arial" pitchFamily="34" charset="-120"/>
              </a:rPr>
              <a:t>Send via WhatsApp</a:t>
            </a:r>
            <a:endParaRPr lang="en-US" sz="900" dirty="0"/>
          </a:p>
        </p:txBody>
      </p:sp>
      <p:sp>
        <p:nvSpPr>
          <p:cNvPr id="41" name="Shape 38"/>
          <p:cNvSpPr/>
          <p:nvPr/>
        </p:nvSpPr>
        <p:spPr>
          <a:xfrm>
            <a:off x="8131136" y="6419850"/>
            <a:ext cx="675918" cy="297180"/>
          </a:xfrm>
          <a:prstGeom prst="roundRect">
            <a:avLst>
              <a:gd name="adj" fmla="val 9615"/>
            </a:avLst>
          </a:prstGeom>
          <a:solidFill>
            <a:srgbClr val="FFFFFF"/>
          </a:solidFill>
          <a:ln w="7620">
            <a:solidFill>
              <a:srgbClr val="74121D"/>
            </a:solidFill>
            <a:prstDash val="solid"/>
          </a:ln>
        </p:spPr>
      </p:sp>
      <p:sp>
        <p:nvSpPr>
          <p:cNvPr id="42" name="Text 39"/>
          <p:cNvSpPr/>
          <p:nvPr/>
        </p:nvSpPr>
        <p:spPr>
          <a:xfrm>
            <a:off x="8291156" y="6503670"/>
            <a:ext cx="432078" cy="167640"/>
          </a:xfrm>
          <a:prstGeom prst="rect">
            <a:avLst/>
          </a:prstGeom>
          <a:noFill/>
          <a:ln/>
        </p:spPr>
        <p:txBody>
          <a:bodyPr wrap="square" lIns="25400" tIns="25400" rIns="25400" bIns="25400" rtlCol="0" anchor="t">
            <a:normAutofit/>
          </a:bodyPr>
          <a:lstStyle/>
          <a:p>
            <a:pPr algn="l" indent="0" marL="0">
              <a:buNone/>
            </a:pPr>
            <a:r>
              <a:rPr lang="en-US" sz="900" dirty="0">
                <a:solidFill>
                  <a:srgbClr val="74121D"/>
                </a:solidFill>
                <a:latin typeface="Arial" pitchFamily="34" charset="0"/>
                <a:ea typeface="Arial" pitchFamily="34" charset="-122"/>
                <a:cs typeface="Arial" pitchFamily="34" charset="-120"/>
              </a:rPr>
              <a:t>Cancel</a:t>
            </a:r>
            <a:endParaRPr lang="en-US" sz="900" dirty="0"/>
          </a:p>
        </p:txBody>
      </p:sp>
      <p:sp>
        <p:nvSpPr>
          <p:cNvPr id="43" name="Text 40"/>
          <p:cNvSpPr/>
          <p:nvPr/>
        </p:nvSpPr>
        <p:spPr>
          <a:xfrm>
            <a:off x="6521411" y="7033260"/>
            <a:ext cx="5769567" cy="297180"/>
          </a:xfrm>
          <a:prstGeom prst="rect">
            <a:avLst/>
          </a:prstGeom>
          <a:noFill/>
          <a:ln/>
        </p:spPr>
        <p:txBody>
          <a:bodyPr wrap="square" lIns="25400" tIns="25400" rIns="25400" bIns="25400" rtlCol="0" anchor="t">
            <a:normAutofit/>
          </a:bodyPr>
          <a:lstStyle/>
          <a:p>
            <a:pPr algn="l" indent="0" marL="0">
              <a:buNone/>
            </a:pPr>
            <a:r>
              <a:rPr lang="en-US" sz="1800" b="1" dirty="0">
                <a:solidFill>
                  <a:srgbClr val="74121D"/>
                </a:solidFill>
                <a:latin typeface="Arial" pitchFamily="34" charset="0"/>
                <a:ea typeface="Arial" pitchFamily="34" charset="-122"/>
                <a:cs typeface="Arial" pitchFamily="34" charset="-120"/>
              </a:rPr>
              <a:t>Service Request</a:t>
            </a:r>
            <a:endParaRPr lang="en-US" sz="1800" dirty="0"/>
          </a:p>
        </p:txBody>
      </p:sp>
      <p:sp>
        <p:nvSpPr>
          <p:cNvPr id="44" name="Text 41"/>
          <p:cNvSpPr/>
          <p:nvPr/>
        </p:nvSpPr>
        <p:spPr>
          <a:xfrm>
            <a:off x="6521411" y="7311390"/>
            <a:ext cx="5769567" cy="297180"/>
          </a:xfrm>
          <a:prstGeom prst="rect">
            <a:avLst/>
          </a:prstGeom>
          <a:noFill/>
          <a:ln/>
        </p:spPr>
        <p:txBody>
          <a:bodyPr wrap="square" lIns="25400" tIns="25400" rIns="25400" bIns="25400" rtlCol="0" anchor="t">
            <a:normAutofit/>
          </a:bodyPr>
          <a:lstStyle/>
          <a:p>
            <a:pPr algn="l" indent="0" marL="0">
              <a:buNone/>
            </a:pPr>
            <a:r>
              <a:rPr lang="en-US" sz="1800" dirty="0">
                <a:solidFill>
                  <a:srgbClr val="5A5A5A"/>
                </a:solidFill>
                <a:latin typeface="Arial" pitchFamily="34" charset="0"/>
                <a:ea typeface="Arial" pitchFamily="34" charset="-122"/>
                <a:cs typeface="Arial" pitchFamily="34" charset="-120"/>
              </a:rPr>
              <a:t>Validated form → WhatsApp deep link</a:t>
            </a:r>
            <a:endParaRPr lang="en-US" sz="1800" dirty="0"/>
          </a:p>
        </p:txBody>
      </p:sp>
      <p:sp>
        <p:nvSpPr>
          <p:cNvPr id="45" name="Shape 42"/>
          <p:cNvSpPr/>
          <p:nvPr/>
        </p:nvSpPr>
        <p:spPr>
          <a:xfrm>
            <a:off x="12090321" y="2868930"/>
            <a:ext cx="5245061" cy="4030980"/>
          </a:xfrm>
          <a:prstGeom prst="rect">
            <a:avLst/>
          </a:prstGeom>
          <a:solidFill>
            <a:srgbClr val="FFFFFF"/>
          </a:solidFill>
          <a:ln w="15240">
            <a:solidFill>
              <a:srgbClr val="E0D6C7"/>
            </a:solidFill>
            <a:prstDash val="solid"/>
          </a:ln>
          <a:effectLst>
            <a:outerShdw sx="100000" sy="100000" kx="0" ky="0" algn="bl" rotWithShape="0" blurRad="76200" dist="19050" dir="5400000">
              <a:srgbClr val="74121D">
                <a:alpha val="8000"/>
              </a:srgbClr>
            </a:outerShdw>
          </a:effectLst>
        </p:spPr>
      </p:sp>
      <p:sp>
        <p:nvSpPr>
          <p:cNvPr id="46" name="Shape 43"/>
          <p:cNvSpPr/>
          <p:nvPr/>
        </p:nvSpPr>
        <p:spPr>
          <a:xfrm>
            <a:off x="12105561" y="2884170"/>
            <a:ext cx="762000" cy="4000500"/>
          </a:xfrm>
          <a:prstGeom prst="rect">
            <a:avLst/>
          </a:prstGeom>
          <a:solidFill>
            <a:srgbClr val="3A1A20"/>
          </a:solidFill>
          <a:ln/>
        </p:spPr>
      </p:sp>
      <p:sp>
        <p:nvSpPr>
          <p:cNvPr id="47" name="Text 44"/>
          <p:cNvSpPr/>
          <p:nvPr/>
        </p:nvSpPr>
        <p:spPr>
          <a:xfrm>
            <a:off x="12067461" y="3017520"/>
            <a:ext cx="838200" cy="129540"/>
          </a:xfrm>
          <a:prstGeom prst="rect">
            <a:avLst/>
          </a:prstGeom>
          <a:noFill/>
          <a:ln/>
        </p:spPr>
        <p:txBody>
          <a:bodyPr wrap="square" lIns="25400" tIns="25400" rIns="25400" bIns="25400" rtlCol="0" anchor="t">
            <a:normAutofit/>
          </a:bodyPr>
          <a:lstStyle/>
          <a:p>
            <a:pPr algn="ctr" indent="0" marL="0">
              <a:buNone/>
            </a:pPr>
            <a:r>
              <a:rPr lang="en-US" sz="675" spc="75" kern="0" dirty="0">
                <a:solidFill>
                  <a:srgbClr val="E7D7C1"/>
                </a:solidFill>
                <a:latin typeface="Arial" pitchFamily="34" charset="0"/>
                <a:ea typeface="Arial" pitchFamily="34" charset="-122"/>
                <a:cs typeface="Arial" pitchFamily="34" charset="-120"/>
              </a:rPr>
              <a:t>ADMIN</a:t>
            </a:r>
            <a:endParaRPr lang="en-US" sz="675" dirty="0"/>
          </a:p>
        </p:txBody>
      </p:sp>
      <p:sp>
        <p:nvSpPr>
          <p:cNvPr id="48" name="Shape 45"/>
          <p:cNvSpPr/>
          <p:nvPr/>
        </p:nvSpPr>
        <p:spPr>
          <a:xfrm>
            <a:off x="12181761" y="3242310"/>
            <a:ext cx="609600" cy="323850"/>
          </a:xfrm>
          <a:prstGeom prst="roundRect">
            <a:avLst>
              <a:gd name="adj" fmla="val 8824"/>
            </a:avLst>
          </a:prstGeom>
          <a:solidFill>
            <a:srgbClr val="74121D"/>
          </a:solidFill>
          <a:ln/>
        </p:spPr>
      </p:sp>
      <p:sp>
        <p:nvSpPr>
          <p:cNvPr id="49" name="Shape 46"/>
          <p:cNvSpPr/>
          <p:nvPr/>
        </p:nvSpPr>
        <p:spPr>
          <a:xfrm>
            <a:off x="12181761" y="3604260"/>
            <a:ext cx="609600" cy="228600"/>
          </a:xfrm>
          <a:prstGeom prst="roundRect">
            <a:avLst>
              <a:gd name="adj" fmla="val 12500"/>
            </a:avLst>
          </a:prstGeom>
          <a:solidFill>
            <a:srgbClr val="FFFFFF">
              <a:alpha val="6000"/>
            </a:srgbClr>
          </a:solidFill>
          <a:ln/>
        </p:spPr>
      </p:sp>
      <p:sp>
        <p:nvSpPr>
          <p:cNvPr id="50" name="Shape 47"/>
          <p:cNvSpPr/>
          <p:nvPr/>
        </p:nvSpPr>
        <p:spPr>
          <a:xfrm>
            <a:off x="12181761" y="3870960"/>
            <a:ext cx="609600" cy="228600"/>
          </a:xfrm>
          <a:prstGeom prst="roundRect">
            <a:avLst>
              <a:gd name="adj" fmla="val 12500"/>
            </a:avLst>
          </a:prstGeom>
          <a:solidFill>
            <a:srgbClr val="FFFFFF">
              <a:alpha val="6000"/>
            </a:srgbClr>
          </a:solidFill>
          <a:ln/>
        </p:spPr>
      </p:sp>
      <p:sp>
        <p:nvSpPr>
          <p:cNvPr id="51" name="Shape 48"/>
          <p:cNvSpPr/>
          <p:nvPr/>
        </p:nvSpPr>
        <p:spPr>
          <a:xfrm>
            <a:off x="12181761" y="4137660"/>
            <a:ext cx="609600" cy="228600"/>
          </a:xfrm>
          <a:prstGeom prst="roundRect">
            <a:avLst>
              <a:gd name="adj" fmla="val 12500"/>
            </a:avLst>
          </a:prstGeom>
          <a:solidFill>
            <a:srgbClr val="FFFFFF">
              <a:alpha val="6000"/>
            </a:srgbClr>
          </a:solidFill>
          <a:ln/>
        </p:spPr>
      </p:sp>
      <p:sp>
        <p:nvSpPr>
          <p:cNvPr id="52" name="Shape 49"/>
          <p:cNvSpPr/>
          <p:nvPr/>
        </p:nvSpPr>
        <p:spPr>
          <a:xfrm>
            <a:off x="12867561" y="2884170"/>
            <a:ext cx="4452580" cy="4000500"/>
          </a:xfrm>
          <a:prstGeom prst="rect">
            <a:avLst/>
          </a:prstGeom>
          <a:solidFill>
            <a:srgbClr val="FFFFFF"/>
          </a:solidFill>
          <a:ln/>
        </p:spPr>
      </p:sp>
      <p:sp>
        <p:nvSpPr>
          <p:cNvPr id="53" name="Text 50"/>
          <p:cNvSpPr/>
          <p:nvPr/>
        </p:nvSpPr>
        <p:spPr>
          <a:xfrm>
            <a:off x="13039011" y="3017520"/>
            <a:ext cx="4520648" cy="198120"/>
          </a:xfrm>
          <a:prstGeom prst="rect">
            <a:avLst/>
          </a:prstGeom>
          <a:noFill/>
          <a:ln/>
        </p:spPr>
        <p:txBody>
          <a:bodyPr wrap="square" lIns="25400" tIns="25400" rIns="25400" bIns="25400" rtlCol="0" anchor="t">
            <a:normAutofit/>
          </a:bodyPr>
          <a:lstStyle/>
          <a:p>
            <a:pPr algn="l" indent="0" marL="0">
              <a:buNone/>
            </a:pPr>
            <a:r>
              <a:rPr lang="en-US" sz="1050" b="1" dirty="0">
                <a:solidFill>
                  <a:srgbClr val="74121D"/>
                </a:solidFill>
                <a:latin typeface="Arial" pitchFamily="34" charset="0"/>
                <a:ea typeface="Arial" pitchFamily="34" charset="-122"/>
                <a:cs typeface="Arial" pitchFamily="34" charset="-120"/>
              </a:rPr>
              <a:t>Projects</a:t>
            </a:r>
            <a:endParaRPr lang="en-US" sz="1050" dirty="0"/>
          </a:p>
        </p:txBody>
      </p:sp>
      <p:sp>
        <p:nvSpPr>
          <p:cNvPr id="54" name="Shape 51"/>
          <p:cNvSpPr/>
          <p:nvPr/>
        </p:nvSpPr>
        <p:spPr>
          <a:xfrm>
            <a:off x="13039011" y="3272790"/>
            <a:ext cx="1331714" cy="419100"/>
          </a:xfrm>
          <a:prstGeom prst="rect">
            <a:avLst/>
          </a:prstGeom>
          <a:solidFill>
            <a:srgbClr val="FBF6EE"/>
          </a:solidFill>
          <a:ln/>
        </p:spPr>
      </p:sp>
      <p:sp>
        <p:nvSpPr>
          <p:cNvPr id="55" name="Shape 52"/>
          <p:cNvSpPr/>
          <p:nvPr/>
        </p:nvSpPr>
        <p:spPr>
          <a:xfrm>
            <a:off x="13077111" y="3310890"/>
            <a:ext cx="1255514" cy="209550"/>
          </a:xfrm>
          <a:prstGeom prst="rect">
            <a:avLst/>
          </a:prstGeom>
          <a:solidFill>
            <a:srgbClr val="E0D6C7"/>
          </a:solidFill>
          <a:ln/>
        </p:spPr>
      </p:sp>
      <p:sp>
        <p:nvSpPr>
          <p:cNvPr id="56" name="Text 53"/>
          <p:cNvSpPr/>
          <p:nvPr/>
        </p:nvSpPr>
        <p:spPr>
          <a:xfrm>
            <a:off x="13077111" y="3520440"/>
            <a:ext cx="1381065" cy="129540"/>
          </a:xfrm>
          <a:prstGeom prst="rect">
            <a:avLst/>
          </a:prstGeom>
          <a:noFill/>
          <a:ln/>
        </p:spPr>
        <p:txBody>
          <a:bodyPr wrap="square" lIns="25400" tIns="25400" rIns="25400" bIns="25400" rtlCol="0" anchor="t">
            <a:normAutofit/>
          </a:bodyPr>
          <a:lstStyle/>
          <a:p>
            <a:pPr algn="l" indent="0" marL="0">
              <a:buNone/>
            </a:pPr>
            <a:r>
              <a:rPr lang="en-US" sz="675" b="1" dirty="0">
                <a:solidFill>
                  <a:srgbClr val="74121D"/>
                </a:solidFill>
                <a:latin typeface="Arial" pitchFamily="34" charset="0"/>
                <a:ea typeface="Arial" pitchFamily="34" charset="-122"/>
                <a:cs typeface="Arial" pitchFamily="34" charset="-120"/>
              </a:rPr>
              <a:t>Tower A</a:t>
            </a:r>
            <a:endParaRPr lang="en-US" sz="675" dirty="0"/>
          </a:p>
        </p:txBody>
      </p:sp>
      <p:sp>
        <p:nvSpPr>
          <p:cNvPr id="57" name="Shape 54"/>
          <p:cNvSpPr/>
          <p:nvPr/>
        </p:nvSpPr>
        <p:spPr>
          <a:xfrm>
            <a:off x="14427875" y="3272790"/>
            <a:ext cx="1331833" cy="419100"/>
          </a:xfrm>
          <a:prstGeom prst="rect">
            <a:avLst/>
          </a:prstGeom>
          <a:solidFill>
            <a:srgbClr val="FBF6EE"/>
          </a:solidFill>
          <a:ln/>
        </p:spPr>
      </p:sp>
      <p:sp>
        <p:nvSpPr>
          <p:cNvPr id="58" name="Shape 55"/>
          <p:cNvSpPr/>
          <p:nvPr/>
        </p:nvSpPr>
        <p:spPr>
          <a:xfrm>
            <a:off x="14465975" y="3310890"/>
            <a:ext cx="1255633" cy="209550"/>
          </a:xfrm>
          <a:prstGeom prst="rect">
            <a:avLst/>
          </a:prstGeom>
          <a:solidFill>
            <a:srgbClr val="E0D6C7"/>
          </a:solidFill>
          <a:ln/>
        </p:spPr>
      </p:sp>
      <p:sp>
        <p:nvSpPr>
          <p:cNvPr id="59" name="Text 56"/>
          <p:cNvSpPr/>
          <p:nvPr/>
        </p:nvSpPr>
        <p:spPr>
          <a:xfrm>
            <a:off x="14465975" y="3520440"/>
            <a:ext cx="1381196" cy="129540"/>
          </a:xfrm>
          <a:prstGeom prst="rect">
            <a:avLst/>
          </a:prstGeom>
          <a:noFill/>
          <a:ln/>
        </p:spPr>
        <p:txBody>
          <a:bodyPr wrap="square" lIns="25400" tIns="25400" rIns="25400" bIns="25400" rtlCol="0" anchor="t">
            <a:normAutofit/>
          </a:bodyPr>
          <a:lstStyle/>
          <a:p>
            <a:pPr algn="l" indent="0" marL="0">
              <a:buNone/>
            </a:pPr>
            <a:r>
              <a:rPr lang="en-US" sz="675" b="1" dirty="0">
                <a:solidFill>
                  <a:srgbClr val="74121D"/>
                </a:solidFill>
                <a:latin typeface="Arial" pitchFamily="34" charset="0"/>
                <a:ea typeface="Arial" pitchFamily="34" charset="-122"/>
                <a:cs typeface="Arial" pitchFamily="34" charset="-120"/>
              </a:rPr>
              <a:t>Mall B</a:t>
            </a:r>
            <a:endParaRPr lang="en-US" sz="675" dirty="0"/>
          </a:p>
        </p:txBody>
      </p:sp>
      <p:sp>
        <p:nvSpPr>
          <p:cNvPr id="60" name="Shape 57"/>
          <p:cNvSpPr/>
          <p:nvPr/>
        </p:nvSpPr>
        <p:spPr>
          <a:xfrm>
            <a:off x="15816858" y="3272790"/>
            <a:ext cx="1331833" cy="419100"/>
          </a:xfrm>
          <a:prstGeom prst="rect">
            <a:avLst/>
          </a:prstGeom>
          <a:solidFill>
            <a:srgbClr val="FBF6EE"/>
          </a:solidFill>
          <a:ln/>
        </p:spPr>
      </p:sp>
      <p:sp>
        <p:nvSpPr>
          <p:cNvPr id="61" name="Shape 58"/>
          <p:cNvSpPr/>
          <p:nvPr/>
        </p:nvSpPr>
        <p:spPr>
          <a:xfrm>
            <a:off x="15854958" y="3310890"/>
            <a:ext cx="1255633" cy="209550"/>
          </a:xfrm>
          <a:prstGeom prst="rect">
            <a:avLst/>
          </a:prstGeom>
          <a:solidFill>
            <a:srgbClr val="E0D6C7"/>
          </a:solidFill>
          <a:ln/>
        </p:spPr>
      </p:sp>
      <p:sp>
        <p:nvSpPr>
          <p:cNvPr id="62" name="Text 59"/>
          <p:cNvSpPr/>
          <p:nvPr/>
        </p:nvSpPr>
        <p:spPr>
          <a:xfrm>
            <a:off x="15854958" y="3520440"/>
            <a:ext cx="1381196" cy="129540"/>
          </a:xfrm>
          <a:prstGeom prst="rect">
            <a:avLst/>
          </a:prstGeom>
          <a:noFill/>
          <a:ln/>
        </p:spPr>
        <p:txBody>
          <a:bodyPr wrap="square" lIns="25400" tIns="25400" rIns="25400" bIns="25400" rtlCol="0" anchor="t">
            <a:normAutofit/>
          </a:bodyPr>
          <a:lstStyle/>
          <a:p>
            <a:pPr algn="l" indent="0" marL="0">
              <a:buNone/>
            </a:pPr>
            <a:r>
              <a:rPr lang="en-US" sz="675" b="1" dirty="0">
                <a:solidFill>
                  <a:srgbClr val="74121D"/>
                </a:solidFill>
                <a:latin typeface="Arial" pitchFamily="34" charset="0"/>
                <a:ea typeface="Arial" pitchFamily="34" charset="-122"/>
                <a:cs typeface="Arial" pitchFamily="34" charset="-120"/>
              </a:rPr>
              <a:t>Plaza</a:t>
            </a:r>
            <a:endParaRPr lang="en-US" sz="675" dirty="0"/>
          </a:p>
        </p:txBody>
      </p:sp>
      <p:sp>
        <p:nvSpPr>
          <p:cNvPr id="63" name="Shape 60"/>
          <p:cNvSpPr/>
          <p:nvPr/>
        </p:nvSpPr>
        <p:spPr>
          <a:xfrm>
            <a:off x="13039011" y="3787140"/>
            <a:ext cx="854750" cy="228600"/>
          </a:xfrm>
          <a:prstGeom prst="roundRect">
            <a:avLst>
              <a:gd name="adj" fmla="val 12500"/>
            </a:avLst>
          </a:prstGeom>
          <a:solidFill>
            <a:srgbClr val="74121D"/>
          </a:solidFill>
          <a:ln/>
        </p:spPr>
      </p:sp>
      <p:sp>
        <p:nvSpPr>
          <p:cNvPr id="64" name="Text 61"/>
          <p:cNvSpPr/>
          <p:nvPr/>
        </p:nvSpPr>
        <p:spPr>
          <a:xfrm>
            <a:off x="13153311" y="3844290"/>
            <a:ext cx="702350" cy="152400"/>
          </a:xfrm>
          <a:prstGeom prst="rect">
            <a:avLst/>
          </a:prstGeom>
          <a:noFill/>
          <a:ln/>
        </p:spPr>
        <p:txBody>
          <a:bodyPr wrap="square" lIns="25400" tIns="25400" rIns="25400" bIns="25400" rtlCol="0" anchor="t">
            <a:normAutofit/>
          </a:bodyPr>
          <a:lstStyle/>
          <a:p>
            <a:pPr algn="l" indent="0" marL="0">
              <a:buNone/>
            </a:pPr>
            <a:r>
              <a:rPr lang="en-US" sz="825" dirty="0">
                <a:solidFill>
                  <a:srgbClr val="FFFFFF"/>
                </a:solidFill>
                <a:latin typeface="Arial" pitchFamily="34" charset="0"/>
                <a:ea typeface="Arial" pitchFamily="34" charset="-122"/>
                <a:cs typeface="Arial" pitchFamily="34" charset="-120"/>
              </a:rPr>
              <a:t>+ Add Project</a:t>
            </a:r>
            <a:endParaRPr lang="en-US" sz="825" dirty="0"/>
          </a:p>
        </p:txBody>
      </p:sp>
      <p:sp>
        <p:nvSpPr>
          <p:cNvPr id="65" name="Text 62"/>
          <p:cNvSpPr/>
          <p:nvPr/>
        </p:nvSpPr>
        <p:spPr>
          <a:xfrm>
            <a:off x="13039011" y="4187190"/>
            <a:ext cx="4520648" cy="182880"/>
          </a:xfrm>
          <a:prstGeom prst="rect">
            <a:avLst/>
          </a:prstGeom>
          <a:noFill/>
          <a:ln/>
        </p:spPr>
        <p:txBody>
          <a:bodyPr wrap="square" lIns="25400" tIns="25400" rIns="25400" bIns="25400" rtlCol="0" anchor="t">
            <a:normAutofit/>
          </a:bodyPr>
          <a:lstStyle/>
          <a:p>
            <a:pPr algn="l" indent="0" marL="0">
              <a:buNone/>
            </a:pPr>
            <a:r>
              <a:rPr lang="en-US" sz="975" b="1" dirty="0">
                <a:solidFill>
                  <a:srgbClr val="74121D"/>
                </a:solidFill>
                <a:latin typeface="Arial" pitchFamily="34" charset="0"/>
                <a:ea typeface="Arial" pitchFamily="34" charset="-122"/>
                <a:cs typeface="Arial" pitchFamily="34" charset="-120"/>
              </a:rPr>
              <a:t>Recent Requests</a:t>
            </a:r>
            <a:endParaRPr lang="en-US" sz="975" dirty="0"/>
          </a:p>
        </p:txBody>
      </p:sp>
      <p:sp>
        <p:nvSpPr>
          <p:cNvPr id="66" name="Shape 63"/>
          <p:cNvSpPr/>
          <p:nvPr/>
        </p:nvSpPr>
        <p:spPr>
          <a:xfrm>
            <a:off x="13039011" y="4389120"/>
            <a:ext cx="4109680" cy="182880"/>
          </a:xfrm>
          <a:prstGeom prst="rect">
            <a:avLst/>
          </a:prstGeom>
          <a:solidFill>
            <a:srgbClr val="FBF6EE"/>
          </a:solidFill>
          <a:ln/>
        </p:spPr>
      </p:sp>
      <p:sp>
        <p:nvSpPr>
          <p:cNvPr id="67" name="Text 64"/>
          <p:cNvSpPr/>
          <p:nvPr/>
        </p:nvSpPr>
        <p:spPr>
          <a:xfrm>
            <a:off x="13115211" y="4427220"/>
            <a:ext cx="933926" cy="144780"/>
          </a:xfrm>
          <a:prstGeom prst="rect">
            <a:avLst/>
          </a:prstGeom>
          <a:noFill/>
          <a:ln/>
        </p:spPr>
        <p:txBody>
          <a:bodyPr wrap="square" lIns="25400" tIns="25400" rIns="25400" bIns="25400" rtlCol="0" anchor="t">
            <a:normAutofit/>
          </a:bodyPr>
          <a:lstStyle/>
          <a:p>
            <a:pPr algn="l" indent="0" marL="0">
              <a:buNone/>
            </a:pPr>
            <a:r>
              <a:rPr lang="en-US" sz="750" dirty="0">
                <a:solidFill>
                  <a:srgbClr val="FFFFFF"/>
                </a:solidFill>
                <a:latin typeface="Arial" pitchFamily="34" charset="0"/>
                <a:ea typeface="Arial" pitchFamily="34" charset="-122"/>
                <a:cs typeface="Arial" pitchFamily="34" charset="-120"/>
              </a:rPr>
              <a:t>Ahmed · Residential</a:t>
            </a:r>
            <a:endParaRPr lang="en-US" sz="750" dirty="0"/>
          </a:p>
        </p:txBody>
      </p:sp>
      <p:sp>
        <p:nvSpPr>
          <p:cNvPr id="68" name="Text 65"/>
          <p:cNvSpPr/>
          <p:nvPr/>
        </p:nvSpPr>
        <p:spPr>
          <a:xfrm>
            <a:off x="16781145" y="4427220"/>
            <a:ext cx="367546" cy="144780"/>
          </a:xfrm>
          <a:prstGeom prst="rect">
            <a:avLst/>
          </a:prstGeom>
          <a:noFill/>
          <a:ln/>
        </p:spPr>
        <p:txBody>
          <a:bodyPr wrap="square" lIns="25400" tIns="25400" rIns="25400" bIns="25400" rtlCol="0" anchor="t">
            <a:normAutofit/>
          </a:bodyPr>
          <a:lstStyle/>
          <a:p>
            <a:pPr algn="l" indent="0" marL="0">
              <a:buNone/>
            </a:pPr>
            <a:r>
              <a:rPr lang="en-US" sz="750" dirty="0">
                <a:solidFill>
                  <a:srgbClr val="5A5A5A"/>
                </a:solidFill>
                <a:latin typeface="Arial" pitchFamily="34" charset="0"/>
                <a:ea typeface="Arial" pitchFamily="34" charset="-122"/>
                <a:cs typeface="Arial" pitchFamily="34" charset="-120"/>
              </a:rPr>
              <a:t>2h ago</a:t>
            </a:r>
            <a:endParaRPr lang="en-US" sz="750" dirty="0"/>
          </a:p>
        </p:txBody>
      </p:sp>
      <p:sp>
        <p:nvSpPr>
          <p:cNvPr id="69" name="Shape 66"/>
          <p:cNvSpPr/>
          <p:nvPr/>
        </p:nvSpPr>
        <p:spPr>
          <a:xfrm>
            <a:off x="13039011" y="4600575"/>
            <a:ext cx="4109680" cy="182880"/>
          </a:xfrm>
          <a:prstGeom prst="rect">
            <a:avLst/>
          </a:prstGeom>
          <a:solidFill>
            <a:srgbClr val="FBF6EE"/>
          </a:solidFill>
          <a:ln/>
        </p:spPr>
      </p:sp>
      <p:sp>
        <p:nvSpPr>
          <p:cNvPr id="70" name="Text 67"/>
          <p:cNvSpPr/>
          <p:nvPr/>
        </p:nvSpPr>
        <p:spPr>
          <a:xfrm>
            <a:off x="13115211" y="4638675"/>
            <a:ext cx="896660" cy="144780"/>
          </a:xfrm>
          <a:prstGeom prst="rect">
            <a:avLst/>
          </a:prstGeom>
          <a:noFill/>
          <a:ln/>
        </p:spPr>
        <p:txBody>
          <a:bodyPr wrap="square" lIns="25400" tIns="25400" rIns="25400" bIns="25400" rtlCol="0" anchor="t">
            <a:normAutofit/>
          </a:bodyPr>
          <a:lstStyle/>
          <a:p>
            <a:pPr algn="l" indent="0" marL="0">
              <a:buNone/>
            </a:pPr>
            <a:r>
              <a:rPr lang="en-US" sz="750" dirty="0">
                <a:solidFill>
                  <a:srgbClr val="FFFFFF"/>
                </a:solidFill>
                <a:latin typeface="Arial" pitchFamily="34" charset="0"/>
                <a:ea typeface="Arial" pitchFamily="34" charset="-122"/>
                <a:cs typeface="Arial" pitchFamily="34" charset="-120"/>
              </a:rPr>
              <a:t>Layla · Commercial</a:t>
            </a:r>
            <a:endParaRPr lang="en-US" sz="750" dirty="0"/>
          </a:p>
        </p:txBody>
      </p:sp>
      <p:sp>
        <p:nvSpPr>
          <p:cNvPr id="71" name="Text 68"/>
          <p:cNvSpPr/>
          <p:nvPr/>
        </p:nvSpPr>
        <p:spPr>
          <a:xfrm>
            <a:off x="16781145" y="4638675"/>
            <a:ext cx="367546" cy="144780"/>
          </a:xfrm>
          <a:prstGeom prst="rect">
            <a:avLst/>
          </a:prstGeom>
          <a:noFill/>
          <a:ln/>
        </p:spPr>
        <p:txBody>
          <a:bodyPr wrap="square" lIns="25400" tIns="25400" rIns="25400" bIns="25400" rtlCol="0" anchor="t">
            <a:normAutofit/>
          </a:bodyPr>
          <a:lstStyle/>
          <a:p>
            <a:pPr algn="l" indent="0" marL="0">
              <a:buNone/>
            </a:pPr>
            <a:r>
              <a:rPr lang="en-US" sz="750" dirty="0">
                <a:solidFill>
                  <a:srgbClr val="5A5A5A"/>
                </a:solidFill>
                <a:latin typeface="Arial" pitchFamily="34" charset="0"/>
                <a:ea typeface="Arial" pitchFamily="34" charset="-122"/>
                <a:cs typeface="Arial" pitchFamily="34" charset="-120"/>
              </a:rPr>
              <a:t>5h ago</a:t>
            </a:r>
            <a:endParaRPr lang="en-US" sz="750" dirty="0"/>
          </a:p>
        </p:txBody>
      </p:sp>
      <p:sp>
        <p:nvSpPr>
          <p:cNvPr id="72" name="Shape 69"/>
          <p:cNvSpPr/>
          <p:nvPr/>
        </p:nvSpPr>
        <p:spPr>
          <a:xfrm>
            <a:off x="13039011" y="4812030"/>
            <a:ext cx="4109680" cy="182880"/>
          </a:xfrm>
          <a:prstGeom prst="rect">
            <a:avLst/>
          </a:prstGeom>
          <a:solidFill>
            <a:srgbClr val="FBF6EE"/>
          </a:solidFill>
          <a:ln/>
        </p:spPr>
      </p:sp>
      <p:sp>
        <p:nvSpPr>
          <p:cNvPr id="73" name="Text 70"/>
          <p:cNvSpPr/>
          <p:nvPr/>
        </p:nvSpPr>
        <p:spPr>
          <a:xfrm>
            <a:off x="13115211" y="4850130"/>
            <a:ext cx="785574" cy="144780"/>
          </a:xfrm>
          <a:prstGeom prst="rect">
            <a:avLst/>
          </a:prstGeom>
          <a:noFill/>
          <a:ln/>
        </p:spPr>
        <p:txBody>
          <a:bodyPr wrap="square" lIns="25400" tIns="25400" rIns="25400" bIns="25400" rtlCol="0" anchor="t">
            <a:normAutofit/>
          </a:bodyPr>
          <a:lstStyle/>
          <a:p>
            <a:pPr algn="l" indent="0" marL="0">
              <a:buNone/>
            </a:pPr>
            <a:r>
              <a:rPr lang="en-US" sz="750" dirty="0">
                <a:solidFill>
                  <a:srgbClr val="FFFFFF"/>
                </a:solidFill>
                <a:latin typeface="Arial" pitchFamily="34" charset="0"/>
                <a:ea typeface="Arial" pitchFamily="34" charset="-122"/>
                <a:cs typeface="Arial" pitchFamily="34" charset="-120"/>
              </a:rPr>
              <a:t>Omar · Industrial</a:t>
            </a:r>
            <a:endParaRPr lang="en-US" sz="750" dirty="0"/>
          </a:p>
        </p:txBody>
      </p:sp>
      <p:sp>
        <p:nvSpPr>
          <p:cNvPr id="74" name="Text 71"/>
          <p:cNvSpPr/>
          <p:nvPr/>
        </p:nvSpPr>
        <p:spPr>
          <a:xfrm>
            <a:off x="16781145" y="4850130"/>
            <a:ext cx="367546" cy="144780"/>
          </a:xfrm>
          <a:prstGeom prst="rect">
            <a:avLst/>
          </a:prstGeom>
          <a:noFill/>
          <a:ln/>
        </p:spPr>
        <p:txBody>
          <a:bodyPr wrap="square" lIns="25400" tIns="25400" rIns="25400" bIns="25400" rtlCol="0" anchor="t">
            <a:normAutofit/>
          </a:bodyPr>
          <a:lstStyle/>
          <a:p>
            <a:pPr algn="l" indent="0" marL="0">
              <a:buNone/>
            </a:pPr>
            <a:r>
              <a:rPr lang="en-US" sz="750" dirty="0">
                <a:solidFill>
                  <a:srgbClr val="5A5A5A"/>
                </a:solidFill>
                <a:latin typeface="Arial" pitchFamily="34" charset="0"/>
                <a:ea typeface="Arial" pitchFamily="34" charset="-122"/>
                <a:cs typeface="Arial" pitchFamily="34" charset="-120"/>
              </a:rPr>
              <a:t>1d ago</a:t>
            </a:r>
            <a:endParaRPr lang="en-US" sz="750" dirty="0"/>
          </a:p>
        </p:txBody>
      </p:sp>
      <p:sp>
        <p:nvSpPr>
          <p:cNvPr id="75" name="Text 72"/>
          <p:cNvSpPr/>
          <p:nvPr/>
        </p:nvSpPr>
        <p:spPr>
          <a:xfrm>
            <a:off x="12090321" y="7033260"/>
            <a:ext cx="5769567" cy="297180"/>
          </a:xfrm>
          <a:prstGeom prst="rect">
            <a:avLst/>
          </a:prstGeom>
          <a:noFill/>
          <a:ln/>
        </p:spPr>
        <p:txBody>
          <a:bodyPr wrap="square" lIns="25400" tIns="25400" rIns="25400" bIns="25400" rtlCol="0" anchor="t">
            <a:normAutofit/>
          </a:bodyPr>
          <a:lstStyle/>
          <a:p>
            <a:pPr algn="l" indent="0" marL="0">
              <a:buNone/>
            </a:pPr>
            <a:r>
              <a:rPr lang="en-US" sz="1800" b="1" dirty="0">
                <a:solidFill>
                  <a:srgbClr val="74121D"/>
                </a:solidFill>
                <a:latin typeface="Arial" pitchFamily="34" charset="0"/>
                <a:ea typeface="Arial" pitchFamily="34" charset="-122"/>
                <a:cs typeface="Arial" pitchFamily="34" charset="-120"/>
              </a:rPr>
              <a:t>Admin Dashboard</a:t>
            </a:r>
            <a:endParaRPr lang="en-US" sz="1800" dirty="0"/>
          </a:p>
        </p:txBody>
      </p:sp>
      <p:sp>
        <p:nvSpPr>
          <p:cNvPr id="76" name="Text 73"/>
          <p:cNvSpPr/>
          <p:nvPr/>
        </p:nvSpPr>
        <p:spPr>
          <a:xfrm>
            <a:off x="12090321" y="7311390"/>
            <a:ext cx="5769567" cy="297180"/>
          </a:xfrm>
          <a:prstGeom prst="rect">
            <a:avLst/>
          </a:prstGeom>
          <a:noFill/>
          <a:ln/>
        </p:spPr>
        <p:txBody>
          <a:bodyPr wrap="square" lIns="25400" tIns="25400" rIns="25400" bIns="25400" rtlCol="0" anchor="t">
            <a:normAutofit/>
          </a:bodyPr>
          <a:lstStyle/>
          <a:p>
            <a:pPr algn="l" indent="0" marL="0">
              <a:buNone/>
            </a:pPr>
            <a:r>
              <a:rPr lang="en-US" sz="1800" dirty="0">
                <a:solidFill>
                  <a:srgbClr val="5A5A5A"/>
                </a:solidFill>
                <a:latin typeface="Arial" pitchFamily="34" charset="0"/>
                <a:ea typeface="Arial" pitchFamily="34" charset="-122"/>
                <a:cs typeface="Arial" pitchFamily="34" charset="-120"/>
              </a:rPr>
              <a:t>Project CRUD &amp; request inbox</a:t>
            </a:r>
            <a:endParaRPr lang="en-US" sz="1800" dirty="0"/>
          </a:p>
        </p:txBody>
      </p:sp>
      <p:sp>
        <p:nvSpPr>
          <p:cNvPr id="77" name="Text 74"/>
          <p:cNvSpPr/>
          <p:nvPr/>
        </p:nvSpPr>
        <p:spPr>
          <a:xfrm>
            <a:off x="952500" y="7894320"/>
            <a:ext cx="18021300" cy="297180"/>
          </a:xfrm>
          <a:prstGeom prst="rect">
            <a:avLst/>
          </a:prstGeom>
          <a:noFill/>
          <a:ln/>
        </p:spPr>
        <p:txBody>
          <a:bodyPr wrap="square" lIns="25400" tIns="25400" rIns="25400" bIns="25400" rtlCol="0" anchor="t">
            <a:normAutofit/>
          </a:bodyPr>
          <a:lstStyle/>
          <a:p>
            <a:pPr algn="l" indent="0" marL="0">
              <a:buNone/>
            </a:pPr>
            <a:r>
              <a:rPr lang="en-US" sz="1800" i="1" dirty="0">
                <a:solidFill>
                  <a:srgbClr val="74121D"/>
                </a:solidFill>
                <a:latin typeface="Arial" pitchFamily="34" charset="0"/>
                <a:ea typeface="Arial" pitchFamily="34" charset="-122"/>
                <a:cs typeface="Arial" pitchFamily="34" charset="-120"/>
              </a:rPr>
              <a:t>Stylised previews — full Appendix C wireframes pin every component, anchor, and interaction.</a:t>
            </a:r>
            <a:endParaRPr lang="en-US" sz="1800" dirty="0"/>
          </a:p>
        </p:txBody>
      </p:sp>
      <p:sp>
        <p:nvSpPr>
          <p:cNvPr id="78" name="Text 75"/>
          <p:cNvSpPr/>
          <p:nvPr/>
        </p:nvSpPr>
        <p:spPr>
          <a:xfrm>
            <a:off x="952500" y="9761220"/>
            <a:ext cx="4426744" cy="297180"/>
          </a:xfrm>
          <a:prstGeom prst="rect">
            <a:avLst/>
          </a:prstGeom>
          <a:noFill/>
          <a:ln/>
        </p:spPr>
        <p:txBody>
          <a:bodyPr wrap="square" lIns="25400" tIns="25400" rIns="25400" bIns="25400" rtlCol="0" anchor="t">
            <a:normAutofit/>
          </a:bodyPr>
          <a:lstStyle/>
          <a:p>
            <a:pPr algn="l" indent="0" marL="0">
              <a:buNone/>
            </a:pPr>
            <a:r>
              <a:rPr lang="en-US" sz="1800" spc="38" kern="0" dirty="0">
                <a:solidFill>
                  <a:srgbClr val="9A8C7E"/>
                </a:solidFill>
                <a:latin typeface="Arial" pitchFamily="34" charset="0"/>
                <a:ea typeface="Arial" pitchFamily="34" charset="-122"/>
                <a:cs typeface="Arial" pitchFamily="34" charset="-120"/>
              </a:rPr>
              <a:t>UATCC Web Application · PSM 1 Viva</a:t>
            </a:r>
            <a:endParaRPr lang="en-US" sz="1800" dirty="0"/>
          </a:p>
        </p:txBody>
      </p:sp>
      <p:sp>
        <p:nvSpPr>
          <p:cNvPr id="79" name="Text 76"/>
          <p:cNvSpPr/>
          <p:nvPr/>
        </p:nvSpPr>
        <p:spPr>
          <a:xfrm>
            <a:off x="16619934" y="9761220"/>
            <a:ext cx="791766" cy="297180"/>
          </a:xfrm>
          <a:prstGeom prst="rect">
            <a:avLst/>
          </a:prstGeom>
          <a:noFill/>
          <a:ln/>
        </p:spPr>
        <p:txBody>
          <a:bodyPr wrap="square" lIns="25400" tIns="25400" rIns="25400" bIns="25400" rtlCol="0" anchor="t">
            <a:normAutofit/>
          </a:bodyPr>
          <a:lstStyle/>
          <a:p>
            <a:pPr algn="l" indent="0" marL="0">
              <a:buNone/>
            </a:pPr>
            <a:r>
              <a:rPr lang="en-US" sz="1800" spc="38" kern="0" dirty="0">
                <a:solidFill>
                  <a:srgbClr val="9A8C7E"/>
                </a:solidFill>
                <a:latin typeface="Arial" pitchFamily="34" charset="0"/>
                <a:ea typeface="Arial" pitchFamily="34" charset="-122"/>
                <a:cs typeface="Arial" pitchFamily="34" charset="-120"/>
              </a:rPr>
              <a:t>11 / 14</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0" cy="133350"/>
          </a:xfrm>
          <a:prstGeom prst="rect">
            <a:avLst/>
          </a:prstGeom>
          <a:solidFill>
            <a:srgbClr val="74121D"/>
          </a:solidFill>
          <a:ln/>
        </p:spPr>
      </p:sp>
      <p:pic>
        <p:nvPicPr>
          <p:cNvPr id="3" name="Image 0" descr="preencoded.png">    </p:cNvPr>
          <p:cNvPicPr>
            <a:picLocks noChangeAspect="1"/>
          </p:cNvPicPr>
          <p:nvPr/>
        </p:nvPicPr>
        <p:blipFill>
          <a:blip r:embed="rId1"/>
          <a:stretch>
            <a:fillRect/>
          </a:stretch>
        </p:blipFill>
        <p:spPr>
          <a:xfrm>
            <a:off x="16004143" y="361950"/>
            <a:ext cx="1521857" cy="514350"/>
          </a:xfrm>
          <a:prstGeom prst="rect">
            <a:avLst/>
          </a:prstGeom>
        </p:spPr>
      </p:pic>
      <p:sp>
        <p:nvSpPr>
          <p:cNvPr id="4" name="Text 1"/>
          <p:cNvSpPr/>
          <p:nvPr/>
        </p:nvSpPr>
        <p:spPr>
          <a:xfrm>
            <a:off x="952500" y="1238250"/>
            <a:ext cx="18021300" cy="297180"/>
          </a:xfrm>
          <a:prstGeom prst="rect">
            <a:avLst/>
          </a:prstGeom>
          <a:noFill/>
          <a:ln/>
        </p:spPr>
        <p:txBody>
          <a:bodyPr wrap="square" lIns="25400" tIns="25400" rIns="25400" bIns="25400" rtlCol="0" anchor="t">
            <a:normAutofit/>
          </a:bodyPr>
          <a:lstStyle/>
          <a:p>
            <a:pPr algn="l" indent="0" marL="0">
              <a:buNone/>
            </a:pPr>
            <a:r>
              <a:rPr lang="en-US" sz="1800" b="1" spc="225" kern="0" dirty="0">
                <a:solidFill>
                  <a:srgbClr val="B19C7D"/>
                </a:solidFill>
                <a:latin typeface="Arial" pitchFamily="34" charset="0"/>
                <a:ea typeface="Arial" pitchFamily="34" charset="-122"/>
                <a:cs typeface="Arial" pitchFamily="34" charset="-120"/>
              </a:rPr>
              <a:t>CHAPTER 4.9</a:t>
            </a:r>
            <a:endParaRPr lang="en-US" sz="1800" dirty="0"/>
          </a:p>
        </p:txBody>
      </p:sp>
      <p:sp>
        <p:nvSpPr>
          <p:cNvPr id="5" name="Text 2"/>
          <p:cNvSpPr/>
          <p:nvPr/>
        </p:nvSpPr>
        <p:spPr>
          <a:xfrm>
            <a:off x="952500" y="1611630"/>
            <a:ext cx="18021300" cy="638175"/>
          </a:xfrm>
          <a:prstGeom prst="rect">
            <a:avLst/>
          </a:prstGeom>
          <a:noFill/>
          <a:ln/>
        </p:spPr>
        <p:txBody>
          <a:bodyPr wrap="square" lIns="25400" tIns="25400" rIns="25400" bIns="25400" rtlCol="0" anchor="t">
            <a:normAutofit/>
          </a:bodyPr>
          <a:lstStyle/>
          <a:p>
            <a:pPr algn="l" indent="0" marL="0">
              <a:lnSpc>
                <a:spcPct val="105000"/>
              </a:lnSpc>
              <a:buNone/>
            </a:pPr>
            <a:r>
              <a:rPr lang="en-US" sz="4500" b="1" spc="-37" kern="0" dirty="0">
                <a:solidFill>
                  <a:srgbClr val="74121D"/>
                </a:solidFill>
                <a:latin typeface="Arial" pitchFamily="34" charset="0"/>
                <a:ea typeface="Arial" pitchFamily="34" charset="-122"/>
                <a:cs typeface="Arial" pitchFamily="34" charset="-120"/>
              </a:rPr>
              <a:t>Evaluation Plan</a:t>
            </a:r>
            <a:endParaRPr lang="en-US" sz="4500" dirty="0"/>
          </a:p>
        </p:txBody>
      </p:sp>
      <p:sp>
        <p:nvSpPr>
          <p:cNvPr id="6" name="Shape 3"/>
          <p:cNvSpPr/>
          <p:nvPr/>
        </p:nvSpPr>
        <p:spPr>
          <a:xfrm>
            <a:off x="952500" y="2402205"/>
            <a:ext cx="857250" cy="47625"/>
          </a:xfrm>
          <a:prstGeom prst="roundRect">
            <a:avLst>
              <a:gd name="adj" fmla="val 50000"/>
            </a:avLst>
          </a:prstGeom>
          <a:solidFill>
            <a:srgbClr val="B19C7D"/>
          </a:solidFill>
          <a:ln/>
        </p:spPr>
      </p:sp>
      <p:sp>
        <p:nvSpPr>
          <p:cNvPr id="7" name="Shape 4"/>
          <p:cNvSpPr/>
          <p:nvPr/>
        </p:nvSpPr>
        <p:spPr>
          <a:xfrm>
            <a:off x="952500" y="2868930"/>
            <a:ext cx="5245061" cy="6370320"/>
          </a:xfrm>
          <a:prstGeom prst="rect">
            <a:avLst/>
          </a:prstGeom>
          <a:ln w="15240">
            <a:solidFill>
              <a:srgbClr val="EFE6DA"/>
            </a:solidFill>
            <a:prstDash val="solid"/>
          </a:ln>
        </p:spPr>
      </p:sp>
      <p:sp>
        <p:nvSpPr>
          <p:cNvPr id="8" name="Shape 5"/>
          <p:cNvSpPr/>
          <p:nvPr/>
        </p:nvSpPr>
        <p:spPr>
          <a:xfrm>
            <a:off x="967740" y="2884170"/>
            <a:ext cx="5214581" cy="944880"/>
          </a:xfrm>
          <a:prstGeom prst="rect">
            <a:avLst/>
          </a:prstGeom>
          <a:solidFill>
            <a:srgbClr val="74121D"/>
          </a:solidFill>
          <a:ln/>
        </p:spPr>
      </p:sp>
      <p:sp>
        <p:nvSpPr>
          <p:cNvPr id="9" name="Text 6"/>
          <p:cNvSpPr/>
          <p:nvPr/>
        </p:nvSpPr>
        <p:spPr>
          <a:xfrm>
            <a:off x="1196340" y="3055620"/>
            <a:ext cx="5233118" cy="297180"/>
          </a:xfrm>
          <a:prstGeom prst="rect">
            <a:avLst/>
          </a:prstGeom>
          <a:noFill/>
          <a:ln/>
        </p:spPr>
        <p:txBody>
          <a:bodyPr wrap="square" lIns="25400" tIns="25400" rIns="25400" bIns="25400" rtlCol="0" anchor="t">
            <a:normAutofit/>
          </a:bodyPr>
          <a:lstStyle/>
          <a:p>
            <a:pPr algn="l" indent="0" marL="0">
              <a:buNone/>
            </a:pPr>
            <a:r>
              <a:rPr lang="en-US" sz="1800" b="1" spc="150" kern="0" dirty="0">
                <a:solidFill>
                  <a:srgbClr val="E7D7C1"/>
                </a:solidFill>
                <a:latin typeface="Arial" pitchFamily="34" charset="0"/>
                <a:ea typeface="Arial" pitchFamily="34" charset="-122"/>
                <a:cs typeface="Arial" pitchFamily="34" charset="-120"/>
              </a:rPr>
              <a:t>01</a:t>
            </a:r>
            <a:endParaRPr lang="en-US" sz="1800" dirty="0"/>
          </a:p>
        </p:txBody>
      </p:sp>
      <p:sp>
        <p:nvSpPr>
          <p:cNvPr id="10" name="Text 7"/>
          <p:cNvSpPr/>
          <p:nvPr/>
        </p:nvSpPr>
        <p:spPr>
          <a:xfrm>
            <a:off x="1196340" y="3352800"/>
            <a:ext cx="5233118" cy="342900"/>
          </a:xfrm>
          <a:prstGeom prst="rect">
            <a:avLst/>
          </a:prstGeom>
          <a:noFill/>
          <a:ln/>
        </p:spPr>
        <p:txBody>
          <a:bodyPr wrap="square" lIns="25400" tIns="25400" rIns="25400" bIns="25400" rtlCol="0" anchor="t">
            <a:normAutofit/>
          </a:bodyPr>
          <a:lstStyle/>
          <a:p>
            <a:pPr algn="l" indent="0" marL="0">
              <a:buNone/>
            </a:pPr>
            <a:r>
              <a:rPr lang="en-US" sz="2100" b="1" dirty="0">
                <a:solidFill>
                  <a:srgbClr val="FFFFFF"/>
                </a:solidFill>
                <a:latin typeface="Arial" pitchFamily="34" charset="0"/>
                <a:ea typeface="Arial" pitchFamily="34" charset="-122"/>
                <a:cs typeface="Arial" pitchFamily="34" charset="-120"/>
              </a:rPr>
              <a:t>Functional Testing</a:t>
            </a:r>
            <a:endParaRPr lang="en-US" sz="2100" dirty="0"/>
          </a:p>
        </p:txBody>
      </p:sp>
      <p:sp>
        <p:nvSpPr>
          <p:cNvPr id="11" name="Text 8"/>
          <p:cNvSpPr/>
          <p:nvPr/>
        </p:nvSpPr>
        <p:spPr>
          <a:xfrm>
            <a:off x="1215390" y="4076700"/>
            <a:ext cx="4860859" cy="701040"/>
          </a:xfrm>
          <a:prstGeom prst="rect">
            <a:avLst/>
          </a:prstGeom>
          <a:noFill/>
          <a:ln/>
        </p:spPr>
        <p:txBody>
          <a:bodyPr wrap="square" lIns="25400" tIns="25400" rIns="25400" bIns="25400" rtlCol="0" anchor="t">
            <a:normAutofit/>
          </a:bodyPr>
          <a:lstStyle/>
          <a:p>
            <a:pPr algn="l" indent="0" marL="0">
              <a:lnSpc>
                <a:spcPct val="145000"/>
              </a:lnSpc>
              <a:buNone/>
            </a:pPr>
            <a:r>
              <a:rPr lang="en-US" sz="1800" dirty="0">
                <a:solidFill>
                  <a:srgbClr val="3A3A3A"/>
                </a:solidFill>
                <a:latin typeface="Arial" pitchFamily="34" charset="0"/>
                <a:ea typeface="Arial" pitchFamily="34" charset="-122"/>
                <a:cs typeface="Arial" pitchFamily="34" charset="-120"/>
              </a:rPr>
              <a:t>14 test cases across all FRs, with both positive and negative scenarios.</a:t>
            </a:r>
            <a:endParaRPr lang="en-US" sz="1800" dirty="0"/>
          </a:p>
        </p:txBody>
      </p:sp>
      <p:sp>
        <p:nvSpPr>
          <p:cNvPr id="12" name="Shape 9"/>
          <p:cNvSpPr/>
          <p:nvPr/>
        </p:nvSpPr>
        <p:spPr>
          <a:xfrm>
            <a:off x="1215390" y="4892040"/>
            <a:ext cx="4719280" cy="9525"/>
          </a:xfrm>
          <a:prstGeom prst="rect">
            <a:avLst/>
          </a:prstGeom>
          <a:solidFill>
            <a:srgbClr val="B19C7D"/>
          </a:solidFill>
          <a:ln/>
        </p:spPr>
      </p:sp>
      <p:sp>
        <p:nvSpPr>
          <p:cNvPr id="13" name="Text 10"/>
          <p:cNvSpPr/>
          <p:nvPr/>
        </p:nvSpPr>
        <p:spPr>
          <a:xfrm>
            <a:off x="1215390" y="5052060"/>
            <a:ext cx="5191208" cy="297180"/>
          </a:xfrm>
          <a:prstGeom prst="rect">
            <a:avLst/>
          </a:prstGeom>
          <a:noFill/>
          <a:ln/>
        </p:spPr>
        <p:txBody>
          <a:bodyPr wrap="square" lIns="25400" tIns="25400" rIns="25400" bIns="25400" rtlCol="0" anchor="t">
            <a:normAutofit/>
          </a:bodyPr>
          <a:lstStyle/>
          <a:p>
            <a:pPr algn="l" indent="0" marL="0">
              <a:buNone/>
            </a:pPr>
            <a:r>
              <a:rPr lang="en-US" sz="1800" b="1" spc="75" kern="0" dirty="0">
                <a:solidFill>
                  <a:srgbClr val="74121D"/>
                </a:solidFill>
                <a:latin typeface="Arial" pitchFamily="34" charset="0"/>
                <a:ea typeface="Arial" pitchFamily="34" charset="-122"/>
                <a:cs typeface="Arial" pitchFamily="34" charset="-120"/>
              </a:rPr>
              <a:t>EXAMPLES</a:t>
            </a:r>
            <a:endParaRPr lang="en-US" sz="1800" dirty="0"/>
          </a:p>
        </p:txBody>
      </p:sp>
      <p:sp>
        <p:nvSpPr>
          <p:cNvPr id="14" name="Text 11"/>
          <p:cNvSpPr/>
          <p:nvPr/>
        </p:nvSpPr>
        <p:spPr>
          <a:xfrm>
            <a:off x="1215390" y="5368290"/>
            <a:ext cx="5191208"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5A5A5A"/>
                </a:solidFill>
                <a:latin typeface="Arial" pitchFamily="34" charset="0"/>
                <a:ea typeface="Arial" pitchFamily="34" charset="-122"/>
                <a:cs typeface="Arial" pitchFamily="34" charset="-120"/>
              </a:rPr>
              <a:t>TC03 · Valid request → WhatsApp redirect</a:t>
            </a:r>
            <a:endParaRPr lang="en-US" sz="1800" dirty="0"/>
          </a:p>
        </p:txBody>
      </p:sp>
      <p:sp>
        <p:nvSpPr>
          <p:cNvPr id="15" name="Text 12"/>
          <p:cNvSpPr/>
          <p:nvPr/>
        </p:nvSpPr>
        <p:spPr>
          <a:xfrm>
            <a:off x="1215390" y="5711190"/>
            <a:ext cx="5191208"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5A5A5A"/>
                </a:solidFill>
                <a:latin typeface="Arial" pitchFamily="34" charset="0"/>
                <a:ea typeface="Arial" pitchFamily="34" charset="-122"/>
                <a:cs typeface="Arial" pitchFamily="34" charset="-120"/>
              </a:rPr>
              <a:t>TC04 · Invalid form → inline errors</a:t>
            </a:r>
            <a:endParaRPr lang="en-US" sz="1800" dirty="0"/>
          </a:p>
        </p:txBody>
      </p:sp>
      <p:sp>
        <p:nvSpPr>
          <p:cNvPr id="16" name="Text 13"/>
          <p:cNvSpPr/>
          <p:nvPr/>
        </p:nvSpPr>
        <p:spPr>
          <a:xfrm>
            <a:off x="1215390" y="6054090"/>
            <a:ext cx="5191208"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5A5A5A"/>
                </a:solidFill>
                <a:latin typeface="Arial" pitchFamily="34" charset="0"/>
                <a:ea typeface="Arial" pitchFamily="34" charset="-122"/>
                <a:cs typeface="Arial" pitchFamily="34" charset="-120"/>
              </a:rPr>
              <a:t>TC10 · Brute-force lockout</a:t>
            </a:r>
            <a:endParaRPr lang="en-US" sz="1800" dirty="0"/>
          </a:p>
        </p:txBody>
      </p:sp>
      <p:sp>
        <p:nvSpPr>
          <p:cNvPr id="17" name="Text 14"/>
          <p:cNvSpPr/>
          <p:nvPr/>
        </p:nvSpPr>
        <p:spPr>
          <a:xfrm>
            <a:off x="1215390" y="6396990"/>
            <a:ext cx="5191208"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5A5A5A"/>
                </a:solidFill>
                <a:latin typeface="Arial" pitchFamily="34" charset="0"/>
                <a:ea typeface="Arial" pitchFamily="34" charset="-122"/>
                <a:cs typeface="Arial" pitchFamily="34" charset="-120"/>
              </a:rPr>
              <a:t>TC14 · Unauth admin route → login</a:t>
            </a:r>
            <a:endParaRPr lang="en-US" sz="1800" dirty="0"/>
          </a:p>
        </p:txBody>
      </p:sp>
      <p:sp>
        <p:nvSpPr>
          <p:cNvPr id="18" name="Shape 15"/>
          <p:cNvSpPr/>
          <p:nvPr/>
        </p:nvSpPr>
        <p:spPr>
          <a:xfrm>
            <a:off x="6521411" y="2868930"/>
            <a:ext cx="5245061" cy="6370320"/>
          </a:xfrm>
          <a:prstGeom prst="rect">
            <a:avLst/>
          </a:prstGeom>
          <a:ln w="15240">
            <a:solidFill>
              <a:srgbClr val="EFE6DA"/>
            </a:solidFill>
            <a:prstDash val="solid"/>
          </a:ln>
        </p:spPr>
      </p:sp>
      <p:sp>
        <p:nvSpPr>
          <p:cNvPr id="19" name="Shape 16"/>
          <p:cNvSpPr/>
          <p:nvPr/>
        </p:nvSpPr>
        <p:spPr>
          <a:xfrm>
            <a:off x="6536650" y="2884170"/>
            <a:ext cx="5214581" cy="944880"/>
          </a:xfrm>
          <a:prstGeom prst="rect">
            <a:avLst/>
          </a:prstGeom>
          <a:solidFill>
            <a:srgbClr val="A7333F"/>
          </a:solidFill>
          <a:ln/>
        </p:spPr>
      </p:sp>
      <p:sp>
        <p:nvSpPr>
          <p:cNvPr id="20" name="Text 17"/>
          <p:cNvSpPr/>
          <p:nvPr/>
        </p:nvSpPr>
        <p:spPr>
          <a:xfrm>
            <a:off x="6765250" y="3055620"/>
            <a:ext cx="5233118" cy="297180"/>
          </a:xfrm>
          <a:prstGeom prst="rect">
            <a:avLst/>
          </a:prstGeom>
          <a:noFill/>
          <a:ln/>
        </p:spPr>
        <p:txBody>
          <a:bodyPr wrap="square" lIns="25400" tIns="25400" rIns="25400" bIns="25400" rtlCol="0" anchor="t">
            <a:normAutofit/>
          </a:bodyPr>
          <a:lstStyle/>
          <a:p>
            <a:pPr algn="l" indent="0" marL="0">
              <a:buNone/>
            </a:pPr>
            <a:r>
              <a:rPr lang="en-US" sz="1800" b="1" spc="150" kern="0" dirty="0">
                <a:solidFill>
                  <a:srgbClr val="E7D7C1"/>
                </a:solidFill>
                <a:latin typeface="Arial" pitchFamily="34" charset="0"/>
                <a:ea typeface="Arial" pitchFamily="34" charset="-122"/>
                <a:cs typeface="Arial" pitchFamily="34" charset="-120"/>
              </a:rPr>
              <a:t>02</a:t>
            </a:r>
            <a:endParaRPr lang="en-US" sz="1800" dirty="0"/>
          </a:p>
        </p:txBody>
      </p:sp>
      <p:sp>
        <p:nvSpPr>
          <p:cNvPr id="21" name="Text 18"/>
          <p:cNvSpPr/>
          <p:nvPr/>
        </p:nvSpPr>
        <p:spPr>
          <a:xfrm>
            <a:off x="6765250" y="3352800"/>
            <a:ext cx="5233118" cy="342900"/>
          </a:xfrm>
          <a:prstGeom prst="rect">
            <a:avLst/>
          </a:prstGeom>
          <a:noFill/>
          <a:ln/>
        </p:spPr>
        <p:txBody>
          <a:bodyPr wrap="square" lIns="25400" tIns="25400" rIns="25400" bIns="25400" rtlCol="0" anchor="t">
            <a:normAutofit/>
          </a:bodyPr>
          <a:lstStyle/>
          <a:p>
            <a:pPr algn="l" indent="0" marL="0">
              <a:buNone/>
            </a:pPr>
            <a:r>
              <a:rPr lang="en-US" sz="2100" b="1" dirty="0">
                <a:solidFill>
                  <a:srgbClr val="FFFFFF"/>
                </a:solidFill>
                <a:latin typeface="Arial" pitchFamily="34" charset="0"/>
                <a:ea typeface="Arial" pitchFamily="34" charset="-122"/>
                <a:cs typeface="Arial" pitchFamily="34" charset="-120"/>
              </a:rPr>
              <a:t>User Acceptance</a:t>
            </a:r>
            <a:endParaRPr lang="en-US" sz="2100" dirty="0"/>
          </a:p>
        </p:txBody>
      </p:sp>
      <p:sp>
        <p:nvSpPr>
          <p:cNvPr id="22" name="Text 19"/>
          <p:cNvSpPr/>
          <p:nvPr/>
        </p:nvSpPr>
        <p:spPr>
          <a:xfrm>
            <a:off x="6784300" y="4076700"/>
            <a:ext cx="4860859" cy="701040"/>
          </a:xfrm>
          <a:prstGeom prst="rect">
            <a:avLst/>
          </a:prstGeom>
          <a:noFill/>
          <a:ln/>
        </p:spPr>
        <p:txBody>
          <a:bodyPr wrap="square" lIns="25400" tIns="25400" rIns="25400" bIns="25400" rtlCol="0" anchor="t">
            <a:normAutofit/>
          </a:bodyPr>
          <a:lstStyle/>
          <a:p>
            <a:pPr algn="l" indent="0" marL="0">
              <a:lnSpc>
                <a:spcPct val="145000"/>
              </a:lnSpc>
              <a:buNone/>
            </a:pPr>
            <a:r>
              <a:rPr lang="en-US" sz="1800" dirty="0">
                <a:solidFill>
                  <a:srgbClr val="3A3A3A"/>
                </a:solidFill>
                <a:latin typeface="Arial" pitchFamily="34" charset="0"/>
                <a:ea typeface="Arial" pitchFamily="34" charset="-122"/>
                <a:cs typeface="Arial" pitchFamily="34" charset="-120"/>
              </a:rPr>
              <a:t>Task-based scenarios with company representative + at least 5 client users.</a:t>
            </a:r>
            <a:endParaRPr lang="en-US" sz="1800" dirty="0"/>
          </a:p>
        </p:txBody>
      </p:sp>
      <p:sp>
        <p:nvSpPr>
          <p:cNvPr id="23" name="Shape 20"/>
          <p:cNvSpPr/>
          <p:nvPr/>
        </p:nvSpPr>
        <p:spPr>
          <a:xfrm>
            <a:off x="6784300" y="4892040"/>
            <a:ext cx="4719280" cy="9525"/>
          </a:xfrm>
          <a:prstGeom prst="rect">
            <a:avLst/>
          </a:prstGeom>
          <a:solidFill>
            <a:srgbClr val="B19C7D"/>
          </a:solidFill>
          <a:ln/>
        </p:spPr>
      </p:sp>
      <p:sp>
        <p:nvSpPr>
          <p:cNvPr id="24" name="Text 21"/>
          <p:cNvSpPr/>
          <p:nvPr/>
        </p:nvSpPr>
        <p:spPr>
          <a:xfrm>
            <a:off x="6784300" y="5052060"/>
            <a:ext cx="5191208" cy="297180"/>
          </a:xfrm>
          <a:prstGeom prst="rect">
            <a:avLst/>
          </a:prstGeom>
          <a:noFill/>
          <a:ln/>
        </p:spPr>
        <p:txBody>
          <a:bodyPr wrap="square" lIns="25400" tIns="25400" rIns="25400" bIns="25400" rtlCol="0" anchor="t">
            <a:normAutofit/>
          </a:bodyPr>
          <a:lstStyle/>
          <a:p>
            <a:pPr algn="l" indent="0" marL="0">
              <a:buNone/>
            </a:pPr>
            <a:r>
              <a:rPr lang="en-US" sz="1800" b="1" spc="75" kern="0" dirty="0">
                <a:solidFill>
                  <a:srgbClr val="74121D"/>
                </a:solidFill>
                <a:latin typeface="Arial" pitchFamily="34" charset="0"/>
                <a:ea typeface="Arial" pitchFamily="34" charset="-122"/>
                <a:cs typeface="Arial" pitchFamily="34" charset="-120"/>
              </a:rPr>
              <a:t>PASS CRITERIA</a:t>
            </a:r>
            <a:endParaRPr lang="en-US" sz="1800" dirty="0"/>
          </a:p>
        </p:txBody>
      </p:sp>
      <p:sp>
        <p:nvSpPr>
          <p:cNvPr id="25" name="Text 22"/>
          <p:cNvSpPr/>
          <p:nvPr/>
        </p:nvSpPr>
        <p:spPr>
          <a:xfrm>
            <a:off x="6784300" y="5368290"/>
            <a:ext cx="5191208"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5A5A5A"/>
                </a:solidFill>
                <a:latin typeface="Arial" pitchFamily="34" charset="0"/>
                <a:ea typeface="Arial" pitchFamily="34" charset="-122"/>
                <a:cs typeface="Arial" pitchFamily="34" charset="-120"/>
              </a:rPr>
              <a:t>≥ 80% client task completion</a:t>
            </a:r>
            <a:endParaRPr lang="en-US" sz="1800" dirty="0"/>
          </a:p>
        </p:txBody>
      </p:sp>
      <p:sp>
        <p:nvSpPr>
          <p:cNvPr id="26" name="Text 23"/>
          <p:cNvSpPr/>
          <p:nvPr/>
        </p:nvSpPr>
        <p:spPr>
          <a:xfrm>
            <a:off x="6784300" y="5711190"/>
            <a:ext cx="5191208"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5A5A5A"/>
                </a:solidFill>
                <a:latin typeface="Arial" pitchFamily="34" charset="0"/>
                <a:ea typeface="Arial" pitchFamily="34" charset="-122"/>
                <a:cs typeface="Arial" pitchFamily="34" charset="-120"/>
              </a:rPr>
              <a:t>≥ 80% satisfactory usability rating</a:t>
            </a:r>
            <a:endParaRPr lang="en-US" sz="1800" dirty="0"/>
          </a:p>
        </p:txBody>
      </p:sp>
      <p:sp>
        <p:nvSpPr>
          <p:cNvPr id="27" name="Text 24"/>
          <p:cNvSpPr/>
          <p:nvPr/>
        </p:nvSpPr>
        <p:spPr>
          <a:xfrm>
            <a:off x="6784300" y="6054090"/>
            <a:ext cx="5191208"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5A5A5A"/>
                </a:solidFill>
                <a:latin typeface="Arial" pitchFamily="34" charset="0"/>
                <a:ea typeface="Arial" pitchFamily="34" charset="-122"/>
                <a:cs typeface="Arial" pitchFamily="34" charset="-120"/>
              </a:rPr>
              <a:t>Admin confirms full CRUD operation</a:t>
            </a:r>
            <a:endParaRPr lang="en-US" sz="1800" dirty="0"/>
          </a:p>
        </p:txBody>
      </p:sp>
      <p:sp>
        <p:nvSpPr>
          <p:cNvPr id="28" name="Text 25"/>
          <p:cNvSpPr/>
          <p:nvPr/>
        </p:nvSpPr>
        <p:spPr>
          <a:xfrm>
            <a:off x="6784300" y="6396990"/>
            <a:ext cx="5191208"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5A5A5A"/>
                </a:solidFill>
                <a:latin typeface="Arial" pitchFamily="34" charset="0"/>
                <a:ea typeface="Arial" pitchFamily="34" charset="-122"/>
                <a:cs typeface="Arial" pitchFamily="34" charset="-120"/>
              </a:rPr>
              <a:t>Zero critical defects open</a:t>
            </a:r>
            <a:endParaRPr lang="en-US" sz="1800" dirty="0"/>
          </a:p>
        </p:txBody>
      </p:sp>
      <p:sp>
        <p:nvSpPr>
          <p:cNvPr id="29" name="Shape 26"/>
          <p:cNvSpPr/>
          <p:nvPr/>
        </p:nvSpPr>
        <p:spPr>
          <a:xfrm>
            <a:off x="12090321" y="2868930"/>
            <a:ext cx="5245061" cy="6370320"/>
          </a:xfrm>
          <a:prstGeom prst="rect">
            <a:avLst/>
          </a:prstGeom>
          <a:ln w="15240">
            <a:solidFill>
              <a:srgbClr val="EFE6DA"/>
            </a:solidFill>
            <a:prstDash val="solid"/>
          </a:ln>
        </p:spPr>
      </p:sp>
      <p:sp>
        <p:nvSpPr>
          <p:cNvPr id="30" name="Shape 27"/>
          <p:cNvSpPr/>
          <p:nvPr/>
        </p:nvSpPr>
        <p:spPr>
          <a:xfrm>
            <a:off x="12105561" y="2884170"/>
            <a:ext cx="5214581" cy="944880"/>
          </a:xfrm>
          <a:prstGeom prst="rect">
            <a:avLst/>
          </a:prstGeom>
          <a:solidFill>
            <a:srgbClr val="B19C7D"/>
          </a:solidFill>
          <a:ln/>
        </p:spPr>
      </p:sp>
      <p:sp>
        <p:nvSpPr>
          <p:cNvPr id="31" name="Text 28"/>
          <p:cNvSpPr/>
          <p:nvPr/>
        </p:nvSpPr>
        <p:spPr>
          <a:xfrm>
            <a:off x="12334161" y="3055620"/>
            <a:ext cx="5233118" cy="297180"/>
          </a:xfrm>
          <a:prstGeom prst="rect">
            <a:avLst/>
          </a:prstGeom>
          <a:noFill/>
          <a:ln/>
        </p:spPr>
        <p:txBody>
          <a:bodyPr wrap="square" lIns="25400" tIns="25400" rIns="25400" bIns="25400" rtlCol="0" anchor="t">
            <a:normAutofit/>
          </a:bodyPr>
          <a:lstStyle/>
          <a:p>
            <a:pPr algn="l" indent="0" marL="0">
              <a:buNone/>
            </a:pPr>
            <a:r>
              <a:rPr lang="en-US" sz="1800" b="1" spc="150" kern="0" dirty="0">
                <a:solidFill>
                  <a:srgbClr val="FBF6EE"/>
                </a:solidFill>
                <a:latin typeface="Arial" pitchFamily="34" charset="0"/>
                <a:ea typeface="Arial" pitchFamily="34" charset="-122"/>
                <a:cs typeface="Arial" pitchFamily="34" charset="-120"/>
              </a:rPr>
              <a:t>03</a:t>
            </a:r>
            <a:endParaRPr lang="en-US" sz="1800" dirty="0"/>
          </a:p>
        </p:txBody>
      </p:sp>
      <p:sp>
        <p:nvSpPr>
          <p:cNvPr id="32" name="Text 29"/>
          <p:cNvSpPr/>
          <p:nvPr/>
        </p:nvSpPr>
        <p:spPr>
          <a:xfrm>
            <a:off x="12334161" y="3352800"/>
            <a:ext cx="5233118" cy="342900"/>
          </a:xfrm>
          <a:prstGeom prst="rect">
            <a:avLst/>
          </a:prstGeom>
          <a:noFill/>
          <a:ln/>
        </p:spPr>
        <p:txBody>
          <a:bodyPr wrap="square" lIns="25400" tIns="25400" rIns="25400" bIns="25400" rtlCol="0" anchor="t">
            <a:normAutofit/>
          </a:bodyPr>
          <a:lstStyle/>
          <a:p>
            <a:pPr algn="l" indent="0" marL="0">
              <a:buNone/>
            </a:pPr>
            <a:r>
              <a:rPr lang="en-US" sz="2100" b="1" dirty="0">
                <a:solidFill>
                  <a:srgbClr val="FFFFFF"/>
                </a:solidFill>
                <a:latin typeface="Arial" pitchFamily="34" charset="0"/>
                <a:ea typeface="Arial" pitchFamily="34" charset="-122"/>
                <a:cs typeface="Arial" pitchFamily="34" charset="-120"/>
              </a:rPr>
              <a:t>Performance</a:t>
            </a:r>
            <a:endParaRPr lang="en-US" sz="2100" dirty="0"/>
          </a:p>
        </p:txBody>
      </p:sp>
      <p:sp>
        <p:nvSpPr>
          <p:cNvPr id="33" name="Text 30"/>
          <p:cNvSpPr/>
          <p:nvPr/>
        </p:nvSpPr>
        <p:spPr>
          <a:xfrm>
            <a:off x="12353211" y="4076700"/>
            <a:ext cx="4860859" cy="701040"/>
          </a:xfrm>
          <a:prstGeom prst="rect">
            <a:avLst/>
          </a:prstGeom>
          <a:noFill/>
          <a:ln/>
        </p:spPr>
        <p:txBody>
          <a:bodyPr wrap="square" lIns="25400" tIns="25400" rIns="25400" bIns="25400" rtlCol="0" anchor="t">
            <a:normAutofit/>
          </a:bodyPr>
          <a:lstStyle/>
          <a:p>
            <a:pPr algn="l" indent="0" marL="0">
              <a:lnSpc>
                <a:spcPct val="145000"/>
              </a:lnSpc>
              <a:buNone/>
            </a:pPr>
            <a:r>
              <a:rPr lang="en-US" sz="1800" dirty="0">
                <a:solidFill>
                  <a:srgbClr val="3A3A3A"/>
                </a:solidFill>
                <a:latin typeface="Arial" pitchFamily="34" charset="0"/>
                <a:ea typeface="Arial" pitchFamily="34" charset="-122"/>
                <a:cs typeface="Arial" pitchFamily="34" charset="-120"/>
              </a:rPr>
              <a:t>Six measurable targets, verified via DevTools and the Firebase console.</a:t>
            </a:r>
            <a:endParaRPr lang="en-US" sz="1800" dirty="0"/>
          </a:p>
        </p:txBody>
      </p:sp>
      <p:sp>
        <p:nvSpPr>
          <p:cNvPr id="34" name="Shape 31"/>
          <p:cNvSpPr/>
          <p:nvPr/>
        </p:nvSpPr>
        <p:spPr>
          <a:xfrm>
            <a:off x="12353211" y="4892040"/>
            <a:ext cx="4719280" cy="9525"/>
          </a:xfrm>
          <a:prstGeom prst="rect">
            <a:avLst/>
          </a:prstGeom>
          <a:solidFill>
            <a:srgbClr val="B19C7D"/>
          </a:solidFill>
          <a:ln/>
        </p:spPr>
      </p:sp>
      <p:sp>
        <p:nvSpPr>
          <p:cNvPr id="35" name="Text 32"/>
          <p:cNvSpPr/>
          <p:nvPr/>
        </p:nvSpPr>
        <p:spPr>
          <a:xfrm>
            <a:off x="12353211" y="5052060"/>
            <a:ext cx="5191208" cy="297180"/>
          </a:xfrm>
          <a:prstGeom prst="rect">
            <a:avLst/>
          </a:prstGeom>
          <a:noFill/>
          <a:ln/>
        </p:spPr>
        <p:txBody>
          <a:bodyPr wrap="square" lIns="25400" tIns="25400" rIns="25400" bIns="25400" rtlCol="0" anchor="t">
            <a:normAutofit/>
          </a:bodyPr>
          <a:lstStyle/>
          <a:p>
            <a:pPr algn="l" indent="0" marL="0">
              <a:buNone/>
            </a:pPr>
            <a:r>
              <a:rPr lang="en-US" sz="1800" b="1" spc="75" kern="0" dirty="0">
                <a:solidFill>
                  <a:srgbClr val="74121D"/>
                </a:solidFill>
                <a:latin typeface="Arial" pitchFamily="34" charset="0"/>
                <a:ea typeface="Arial" pitchFamily="34" charset="-122"/>
                <a:cs typeface="Arial" pitchFamily="34" charset="-120"/>
              </a:rPr>
              <a:t>TARGETS</a:t>
            </a:r>
            <a:endParaRPr lang="en-US" sz="1800" dirty="0"/>
          </a:p>
        </p:txBody>
      </p:sp>
      <p:sp>
        <p:nvSpPr>
          <p:cNvPr id="36" name="Text 33"/>
          <p:cNvSpPr/>
          <p:nvPr/>
        </p:nvSpPr>
        <p:spPr>
          <a:xfrm>
            <a:off x="12353211" y="5368290"/>
            <a:ext cx="5191208"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5A5A5A"/>
                </a:solidFill>
                <a:latin typeface="Arial" pitchFamily="34" charset="0"/>
                <a:ea typeface="Arial" pitchFamily="34" charset="-122"/>
                <a:cs typeface="Arial" pitchFamily="34" charset="-120"/>
              </a:rPr>
              <a:t>Homepage load ≤ 2 s</a:t>
            </a:r>
            <a:endParaRPr lang="en-US" sz="1800" dirty="0"/>
          </a:p>
        </p:txBody>
      </p:sp>
      <p:sp>
        <p:nvSpPr>
          <p:cNvPr id="37" name="Text 34"/>
          <p:cNvSpPr/>
          <p:nvPr/>
        </p:nvSpPr>
        <p:spPr>
          <a:xfrm>
            <a:off x="12353211" y="5711190"/>
            <a:ext cx="5191208"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5A5A5A"/>
                </a:solidFill>
                <a:latin typeface="Arial" pitchFamily="34" charset="0"/>
                <a:ea typeface="Arial" pitchFamily="34" charset="-122"/>
                <a:cs typeface="Arial" pitchFamily="34" charset="-120"/>
              </a:rPr>
              <a:t>Firestore read ≤ 500 ms</a:t>
            </a:r>
            <a:endParaRPr lang="en-US" sz="1800" dirty="0"/>
          </a:p>
        </p:txBody>
      </p:sp>
      <p:sp>
        <p:nvSpPr>
          <p:cNvPr id="38" name="Text 35"/>
          <p:cNvSpPr/>
          <p:nvPr/>
        </p:nvSpPr>
        <p:spPr>
          <a:xfrm>
            <a:off x="12353211" y="6054090"/>
            <a:ext cx="5191208"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5A5A5A"/>
                </a:solidFill>
                <a:latin typeface="Arial" pitchFamily="34" charset="0"/>
                <a:ea typeface="Arial" pitchFamily="34" charset="-122"/>
                <a:cs typeface="Arial" pitchFamily="34" charset="-120"/>
              </a:rPr>
              <a:t>WhatsApp redirect ≤ 3 s</a:t>
            </a:r>
            <a:endParaRPr lang="en-US" sz="1800" dirty="0"/>
          </a:p>
        </p:txBody>
      </p:sp>
      <p:sp>
        <p:nvSpPr>
          <p:cNvPr id="39" name="Text 36"/>
          <p:cNvSpPr/>
          <p:nvPr/>
        </p:nvSpPr>
        <p:spPr>
          <a:xfrm>
            <a:off x="12353211" y="6396990"/>
            <a:ext cx="5191208"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5A5A5A"/>
                </a:solidFill>
                <a:latin typeface="Arial" pitchFamily="34" charset="0"/>
                <a:ea typeface="Arial" pitchFamily="34" charset="-122"/>
                <a:cs typeface="Arial" pitchFamily="34" charset="-120"/>
              </a:rPr>
              <a:t>Chatbot response ≤ 1 s</a:t>
            </a:r>
            <a:endParaRPr lang="en-US" sz="1800" dirty="0"/>
          </a:p>
        </p:txBody>
      </p:sp>
      <p:sp>
        <p:nvSpPr>
          <p:cNvPr id="40" name="Text 37"/>
          <p:cNvSpPr/>
          <p:nvPr/>
        </p:nvSpPr>
        <p:spPr>
          <a:xfrm>
            <a:off x="952500" y="9761220"/>
            <a:ext cx="4426744" cy="297180"/>
          </a:xfrm>
          <a:prstGeom prst="rect">
            <a:avLst/>
          </a:prstGeom>
          <a:noFill/>
          <a:ln/>
        </p:spPr>
        <p:txBody>
          <a:bodyPr wrap="square" lIns="25400" tIns="25400" rIns="25400" bIns="25400" rtlCol="0" anchor="t">
            <a:normAutofit/>
          </a:bodyPr>
          <a:lstStyle/>
          <a:p>
            <a:pPr algn="l" indent="0" marL="0">
              <a:buNone/>
            </a:pPr>
            <a:r>
              <a:rPr lang="en-US" sz="1800" spc="38" kern="0" dirty="0">
                <a:solidFill>
                  <a:srgbClr val="9A8C7E"/>
                </a:solidFill>
                <a:latin typeface="Arial" pitchFamily="34" charset="0"/>
                <a:ea typeface="Arial" pitchFamily="34" charset="-122"/>
                <a:cs typeface="Arial" pitchFamily="34" charset="-120"/>
              </a:rPr>
              <a:t>UATCC Web Application · PSM 1 Viva</a:t>
            </a:r>
            <a:endParaRPr lang="en-US" sz="1800" dirty="0"/>
          </a:p>
        </p:txBody>
      </p:sp>
      <p:sp>
        <p:nvSpPr>
          <p:cNvPr id="41" name="Text 38"/>
          <p:cNvSpPr/>
          <p:nvPr/>
        </p:nvSpPr>
        <p:spPr>
          <a:xfrm>
            <a:off x="16603027" y="9761220"/>
            <a:ext cx="808673" cy="297180"/>
          </a:xfrm>
          <a:prstGeom prst="rect">
            <a:avLst/>
          </a:prstGeom>
          <a:noFill/>
          <a:ln/>
        </p:spPr>
        <p:txBody>
          <a:bodyPr wrap="square" lIns="25400" tIns="25400" rIns="25400" bIns="25400" rtlCol="0" anchor="t">
            <a:normAutofit/>
          </a:bodyPr>
          <a:lstStyle/>
          <a:p>
            <a:pPr algn="l" indent="0" marL="0">
              <a:buNone/>
            </a:pPr>
            <a:r>
              <a:rPr lang="en-US" sz="1800" spc="38" kern="0" dirty="0">
                <a:solidFill>
                  <a:srgbClr val="9A8C7E"/>
                </a:solidFill>
                <a:latin typeface="Arial" pitchFamily="34" charset="0"/>
                <a:ea typeface="Arial" pitchFamily="34" charset="-122"/>
                <a:cs typeface="Arial" pitchFamily="34" charset="-120"/>
              </a:rPr>
              <a:t>12 / 14</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0" cy="133350"/>
          </a:xfrm>
          <a:prstGeom prst="rect">
            <a:avLst/>
          </a:prstGeom>
          <a:solidFill>
            <a:srgbClr val="74121D"/>
          </a:solidFill>
          <a:ln/>
        </p:spPr>
      </p:sp>
      <p:pic>
        <p:nvPicPr>
          <p:cNvPr id="3" name="Image 0" descr="preencoded.png">    </p:cNvPr>
          <p:cNvPicPr>
            <a:picLocks noChangeAspect="1"/>
          </p:cNvPicPr>
          <p:nvPr/>
        </p:nvPicPr>
        <p:blipFill>
          <a:blip r:embed="rId1"/>
          <a:stretch>
            <a:fillRect/>
          </a:stretch>
        </p:blipFill>
        <p:spPr>
          <a:xfrm>
            <a:off x="16004143" y="361950"/>
            <a:ext cx="1521857" cy="514350"/>
          </a:xfrm>
          <a:prstGeom prst="rect">
            <a:avLst/>
          </a:prstGeom>
        </p:spPr>
      </p:pic>
      <p:sp>
        <p:nvSpPr>
          <p:cNvPr id="4" name="Text 1"/>
          <p:cNvSpPr/>
          <p:nvPr/>
        </p:nvSpPr>
        <p:spPr>
          <a:xfrm>
            <a:off x="952500" y="1238250"/>
            <a:ext cx="18021300" cy="297180"/>
          </a:xfrm>
          <a:prstGeom prst="rect">
            <a:avLst/>
          </a:prstGeom>
          <a:noFill/>
          <a:ln/>
        </p:spPr>
        <p:txBody>
          <a:bodyPr wrap="square" lIns="25400" tIns="25400" rIns="25400" bIns="25400" rtlCol="0" anchor="t">
            <a:normAutofit/>
          </a:bodyPr>
          <a:lstStyle/>
          <a:p>
            <a:pPr algn="l" indent="0" marL="0">
              <a:buNone/>
            </a:pPr>
            <a:r>
              <a:rPr lang="en-US" sz="1800" b="1" spc="225" kern="0" dirty="0">
                <a:solidFill>
                  <a:srgbClr val="B19C7D"/>
                </a:solidFill>
                <a:latin typeface="Arial" pitchFamily="34" charset="0"/>
                <a:ea typeface="Arial" pitchFamily="34" charset="-122"/>
                <a:cs typeface="Arial" pitchFamily="34" charset="-120"/>
              </a:rPr>
              <a:t>CHAPTER 5</a:t>
            </a:r>
            <a:endParaRPr lang="en-US" sz="1800" dirty="0"/>
          </a:p>
        </p:txBody>
      </p:sp>
      <p:sp>
        <p:nvSpPr>
          <p:cNvPr id="5" name="Text 2"/>
          <p:cNvSpPr/>
          <p:nvPr/>
        </p:nvSpPr>
        <p:spPr>
          <a:xfrm>
            <a:off x="952500" y="1611630"/>
            <a:ext cx="18021300" cy="638175"/>
          </a:xfrm>
          <a:prstGeom prst="rect">
            <a:avLst/>
          </a:prstGeom>
          <a:noFill/>
          <a:ln/>
        </p:spPr>
        <p:txBody>
          <a:bodyPr wrap="square" lIns="25400" tIns="25400" rIns="25400" bIns="25400" rtlCol="0" anchor="t">
            <a:normAutofit/>
          </a:bodyPr>
          <a:lstStyle/>
          <a:p>
            <a:pPr algn="l" indent="0" marL="0">
              <a:lnSpc>
                <a:spcPct val="105000"/>
              </a:lnSpc>
              <a:buNone/>
            </a:pPr>
            <a:r>
              <a:rPr lang="en-US" sz="4500" b="1" spc="-37" kern="0" dirty="0">
                <a:solidFill>
                  <a:srgbClr val="74121D"/>
                </a:solidFill>
                <a:latin typeface="Arial" pitchFamily="34" charset="0"/>
                <a:ea typeface="Arial" pitchFamily="34" charset="-122"/>
                <a:cs typeface="Arial" pitchFamily="34" charset="-120"/>
              </a:rPr>
              <a:t>PSM 1 Achievements and PSM 2 Plan</a:t>
            </a:r>
            <a:endParaRPr lang="en-US" sz="4500" dirty="0"/>
          </a:p>
        </p:txBody>
      </p:sp>
      <p:sp>
        <p:nvSpPr>
          <p:cNvPr id="6" name="Shape 3"/>
          <p:cNvSpPr/>
          <p:nvPr/>
        </p:nvSpPr>
        <p:spPr>
          <a:xfrm>
            <a:off x="952500" y="2402205"/>
            <a:ext cx="857250" cy="47625"/>
          </a:xfrm>
          <a:prstGeom prst="roundRect">
            <a:avLst>
              <a:gd name="adj" fmla="val 50000"/>
            </a:avLst>
          </a:prstGeom>
          <a:solidFill>
            <a:srgbClr val="B19C7D"/>
          </a:solidFill>
          <a:ln/>
        </p:spPr>
      </p:sp>
      <p:sp>
        <p:nvSpPr>
          <p:cNvPr id="7" name="Shape 4"/>
          <p:cNvSpPr/>
          <p:nvPr/>
        </p:nvSpPr>
        <p:spPr>
          <a:xfrm>
            <a:off x="952500" y="2868930"/>
            <a:ext cx="7953375" cy="6370320"/>
          </a:xfrm>
          <a:prstGeom prst="rect">
            <a:avLst/>
          </a:prstGeom>
          <a:solidFill>
            <a:srgbClr val="FBF6EE"/>
          </a:solidFill>
          <a:ln/>
        </p:spPr>
      </p:sp>
      <p:sp>
        <p:nvSpPr>
          <p:cNvPr id="8" name="Shape 5"/>
          <p:cNvSpPr/>
          <p:nvPr/>
        </p:nvSpPr>
        <p:spPr>
          <a:xfrm>
            <a:off x="1295400" y="3211830"/>
            <a:ext cx="1086088" cy="373380"/>
          </a:xfrm>
          <a:prstGeom prst="rect">
            <a:avLst/>
          </a:prstGeom>
          <a:solidFill>
            <a:srgbClr val="74121D"/>
          </a:solidFill>
          <a:ln/>
        </p:spPr>
      </p:sp>
      <p:sp>
        <p:nvSpPr>
          <p:cNvPr id="9" name="Text 6"/>
          <p:cNvSpPr/>
          <p:nvPr/>
        </p:nvSpPr>
        <p:spPr>
          <a:xfrm>
            <a:off x="1447800" y="3268980"/>
            <a:ext cx="857488" cy="297180"/>
          </a:xfrm>
          <a:prstGeom prst="rect">
            <a:avLst/>
          </a:prstGeom>
          <a:noFill/>
          <a:ln/>
        </p:spPr>
        <p:txBody>
          <a:bodyPr wrap="square" lIns="25400" tIns="25400" rIns="25400" bIns="25400" rtlCol="0" anchor="t">
            <a:normAutofit/>
          </a:bodyPr>
          <a:lstStyle/>
          <a:p>
            <a:pPr algn="l" indent="0" marL="0">
              <a:buNone/>
            </a:pPr>
            <a:r>
              <a:rPr lang="en-US" sz="1800" b="1" spc="150" kern="0" dirty="0">
                <a:solidFill>
                  <a:srgbClr val="FFFFFF"/>
                </a:solidFill>
                <a:latin typeface="Arial" pitchFamily="34" charset="0"/>
                <a:ea typeface="Arial" pitchFamily="34" charset="-122"/>
                <a:cs typeface="Arial" pitchFamily="34" charset="-120"/>
              </a:rPr>
              <a:t>PSM 1</a:t>
            </a:r>
            <a:endParaRPr lang="en-US" sz="1800" dirty="0"/>
          </a:p>
        </p:txBody>
      </p:sp>
      <p:sp>
        <p:nvSpPr>
          <p:cNvPr id="10" name="Text 7"/>
          <p:cNvSpPr/>
          <p:nvPr/>
        </p:nvSpPr>
        <p:spPr>
          <a:xfrm>
            <a:off x="2514838" y="3268980"/>
            <a:ext cx="1393638" cy="297180"/>
          </a:xfrm>
          <a:prstGeom prst="rect">
            <a:avLst/>
          </a:prstGeom>
          <a:noFill/>
          <a:ln/>
        </p:spPr>
        <p:txBody>
          <a:bodyPr wrap="square" lIns="25400" tIns="25400" rIns="25400" bIns="25400" rtlCol="0" anchor="t">
            <a:normAutofit/>
          </a:bodyPr>
          <a:lstStyle/>
          <a:p>
            <a:pPr algn="l" indent="0" marL="0">
              <a:buNone/>
            </a:pPr>
            <a:r>
              <a:rPr lang="en-US" sz="1800" b="1" spc="75" kern="0" dirty="0">
                <a:solidFill>
                  <a:srgbClr val="74121D"/>
                </a:solidFill>
                <a:latin typeface="Arial" pitchFamily="34" charset="0"/>
                <a:ea typeface="Arial" pitchFamily="34" charset="-122"/>
                <a:cs typeface="Arial" pitchFamily="34" charset="-120"/>
              </a:rPr>
              <a:t>Completed</a:t>
            </a:r>
            <a:endParaRPr lang="en-US" sz="1800" dirty="0"/>
          </a:p>
        </p:txBody>
      </p:sp>
      <p:sp>
        <p:nvSpPr>
          <p:cNvPr id="11" name="Text 8"/>
          <p:cNvSpPr/>
          <p:nvPr/>
        </p:nvSpPr>
        <p:spPr>
          <a:xfrm>
            <a:off x="1295400" y="3890010"/>
            <a:ext cx="247531"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dirty="0">
                <a:solidFill>
                  <a:srgbClr val="74121D"/>
                </a:solidFill>
                <a:latin typeface="Arial" pitchFamily="34" charset="0"/>
                <a:ea typeface="Arial" pitchFamily="34" charset="-122"/>
                <a:cs typeface="Arial" pitchFamily="34" charset="-120"/>
              </a:rPr>
              <a:t>✓</a:t>
            </a:r>
            <a:endParaRPr lang="en-US" sz="1800" dirty="0"/>
          </a:p>
        </p:txBody>
      </p:sp>
      <p:sp>
        <p:nvSpPr>
          <p:cNvPr id="12" name="Text 9"/>
          <p:cNvSpPr/>
          <p:nvPr/>
        </p:nvSpPr>
        <p:spPr>
          <a:xfrm>
            <a:off x="1581150" y="3935730"/>
            <a:ext cx="5248628" cy="289560"/>
          </a:xfrm>
          <a:prstGeom prst="rect">
            <a:avLst/>
          </a:prstGeom>
          <a:noFill/>
          <a:ln/>
        </p:spPr>
        <p:txBody>
          <a:bodyPr wrap="square" lIns="0" tIns="0" rIns="0" bIns="0" rtlCol="0" anchor="t">
            <a:normAutofit/>
          </a:bodyPr>
          <a:lstStyle/>
          <a:p>
            <a:pPr algn="l" indent="0" marL="0">
              <a:lnSpc>
                <a:spcPct val="150000"/>
              </a:lnSpc>
              <a:buNone/>
            </a:pPr>
            <a:r>
              <a:rPr lang="en-US" sz="1800" dirty="0">
                <a:solidFill>
                  <a:srgbClr val="3A3A3A"/>
                </a:solidFill>
                <a:latin typeface="Arial" pitchFamily="34" charset="0"/>
                <a:ea typeface="Arial" pitchFamily="34" charset="-122"/>
                <a:cs typeface="Arial" pitchFamily="34" charset="-120"/>
              </a:rPr>
              <a:t>Stakeholder interview &amp; problem catalogue P1–P5</a:t>
            </a:r>
            <a:endParaRPr lang="en-US" sz="1800" dirty="0"/>
          </a:p>
        </p:txBody>
      </p:sp>
      <p:sp>
        <p:nvSpPr>
          <p:cNvPr id="13" name="Text 10"/>
          <p:cNvSpPr/>
          <p:nvPr/>
        </p:nvSpPr>
        <p:spPr>
          <a:xfrm>
            <a:off x="1295400" y="4385310"/>
            <a:ext cx="247531"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dirty="0">
                <a:solidFill>
                  <a:srgbClr val="74121D"/>
                </a:solidFill>
                <a:latin typeface="Arial" pitchFamily="34" charset="0"/>
                <a:ea typeface="Arial" pitchFamily="34" charset="-122"/>
                <a:cs typeface="Arial" pitchFamily="34" charset="-120"/>
              </a:rPr>
              <a:t>✓</a:t>
            </a:r>
            <a:endParaRPr lang="en-US" sz="1800" dirty="0"/>
          </a:p>
        </p:txBody>
      </p:sp>
      <p:sp>
        <p:nvSpPr>
          <p:cNvPr id="14" name="Text 11"/>
          <p:cNvSpPr/>
          <p:nvPr/>
        </p:nvSpPr>
        <p:spPr>
          <a:xfrm>
            <a:off x="1581150" y="4431030"/>
            <a:ext cx="5351519" cy="289560"/>
          </a:xfrm>
          <a:prstGeom prst="rect">
            <a:avLst/>
          </a:prstGeom>
          <a:noFill/>
          <a:ln/>
        </p:spPr>
        <p:txBody>
          <a:bodyPr wrap="square" lIns="0" tIns="0" rIns="0" bIns="0" rtlCol="0" anchor="t">
            <a:normAutofit/>
          </a:bodyPr>
          <a:lstStyle/>
          <a:p>
            <a:pPr algn="l" indent="0" marL="0">
              <a:lnSpc>
                <a:spcPct val="150000"/>
              </a:lnSpc>
              <a:buNone/>
            </a:pPr>
            <a:r>
              <a:rPr lang="en-US" sz="1800" dirty="0">
                <a:solidFill>
                  <a:srgbClr val="3A3A3A"/>
                </a:solidFill>
                <a:latin typeface="Arial" pitchFamily="34" charset="0"/>
                <a:ea typeface="Arial" pitchFamily="34" charset="-122"/>
                <a:cs typeface="Arial" pitchFamily="34" charset="-120"/>
              </a:rPr>
              <a:t>Requirements traceability matrix (problems → FRs)</a:t>
            </a:r>
            <a:endParaRPr lang="en-US" sz="1800" dirty="0"/>
          </a:p>
        </p:txBody>
      </p:sp>
      <p:sp>
        <p:nvSpPr>
          <p:cNvPr id="15" name="Text 12"/>
          <p:cNvSpPr/>
          <p:nvPr/>
        </p:nvSpPr>
        <p:spPr>
          <a:xfrm>
            <a:off x="1295400" y="4880610"/>
            <a:ext cx="247531"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dirty="0">
                <a:solidFill>
                  <a:srgbClr val="74121D"/>
                </a:solidFill>
                <a:latin typeface="Arial" pitchFamily="34" charset="0"/>
                <a:ea typeface="Arial" pitchFamily="34" charset="-122"/>
                <a:cs typeface="Arial" pitchFamily="34" charset="-120"/>
              </a:rPr>
              <a:t>✓</a:t>
            </a:r>
            <a:endParaRPr lang="en-US" sz="1800" dirty="0"/>
          </a:p>
        </p:txBody>
      </p:sp>
      <p:sp>
        <p:nvSpPr>
          <p:cNvPr id="16" name="Text 13"/>
          <p:cNvSpPr/>
          <p:nvPr/>
        </p:nvSpPr>
        <p:spPr>
          <a:xfrm>
            <a:off x="1581150" y="4926330"/>
            <a:ext cx="6164953" cy="289560"/>
          </a:xfrm>
          <a:prstGeom prst="rect">
            <a:avLst/>
          </a:prstGeom>
          <a:noFill/>
          <a:ln/>
        </p:spPr>
        <p:txBody>
          <a:bodyPr wrap="square" lIns="0" tIns="0" rIns="0" bIns="0" rtlCol="0" anchor="t">
            <a:normAutofit/>
          </a:bodyPr>
          <a:lstStyle/>
          <a:p>
            <a:pPr algn="l" indent="0" marL="0">
              <a:lnSpc>
                <a:spcPct val="150000"/>
              </a:lnSpc>
              <a:buNone/>
            </a:pPr>
            <a:r>
              <a:rPr lang="en-US" sz="1800" dirty="0">
                <a:solidFill>
                  <a:srgbClr val="3A3A3A"/>
                </a:solidFill>
                <a:latin typeface="Arial" pitchFamily="34" charset="0"/>
                <a:ea typeface="Arial" pitchFamily="34" charset="-122"/>
                <a:cs typeface="Arial" pitchFamily="34" charset="-120"/>
              </a:rPr>
              <a:t>10 functional &amp; 12 measurable non-functional requirements</a:t>
            </a:r>
            <a:endParaRPr lang="en-US" sz="1800" dirty="0"/>
          </a:p>
        </p:txBody>
      </p:sp>
      <p:sp>
        <p:nvSpPr>
          <p:cNvPr id="17" name="Text 14"/>
          <p:cNvSpPr/>
          <p:nvPr/>
        </p:nvSpPr>
        <p:spPr>
          <a:xfrm>
            <a:off x="1295400" y="5375910"/>
            <a:ext cx="247531"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dirty="0">
                <a:solidFill>
                  <a:srgbClr val="74121D"/>
                </a:solidFill>
                <a:latin typeface="Arial" pitchFamily="34" charset="0"/>
                <a:ea typeface="Arial" pitchFamily="34" charset="-122"/>
                <a:cs typeface="Arial" pitchFamily="34" charset="-120"/>
              </a:rPr>
              <a:t>✓</a:t>
            </a:r>
            <a:endParaRPr lang="en-US" sz="1800" dirty="0"/>
          </a:p>
        </p:txBody>
      </p:sp>
      <p:sp>
        <p:nvSpPr>
          <p:cNvPr id="18" name="Text 15"/>
          <p:cNvSpPr/>
          <p:nvPr/>
        </p:nvSpPr>
        <p:spPr>
          <a:xfrm>
            <a:off x="1581150" y="5421630"/>
            <a:ext cx="5823171" cy="289560"/>
          </a:xfrm>
          <a:prstGeom prst="rect">
            <a:avLst/>
          </a:prstGeom>
          <a:noFill/>
          <a:ln/>
        </p:spPr>
        <p:txBody>
          <a:bodyPr wrap="square" lIns="0" tIns="0" rIns="0" bIns="0" rtlCol="0" anchor="t">
            <a:normAutofit/>
          </a:bodyPr>
          <a:lstStyle/>
          <a:p>
            <a:pPr algn="l" indent="0" marL="0">
              <a:lnSpc>
                <a:spcPct val="150000"/>
              </a:lnSpc>
              <a:buNone/>
            </a:pPr>
            <a:r>
              <a:rPr lang="en-US" sz="1800" dirty="0">
                <a:solidFill>
                  <a:srgbClr val="3A3A3A"/>
                </a:solidFill>
                <a:latin typeface="Arial" pitchFamily="34" charset="0"/>
                <a:ea typeface="Arial" pitchFamily="34" charset="-122"/>
                <a:cs typeface="Arial" pitchFamily="34" charset="-120"/>
              </a:rPr>
              <a:t>System architecture, ERD, use case &amp; activity diagrams</a:t>
            </a:r>
            <a:endParaRPr lang="en-US" sz="1800" dirty="0"/>
          </a:p>
        </p:txBody>
      </p:sp>
      <p:sp>
        <p:nvSpPr>
          <p:cNvPr id="19" name="Text 16"/>
          <p:cNvSpPr/>
          <p:nvPr/>
        </p:nvSpPr>
        <p:spPr>
          <a:xfrm>
            <a:off x="1295400" y="5871210"/>
            <a:ext cx="247531"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dirty="0">
                <a:solidFill>
                  <a:srgbClr val="74121D"/>
                </a:solidFill>
                <a:latin typeface="Arial" pitchFamily="34" charset="0"/>
                <a:ea typeface="Arial" pitchFamily="34" charset="-122"/>
                <a:cs typeface="Arial" pitchFamily="34" charset="-120"/>
              </a:rPr>
              <a:t>✓</a:t>
            </a:r>
            <a:endParaRPr lang="en-US" sz="1800" dirty="0"/>
          </a:p>
        </p:txBody>
      </p:sp>
      <p:sp>
        <p:nvSpPr>
          <p:cNvPr id="20" name="Text 17"/>
          <p:cNvSpPr/>
          <p:nvPr/>
        </p:nvSpPr>
        <p:spPr>
          <a:xfrm>
            <a:off x="1581150" y="5916930"/>
            <a:ext cx="3808288" cy="289560"/>
          </a:xfrm>
          <a:prstGeom prst="rect">
            <a:avLst/>
          </a:prstGeom>
          <a:noFill/>
          <a:ln/>
        </p:spPr>
        <p:txBody>
          <a:bodyPr wrap="square" lIns="0" tIns="0" rIns="0" bIns="0" rtlCol="0" anchor="t">
            <a:normAutofit/>
          </a:bodyPr>
          <a:lstStyle/>
          <a:p>
            <a:pPr algn="l" indent="0" marL="0">
              <a:lnSpc>
                <a:spcPct val="150000"/>
              </a:lnSpc>
              <a:buNone/>
            </a:pPr>
            <a:r>
              <a:rPr lang="en-US" sz="1800" dirty="0">
                <a:solidFill>
                  <a:srgbClr val="3A3A3A"/>
                </a:solidFill>
                <a:latin typeface="Arial" pitchFamily="34" charset="0"/>
                <a:ea typeface="Arial" pitchFamily="34" charset="-122"/>
                <a:cs typeface="Arial" pitchFamily="34" charset="-120"/>
              </a:rPr>
              <a:t>6 wireframes &amp; 10 API specifications</a:t>
            </a:r>
            <a:endParaRPr lang="en-US" sz="1800" dirty="0"/>
          </a:p>
        </p:txBody>
      </p:sp>
      <p:sp>
        <p:nvSpPr>
          <p:cNvPr id="21" name="Text 18"/>
          <p:cNvSpPr/>
          <p:nvPr/>
        </p:nvSpPr>
        <p:spPr>
          <a:xfrm>
            <a:off x="1295400" y="6366510"/>
            <a:ext cx="247531"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dirty="0">
                <a:solidFill>
                  <a:srgbClr val="74121D"/>
                </a:solidFill>
                <a:latin typeface="Arial" pitchFamily="34" charset="0"/>
                <a:ea typeface="Arial" pitchFamily="34" charset="-122"/>
                <a:cs typeface="Arial" pitchFamily="34" charset="-120"/>
              </a:rPr>
              <a:t>✓</a:t>
            </a:r>
            <a:endParaRPr lang="en-US" sz="1800" dirty="0"/>
          </a:p>
        </p:txBody>
      </p:sp>
      <p:sp>
        <p:nvSpPr>
          <p:cNvPr id="22" name="Text 19"/>
          <p:cNvSpPr/>
          <p:nvPr/>
        </p:nvSpPr>
        <p:spPr>
          <a:xfrm>
            <a:off x="1581150" y="6412230"/>
            <a:ext cx="5744807" cy="289560"/>
          </a:xfrm>
          <a:prstGeom prst="rect">
            <a:avLst/>
          </a:prstGeom>
          <a:noFill/>
          <a:ln/>
        </p:spPr>
        <p:txBody>
          <a:bodyPr wrap="square" lIns="0" tIns="0" rIns="0" bIns="0" rtlCol="0" anchor="t">
            <a:normAutofit/>
          </a:bodyPr>
          <a:lstStyle/>
          <a:p>
            <a:pPr algn="l" indent="0" marL="0">
              <a:lnSpc>
                <a:spcPct val="150000"/>
              </a:lnSpc>
              <a:buNone/>
            </a:pPr>
            <a:r>
              <a:rPr lang="en-US" sz="1800" dirty="0">
                <a:solidFill>
                  <a:srgbClr val="3A3A3A"/>
                </a:solidFill>
                <a:latin typeface="Arial" pitchFamily="34" charset="0"/>
                <a:ea typeface="Arial" pitchFamily="34" charset="-122"/>
                <a:cs typeface="Arial" pitchFamily="34" charset="-120"/>
              </a:rPr>
              <a:t>Security design, Firestore Security Rules, RBAC model</a:t>
            </a:r>
            <a:endParaRPr lang="en-US" sz="1800" dirty="0"/>
          </a:p>
        </p:txBody>
      </p:sp>
      <p:sp>
        <p:nvSpPr>
          <p:cNvPr id="23" name="Text 20"/>
          <p:cNvSpPr/>
          <p:nvPr/>
        </p:nvSpPr>
        <p:spPr>
          <a:xfrm>
            <a:off x="1295400" y="6861810"/>
            <a:ext cx="247531"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dirty="0">
                <a:solidFill>
                  <a:srgbClr val="74121D"/>
                </a:solidFill>
                <a:latin typeface="Arial" pitchFamily="34" charset="0"/>
                <a:ea typeface="Arial" pitchFamily="34" charset="-122"/>
                <a:cs typeface="Arial" pitchFamily="34" charset="-120"/>
              </a:rPr>
              <a:t>✓</a:t>
            </a:r>
            <a:endParaRPr lang="en-US" sz="1800" dirty="0"/>
          </a:p>
        </p:txBody>
      </p:sp>
      <p:sp>
        <p:nvSpPr>
          <p:cNvPr id="24" name="Text 21"/>
          <p:cNvSpPr/>
          <p:nvPr/>
        </p:nvSpPr>
        <p:spPr>
          <a:xfrm>
            <a:off x="1581150" y="6907530"/>
            <a:ext cx="4585177" cy="289560"/>
          </a:xfrm>
          <a:prstGeom prst="rect">
            <a:avLst/>
          </a:prstGeom>
          <a:noFill/>
          <a:ln/>
        </p:spPr>
        <p:txBody>
          <a:bodyPr wrap="square" lIns="0" tIns="0" rIns="0" bIns="0" rtlCol="0" anchor="t">
            <a:normAutofit/>
          </a:bodyPr>
          <a:lstStyle/>
          <a:p>
            <a:pPr algn="l" indent="0" marL="0">
              <a:lnSpc>
                <a:spcPct val="150000"/>
              </a:lnSpc>
              <a:buNone/>
            </a:pPr>
            <a:r>
              <a:rPr lang="en-US" sz="1800" dirty="0">
                <a:solidFill>
                  <a:srgbClr val="3A3A3A"/>
                </a:solidFill>
                <a:latin typeface="Arial" pitchFamily="34" charset="0"/>
                <a:ea typeface="Arial" pitchFamily="34" charset="-122"/>
                <a:cs typeface="Arial" pitchFamily="34" charset="-120"/>
              </a:rPr>
              <a:t>Functional, UAT and performance test plans</a:t>
            </a:r>
            <a:endParaRPr lang="en-US" sz="1800" dirty="0"/>
          </a:p>
        </p:txBody>
      </p:sp>
      <p:sp>
        <p:nvSpPr>
          <p:cNvPr id="25" name="Shape 22"/>
          <p:cNvSpPr/>
          <p:nvPr/>
        </p:nvSpPr>
        <p:spPr>
          <a:xfrm>
            <a:off x="9382125" y="2868930"/>
            <a:ext cx="7953375" cy="6370320"/>
          </a:xfrm>
          <a:prstGeom prst="rect">
            <a:avLst/>
          </a:prstGeom>
          <a:solidFill>
            <a:srgbClr val="74121D"/>
          </a:solidFill>
          <a:ln/>
        </p:spPr>
      </p:sp>
      <p:sp>
        <p:nvSpPr>
          <p:cNvPr id="26" name="Shape 23"/>
          <p:cNvSpPr/>
          <p:nvPr/>
        </p:nvSpPr>
        <p:spPr>
          <a:xfrm>
            <a:off x="9725025" y="3211830"/>
            <a:ext cx="1086088" cy="373380"/>
          </a:xfrm>
          <a:prstGeom prst="rect">
            <a:avLst/>
          </a:prstGeom>
          <a:solidFill>
            <a:srgbClr val="FFFFFF"/>
          </a:solidFill>
          <a:ln/>
        </p:spPr>
      </p:sp>
      <p:sp>
        <p:nvSpPr>
          <p:cNvPr id="27" name="Text 24"/>
          <p:cNvSpPr/>
          <p:nvPr/>
        </p:nvSpPr>
        <p:spPr>
          <a:xfrm>
            <a:off x="9877425" y="3268980"/>
            <a:ext cx="857488" cy="297180"/>
          </a:xfrm>
          <a:prstGeom prst="rect">
            <a:avLst/>
          </a:prstGeom>
          <a:noFill/>
          <a:ln/>
        </p:spPr>
        <p:txBody>
          <a:bodyPr wrap="square" lIns="25400" tIns="25400" rIns="25400" bIns="25400" rtlCol="0" anchor="t">
            <a:normAutofit/>
          </a:bodyPr>
          <a:lstStyle/>
          <a:p>
            <a:pPr algn="l" indent="0" marL="0">
              <a:buNone/>
            </a:pPr>
            <a:r>
              <a:rPr lang="en-US" sz="1800" b="1" spc="150" kern="0" dirty="0">
                <a:solidFill>
                  <a:srgbClr val="74121D"/>
                </a:solidFill>
                <a:latin typeface="Arial" pitchFamily="34" charset="0"/>
                <a:ea typeface="Arial" pitchFamily="34" charset="-122"/>
                <a:cs typeface="Arial" pitchFamily="34" charset="-120"/>
              </a:rPr>
              <a:t>PSM 2</a:t>
            </a:r>
            <a:endParaRPr lang="en-US" sz="1800" dirty="0"/>
          </a:p>
        </p:txBody>
      </p:sp>
      <p:sp>
        <p:nvSpPr>
          <p:cNvPr id="28" name="Text 25"/>
          <p:cNvSpPr/>
          <p:nvPr/>
        </p:nvSpPr>
        <p:spPr>
          <a:xfrm>
            <a:off x="10944463" y="3268980"/>
            <a:ext cx="1032153" cy="297180"/>
          </a:xfrm>
          <a:prstGeom prst="rect">
            <a:avLst/>
          </a:prstGeom>
          <a:noFill/>
          <a:ln/>
        </p:spPr>
        <p:txBody>
          <a:bodyPr wrap="square" lIns="25400" tIns="25400" rIns="25400" bIns="25400" rtlCol="0" anchor="t">
            <a:normAutofit/>
          </a:bodyPr>
          <a:lstStyle/>
          <a:p>
            <a:pPr algn="l" indent="0" marL="0">
              <a:buNone/>
            </a:pPr>
            <a:r>
              <a:rPr lang="en-US" sz="1800" b="1" spc="75" kern="0" dirty="0">
                <a:solidFill>
                  <a:srgbClr val="E7D7C1"/>
                </a:solidFill>
                <a:latin typeface="Arial" pitchFamily="34" charset="0"/>
                <a:ea typeface="Arial" pitchFamily="34" charset="-122"/>
                <a:cs typeface="Arial" pitchFamily="34" charset="-120"/>
              </a:rPr>
              <a:t>Planned</a:t>
            </a:r>
            <a:endParaRPr lang="en-US" sz="1800" dirty="0"/>
          </a:p>
        </p:txBody>
      </p:sp>
      <p:sp>
        <p:nvSpPr>
          <p:cNvPr id="29" name="Text 26"/>
          <p:cNvSpPr/>
          <p:nvPr/>
        </p:nvSpPr>
        <p:spPr>
          <a:xfrm>
            <a:off x="9725025" y="3890010"/>
            <a:ext cx="304800"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dirty="0">
                <a:solidFill>
                  <a:srgbClr val="B19C7D"/>
                </a:solidFill>
                <a:latin typeface="Arial" pitchFamily="34" charset="0"/>
                <a:ea typeface="Arial" pitchFamily="34" charset="-122"/>
                <a:cs typeface="Arial" pitchFamily="34" charset="-120"/>
              </a:rPr>
              <a:t>→</a:t>
            </a:r>
            <a:endParaRPr lang="en-US" sz="1800" dirty="0"/>
          </a:p>
        </p:txBody>
      </p:sp>
      <p:sp>
        <p:nvSpPr>
          <p:cNvPr id="30" name="Text 27"/>
          <p:cNvSpPr/>
          <p:nvPr/>
        </p:nvSpPr>
        <p:spPr>
          <a:xfrm>
            <a:off x="10010775" y="3935730"/>
            <a:ext cx="5178114" cy="289560"/>
          </a:xfrm>
          <a:prstGeom prst="rect">
            <a:avLst/>
          </a:prstGeom>
          <a:noFill/>
          <a:ln/>
        </p:spPr>
        <p:txBody>
          <a:bodyPr wrap="square" lIns="0" tIns="0" rIns="0" bIns="0" rtlCol="0" anchor="t">
            <a:normAutofit/>
          </a:bodyPr>
          <a:lstStyle/>
          <a:p>
            <a:pPr algn="l" indent="0" marL="0">
              <a:lnSpc>
                <a:spcPct val="150000"/>
              </a:lnSpc>
              <a:buNone/>
            </a:pPr>
            <a:r>
              <a:rPr lang="en-US" sz="1800" dirty="0">
                <a:solidFill>
                  <a:srgbClr val="FFFFFF"/>
                </a:solidFill>
                <a:latin typeface="Arial" pitchFamily="34" charset="0"/>
                <a:ea typeface="Arial" pitchFamily="34" charset="-122"/>
                <a:cs typeface="Arial" pitchFamily="34" charset="-120"/>
              </a:rPr>
              <a:t>Implement React SPA per Appendix C wireframes</a:t>
            </a:r>
            <a:endParaRPr lang="en-US" sz="1800" dirty="0"/>
          </a:p>
        </p:txBody>
      </p:sp>
      <p:sp>
        <p:nvSpPr>
          <p:cNvPr id="31" name="Text 28"/>
          <p:cNvSpPr/>
          <p:nvPr/>
        </p:nvSpPr>
        <p:spPr>
          <a:xfrm>
            <a:off x="9725025" y="4385310"/>
            <a:ext cx="304800"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dirty="0">
                <a:solidFill>
                  <a:srgbClr val="B19C7D"/>
                </a:solidFill>
                <a:latin typeface="Arial" pitchFamily="34" charset="0"/>
                <a:ea typeface="Arial" pitchFamily="34" charset="-122"/>
                <a:cs typeface="Arial" pitchFamily="34" charset="-120"/>
              </a:rPr>
              <a:t>→</a:t>
            </a:r>
            <a:endParaRPr lang="en-US" sz="1800" dirty="0"/>
          </a:p>
        </p:txBody>
      </p:sp>
      <p:sp>
        <p:nvSpPr>
          <p:cNvPr id="32" name="Text 29"/>
          <p:cNvSpPr/>
          <p:nvPr/>
        </p:nvSpPr>
        <p:spPr>
          <a:xfrm>
            <a:off x="10010775" y="4431030"/>
            <a:ext cx="5156286" cy="289560"/>
          </a:xfrm>
          <a:prstGeom prst="rect">
            <a:avLst/>
          </a:prstGeom>
          <a:noFill/>
          <a:ln/>
        </p:spPr>
        <p:txBody>
          <a:bodyPr wrap="square" lIns="0" tIns="0" rIns="0" bIns="0" rtlCol="0" anchor="t">
            <a:normAutofit/>
          </a:bodyPr>
          <a:lstStyle/>
          <a:p>
            <a:pPr algn="l" indent="0" marL="0">
              <a:lnSpc>
                <a:spcPct val="150000"/>
              </a:lnSpc>
              <a:buNone/>
            </a:pPr>
            <a:r>
              <a:rPr lang="en-US" sz="1800" dirty="0">
                <a:solidFill>
                  <a:srgbClr val="FFFFFF"/>
                </a:solidFill>
                <a:latin typeface="Arial" pitchFamily="34" charset="0"/>
                <a:ea typeface="Arial" pitchFamily="34" charset="-122"/>
                <a:cs typeface="Arial" pitchFamily="34" charset="-120"/>
              </a:rPr>
              <a:t>Integrate Firebase Auth, Firestore, Security Rules</a:t>
            </a:r>
            <a:endParaRPr lang="en-US" sz="1800" dirty="0"/>
          </a:p>
        </p:txBody>
      </p:sp>
      <p:sp>
        <p:nvSpPr>
          <p:cNvPr id="33" name="Text 30"/>
          <p:cNvSpPr/>
          <p:nvPr/>
        </p:nvSpPr>
        <p:spPr>
          <a:xfrm>
            <a:off x="9725025" y="4880610"/>
            <a:ext cx="304800"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dirty="0">
                <a:solidFill>
                  <a:srgbClr val="B19C7D"/>
                </a:solidFill>
                <a:latin typeface="Arial" pitchFamily="34" charset="0"/>
                <a:ea typeface="Arial" pitchFamily="34" charset="-122"/>
                <a:cs typeface="Arial" pitchFamily="34" charset="-120"/>
              </a:rPr>
              <a:t>→</a:t>
            </a:r>
            <a:endParaRPr lang="en-US" sz="1800" dirty="0"/>
          </a:p>
        </p:txBody>
      </p:sp>
      <p:sp>
        <p:nvSpPr>
          <p:cNvPr id="34" name="Text 31"/>
          <p:cNvSpPr/>
          <p:nvPr/>
        </p:nvSpPr>
        <p:spPr>
          <a:xfrm>
            <a:off x="10010775" y="4926330"/>
            <a:ext cx="5470474" cy="289560"/>
          </a:xfrm>
          <a:prstGeom prst="rect">
            <a:avLst/>
          </a:prstGeom>
          <a:noFill/>
          <a:ln/>
        </p:spPr>
        <p:txBody>
          <a:bodyPr wrap="square" lIns="0" tIns="0" rIns="0" bIns="0" rtlCol="0" anchor="t">
            <a:normAutofit/>
          </a:bodyPr>
          <a:lstStyle/>
          <a:p>
            <a:pPr algn="l" indent="0" marL="0">
              <a:lnSpc>
                <a:spcPct val="150000"/>
              </a:lnSpc>
              <a:buNone/>
            </a:pPr>
            <a:r>
              <a:rPr lang="en-US" sz="1800" dirty="0">
                <a:solidFill>
                  <a:srgbClr val="FFFFFF"/>
                </a:solidFill>
                <a:latin typeface="Arial" pitchFamily="34" charset="0"/>
                <a:ea typeface="Arial" pitchFamily="34" charset="-122"/>
                <a:cs typeface="Arial" pitchFamily="34" charset="-120"/>
              </a:rPr>
              <a:t>Build request form with WhatsApp wa.me integration</a:t>
            </a:r>
            <a:endParaRPr lang="en-US" sz="1800" dirty="0"/>
          </a:p>
        </p:txBody>
      </p:sp>
      <p:sp>
        <p:nvSpPr>
          <p:cNvPr id="35" name="Text 32"/>
          <p:cNvSpPr/>
          <p:nvPr/>
        </p:nvSpPr>
        <p:spPr>
          <a:xfrm>
            <a:off x="9725025" y="5375910"/>
            <a:ext cx="304800"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dirty="0">
                <a:solidFill>
                  <a:srgbClr val="B19C7D"/>
                </a:solidFill>
                <a:latin typeface="Arial" pitchFamily="34" charset="0"/>
                <a:ea typeface="Arial" pitchFamily="34" charset="-122"/>
                <a:cs typeface="Arial" pitchFamily="34" charset="-120"/>
              </a:rPr>
              <a:t>→</a:t>
            </a:r>
            <a:endParaRPr lang="en-US" sz="1800" dirty="0"/>
          </a:p>
        </p:txBody>
      </p:sp>
      <p:sp>
        <p:nvSpPr>
          <p:cNvPr id="36" name="Text 33"/>
          <p:cNvSpPr/>
          <p:nvPr/>
        </p:nvSpPr>
        <p:spPr>
          <a:xfrm>
            <a:off x="10010775" y="5421630"/>
            <a:ext cx="5621438" cy="289560"/>
          </a:xfrm>
          <a:prstGeom prst="rect">
            <a:avLst/>
          </a:prstGeom>
          <a:noFill/>
          <a:ln/>
        </p:spPr>
        <p:txBody>
          <a:bodyPr wrap="square" lIns="0" tIns="0" rIns="0" bIns="0" rtlCol="0" anchor="t">
            <a:normAutofit/>
          </a:bodyPr>
          <a:lstStyle/>
          <a:p>
            <a:pPr algn="l" indent="0" marL="0">
              <a:lnSpc>
                <a:spcPct val="150000"/>
              </a:lnSpc>
              <a:buNone/>
            </a:pPr>
            <a:r>
              <a:rPr lang="en-US" sz="1800" dirty="0">
                <a:solidFill>
                  <a:srgbClr val="FFFFFF"/>
                </a:solidFill>
                <a:latin typeface="Arial" pitchFamily="34" charset="0"/>
                <a:ea typeface="Arial" pitchFamily="34" charset="-122"/>
                <a:cs typeface="Arial" pitchFamily="34" charset="-120"/>
              </a:rPr>
              <a:t>Implement rule-based chatbot with 6 intents + fallback</a:t>
            </a:r>
            <a:endParaRPr lang="en-US" sz="1800" dirty="0"/>
          </a:p>
        </p:txBody>
      </p:sp>
      <p:sp>
        <p:nvSpPr>
          <p:cNvPr id="37" name="Text 34"/>
          <p:cNvSpPr/>
          <p:nvPr/>
        </p:nvSpPr>
        <p:spPr>
          <a:xfrm>
            <a:off x="9725025" y="5871210"/>
            <a:ext cx="304800"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dirty="0">
                <a:solidFill>
                  <a:srgbClr val="B19C7D"/>
                </a:solidFill>
                <a:latin typeface="Arial" pitchFamily="34" charset="0"/>
                <a:ea typeface="Arial" pitchFamily="34" charset="-122"/>
                <a:cs typeface="Arial" pitchFamily="34" charset="-120"/>
              </a:rPr>
              <a:t>→</a:t>
            </a:r>
            <a:endParaRPr lang="en-US" sz="1800" dirty="0"/>
          </a:p>
        </p:txBody>
      </p:sp>
      <p:sp>
        <p:nvSpPr>
          <p:cNvPr id="38" name="Text 35"/>
          <p:cNvSpPr/>
          <p:nvPr/>
        </p:nvSpPr>
        <p:spPr>
          <a:xfrm>
            <a:off x="10010775" y="5916930"/>
            <a:ext cx="5252798" cy="289560"/>
          </a:xfrm>
          <a:prstGeom prst="rect">
            <a:avLst/>
          </a:prstGeom>
          <a:noFill/>
          <a:ln/>
        </p:spPr>
        <p:txBody>
          <a:bodyPr wrap="square" lIns="0" tIns="0" rIns="0" bIns="0" rtlCol="0" anchor="t">
            <a:normAutofit/>
          </a:bodyPr>
          <a:lstStyle/>
          <a:p>
            <a:pPr algn="l" indent="0" marL="0">
              <a:lnSpc>
                <a:spcPct val="150000"/>
              </a:lnSpc>
              <a:buNone/>
            </a:pPr>
            <a:r>
              <a:rPr lang="en-US" sz="1800" dirty="0">
                <a:solidFill>
                  <a:srgbClr val="FFFFFF"/>
                </a:solidFill>
                <a:latin typeface="Arial" pitchFamily="34" charset="0"/>
                <a:ea typeface="Arial" pitchFamily="34" charset="-122"/>
                <a:cs typeface="Arial" pitchFamily="34" charset="-120"/>
              </a:rPr>
              <a:t>Execute functional, UAT &amp; performance evaluation</a:t>
            </a:r>
            <a:endParaRPr lang="en-US" sz="1800" dirty="0"/>
          </a:p>
        </p:txBody>
      </p:sp>
      <p:sp>
        <p:nvSpPr>
          <p:cNvPr id="39" name="Text 36"/>
          <p:cNvSpPr/>
          <p:nvPr/>
        </p:nvSpPr>
        <p:spPr>
          <a:xfrm>
            <a:off x="9725025" y="6366510"/>
            <a:ext cx="304800"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b="1" dirty="0">
                <a:solidFill>
                  <a:srgbClr val="B19C7D"/>
                </a:solidFill>
                <a:latin typeface="Arial" pitchFamily="34" charset="0"/>
                <a:ea typeface="Arial" pitchFamily="34" charset="-122"/>
                <a:cs typeface="Arial" pitchFamily="34" charset="-120"/>
              </a:rPr>
              <a:t>→</a:t>
            </a:r>
            <a:endParaRPr lang="en-US" sz="1800" dirty="0"/>
          </a:p>
        </p:txBody>
      </p:sp>
      <p:sp>
        <p:nvSpPr>
          <p:cNvPr id="40" name="Text 37"/>
          <p:cNvSpPr/>
          <p:nvPr/>
        </p:nvSpPr>
        <p:spPr>
          <a:xfrm>
            <a:off x="10010775" y="6412230"/>
            <a:ext cx="5457843" cy="289560"/>
          </a:xfrm>
          <a:prstGeom prst="rect">
            <a:avLst/>
          </a:prstGeom>
          <a:noFill/>
          <a:ln/>
        </p:spPr>
        <p:txBody>
          <a:bodyPr wrap="square" lIns="0" tIns="0" rIns="0" bIns="0" rtlCol="0" anchor="t">
            <a:normAutofit/>
          </a:bodyPr>
          <a:lstStyle/>
          <a:p>
            <a:pPr algn="l" indent="0" marL="0">
              <a:lnSpc>
                <a:spcPct val="150000"/>
              </a:lnSpc>
              <a:buNone/>
            </a:pPr>
            <a:r>
              <a:rPr lang="en-US" sz="1800" dirty="0">
                <a:solidFill>
                  <a:srgbClr val="FFFFFF"/>
                </a:solidFill>
                <a:latin typeface="Arial" pitchFamily="34" charset="0"/>
                <a:ea typeface="Arial" pitchFamily="34" charset="-122"/>
                <a:cs typeface="Arial" pitchFamily="34" charset="-120"/>
              </a:rPr>
              <a:t>Deploy to Firebase Hosting &amp; hand over to company</a:t>
            </a:r>
            <a:endParaRPr lang="en-US" sz="1800" dirty="0"/>
          </a:p>
        </p:txBody>
      </p:sp>
      <p:sp>
        <p:nvSpPr>
          <p:cNvPr id="41" name="Text 38"/>
          <p:cNvSpPr/>
          <p:nvPr/>
        </p:nvSpPr>
        <p:spPr>
          <a:xfrm>
            <a:off x="952500" y="9761220"/>
            <a:ext cx="4426744" cy="297180"/>
          </a:xfrm>
          <a:prstGeom prst="rect">
            <a:avLst/>
          </a:prstGeom>
          <a:noFill/>
          <a:ln/>
        </p:spPr>
        <p:txBody>
          <a:bodyPr wrap="square" lIns="25400" tIns="25400" rIns="25400" bIns="25400" rtlCol="0" anchor="t">
            <a:normAutofit/>
          </a:bodyPr>
          <a:lstStyle/>
          <a:p>
            <a:pPr algn="l" indent="0" marL="0">
              <a:buNone/>
            </a:pPr>
            <a:r>
              <a:rPr lang="en-US" sz="1800" spc="38" kern="0" dirty="0">
                <a:solidFill>
                  <a:srgbClr val="9A8C7E"/>
                </a:solidFill>
                <a:latin typeface="Arial" pitchFamily="34" charset="0"/>
                <a:ea typeface="Arial" pitchFamily="34" charset="-122"/>
                <a:cs typeface="Arial" pitchFamily="34" charset="-120"/>
              </a:rPr>
              <a:t>UATCC Web Application · PSM 1 Viva</a:t>
            </a:r>
            <a:endParaRPr lang="en-US" sz="1800" dirty="0"/>
          </a:p>
        </p:txBody>
      </p:sp>
      <p:sp>
        <p:nvSpPr>
          <p:cNvPr id="42" name="Text 39"/>
          <p:cNvSpPr/>
          <p:nvPr/>
        </p:nvSpPr>
        <p:spPr>
          <a:xfrm>
            <a:off x="16603027" y="9761220"/>
            <a:ext cx="808673" cy="297180"/>
          </a:xfrm>
          <a:prstGeom prst="rect">
            <a:avLst/>
          </a:prstGeom>
          <a:noFill/>
          <a:ln/>
        </p:spPr>
        <p:txBody>
          <a:bodyPr wrap="square" lIns="25400" tIns="25400" rIns="25400" bIns="25400" rtlCol="0" anchor="t">
            <a:normAutofit/>
          </a:bodyPr>
          <a:lstStyle/>
          <a:p>
            <a:pPr algn="l" indent="0" marL="0">
              <a:buNone/>
            </a:pPr>
            <a:r>
              <a:rPr lang="en-US" sz="1800" spc="38" kern="0" dirty="0">
                <a:solidFill>
                  <a:srgbClr val="9A8C7E"/>
                </a:solidFill>
                <a:latin typeface="Arial" pitchFamily="34" charset="0"/>
                <a:ea typeface="Arial" pitchFamily="34" charset="-122"/>
                <a:cs typeface="Arial" pitchFamily="34" charset="-120"/>
              </a:rPr>
              <a:t>13 / 14</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74121D"/>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857250" y="476250"/>
            <a:ext cx="1808083" cy="609600"/>
          </a:xfrm>
          <a:prstGeom prst="rect">
            <a:avLst/>
          </a:prstGeom>
        </p:spPr>
      </p:pic>
      <p:sp>
        <p:nvSpPr>
          <p:cNvPr id="3" name="Text 0"/>
          <p:cNvSpPr/>
          <p:nvPr/>
        </p:nvSpPr>
        <p:spPr>
          <a:xfrm>
            <a:off x="14830425" y="590550"/>
            <a:ext cx="2860358" cy="297180"/>
          </a:xfrm>
          <a:prstGeom prst="rect">
            <a:avLst/>
          </a:prstGeom>
          <a:noFill/>
          <a:ln/>
        </p:spPr>
        <p:txBody>
          <a:bodyPr wrap="square" lIns="25400" tIns="25400" rIns="25400" bIns="25400" rtlCol="0" anchor="t">
            <a:normAutofit/>
          </a:bodyPr>
          <a:lstStyle/>
          <a:p>
            <a:pPr algn="l" indent="0" marL="0">
              <a:buNone/>
            </a:pPr>
            <a:r>
              <a:rPr lang="en-US" sz="1800" spc="300" kern="0" dirty="0">
                <a:solidFill>
                  <a:srgbClr val="E7D7C1"/>
                </a:solidFill>
                <a:latin typeface="Arial" pitchFamily="34" charset="0"/>
                <a:ea typeface="Arial" pitchFamily="34" charset="-122"/>
                <a:cs typeface="Arial" pitchFamily="34" charset="-120"/>
              </a:rPr>
              <a:t>PSM 1 VIVA · 2026</a:t>
            </a:r>
            <a:endParaRPr lang="en-US" sz="1800" dirty="0"/>
          </a:p>
        </p:txBody>
      </p:sp>
      <p:sp>
        <p:nvSpPr>
          <p:cNvPr id="4" name="Shape 1"/>
          <p:cNvSpPr/>
          <p:nvPr/>
        </p:nvSpPr>
        <p:spPr>
          <a:xfrm>
            <a:off x="13335000" y="0"/>
            <a:ext cx="4953000" cy="10287000"/>
          </a:xfrm>
          <a:prstGeom prst="rect">
            <a:avLst/>
          </a:prstGeom>
          <a:gradFill rotWithShape="1">
            <a:gsLst>
              <a:gs pos="0">
                <a:srgbClr val="B19C7D">
                  <a:alpha val="18000"/>
                </a:srgbClr>
              </a:gs>
              <a:gs pos="70000">
                <a:srgbClr val="B19C7D">
                  <a:alpha val="0"/>
                </a:srgbClr>
              </a:gs>
            </a:gsLst>
            <a:lin ang="2700000" scaled="0"/>
          </a:gradFill>
          <a:ln/>
        </p:spPr>
      </p:sp>
      <p:sp>
        <p:nvSpPr>
          <p:cNvPr id="5" name="Text 2"/>
          <p:cNvSpPr/>
          <p:nvPr/>
        </p:nvSpPr>
        <p:spPr>
          <a:xfrm>
            <a:off x="857250" y="2809875"/>
            <a:ext cx="18230850" cy="342900"/>
          </a:xfrm>
          <a:prstGeom prst="rect">
            <a:avLst/>
          </a:prstGeom>
          <a:noFill/>
          <a:ln/>
        </p:spPr>
        <p:txBody>
          <a:bodyPr wrap="square" lIns="25400" tIns="25400" rIns="25400" bIns="25400" rtlCol="0" anchor="t">
            <a:normAutofit/>
          </a:bodyPr>
          <a:lstStyle/>
          <a:p>
            <a:pPr algn="l" indent="0" marL="0">
              <a:buNone/>
            </a:pPr>
            <a:r>
              <a:rPr lang="en-US" sz="2100" spc="450" kern="0" dirty="0">
                <a:solidFill>
                  <a:srgbClr val="B19C7D"/>
                </a:solidFill>
                <a:latin typeface="Arial" pitchFamily="34" charset="0"/>
                <a:ea typeface="Arial" pitchFamily="34" charset="-122"/>
                <a:cs typeface="Arial" pitchFamily="34" charset="-120"/>
              </a:rPr>
              <a:t>QUESTIONS &amp; DISCUSSION</a:t>
            </a:r>
            <a:endParaRPr lang="en-US" sz="2100" dirty="0"/>
          </a:p>
        </p:txBody>
      </p:sp>
      <p:sp>
        <p:nvSpPr>
          <p:cNvPr id="6" name="Text 3"/>
          <p:cNvSpPr/>
          <p:nvPr/>
        </p:nvSpPr>
        <p:spPr>
          <a:xfrm>
            <a:off x="857250" y="3286125"/>
            <a:ext cx="18230850" cy="1752600"/>
          </a:xfrm>
          <a:prstGeom prst="rect">
            <a:avLst/>
          </a:prstGeom>
          <a:noFill/>
          <a:ln/>
        </p:spPr>
        <p:txBody>
          <a:bodyPr wrap="square" lIns="25400" tIns="25400" rIns="25400" bIns="25400" rtlCol="0" anchor="t">
            <a:normAutofit/>
          </a:bodyPr>
          <a:lstStyle/>
          <a:p>
            <a:pPr algn="l" indent="0" marL="0">
              <a:lnSpc>
                <a:spcPct val="100000"/>
              </a:lnSpc>
              <a:buNone/>
            </a:pPr>
            <a:r>
              <a:rPr lang="en-US" sz="13500" b="1" spc="-225" kern="0" dirty="0">
                <a:solidFill>
                  <a:srgbClr val="FFFFFF"/>
                </a:solidFill>
                <a:latin typeface="Arial" pitchFamily="34" charset="0"/>
                <a:ea typeface="Arial" pitchFamily="34" charset="-122"/>
                <a:cs typeface="Arial" pitchFamily="34" charset="-120"/>
              </a:rPr>
              <a:t>Thank You.</a:t>
            </a:r>
            <a:endParaRPr lang="en-US" sz="13500" dirty="0"/>
          </a:p>
        </p:txBody>
      </p:sp>
      <p:sp>
        <p:nvSpPr>
          <p:cNvPr id="7" name="Shape 4"/>
          <p:cNvSpPr/>
          <p:nvPr/>
        </p:nvSpPr>
        <p:spPr>
          <a:xfrm>
            <a:off x="857250" y="5419725"/>
            <a:ext cx="1333500" cy="57150"/>
          </a:xfrm>
          <a:prstGeom prst="roundRect">
            <a:avLst>
              <a:gd name="adj" fmla="val 50000"/>
            </a:avLst>
          </a:prstGeom>
          <a:solidFill>
            <a:srgbClr val="B19C7D"/>
          </a:solidFill>
          <a:ln/>
        </p:spPr>
      </p:sp>
      <p:sp>
        <p:nvSpPr>
          <p:cNvPr id="8" name="Text 5"/>
          <p:cNvSpPr/>
          <p:nvPr/>
        </p:nvSpPr>
        <p:spPr>
          <a:xfrm>
            <a:off x="857250" y="5857875"/>
            <a:ext cx="1402283" cy="342900"/>
          </a:xfrm>
          <a:prstGeom prst="rect">
            <a:avLst/>
          </a:prstGeom>
          <a:noFill/>
          <a:ln/>
        </p:spPr>
        <p:txBody>
          <a:bodyPr wrap="square" lIns="25400" tIns="25400" rIns="25400" bIns="25400" rtlCol="0" anchor="t">
            <a:normAutofit/>
          </a:bodyPr>
          <a:lstStyle/>
          <a:p>
            <a:pPr algn="l" indent="0" marL="0">
              <a:buNone/>
            </a:pPr>
            <a:r>
              <a:rPr lang="en-US" sz="2100" dirty="0">
                <a:solidFill>
                  <a:srgbClr val="E7D7C1"/>
                </a:solidFill>
                <a:latin typeface="Arial" pitchFamily="34" charset="0"/>
                <a:ea typeface="Arial" pitchFamily="34" charset="-122"/>
                <a:cs typeface="Arial" pitchFamily="34" charset="-120"/>
              </a:rPr>
              <a:t>Project</a:t>
            </a:r>
            <a:endParaRPr lang="en-US" sz="2100" dirty="0"/>
          </a:p>
        </p:txBody>
      </p:sp>
      <p:sp>
        <p:nvSpPr>
          <p:cNvPr id="9" name="Text 6"/>
          <p:cNvSpPr/>
          <p:nvPr/>
        </p:nvSpPr>
        <p:spPr>
          <a:xfrm>
            <a:off x="2474952" y="5857875"/>
            <a:ext cx="12889027" cy="342900"/>
          </a:xfrm>
          <a:prstGeom prst="rect">
            <a:avLst/>
          </a:prstGeom>
          <a:noFill/>
          <a:ln/>
        </p:spPr>
        <p:txBody>
          <a:bodyPr wrap="square" lIns="25400" tIns="25400" rIns="25400" bIns="25400" rtlCol="0" anchor="t">
            <a:normAutofit/>
          </a:bodyPr>
          <a:lstStyle/>
          <a:p>
            <a:pPr algn="l" indent="0" marL="0">
              <a:buNone/>
            </a:pPr>
            <a:r>
              <a:rPr lang="en-US" sz="2100" dirty="0">
                <a:solidFill>
                  <a:srgbClr val="FFFFFF"/>
                </a:solidFill>
                <a:latin typeface="Arial" pitchFamily="34" charset="0"/>
                <a:ea typeface="Arial" pitchFamily="34" charset="-122"/>
                <a:cs typeface="Arial" pitchFamily="34" charset="-120"/>
              </a:rPr>
              <a:t>United Arab Towers Contracting Company Web Application</a:t>
            </a:r>
            <a:endParaRPr lang="en-US" sz="2100" dirty="0"/>
          </a:p>
        </p:txBody>
      </p:sp>
      <p:sp>
        <p:nvSpPr>
          <p:cNvPr id="10" name="Text 7"/>
          <p:cNvSpPr/>
          <p:nvPr/>
        </p:nvSpPr>
        <p:spPr>
          <a:xfrm>
            <a:off x="857250" y="6296025"/>
            <a:ext cx="1402283" cy="342900"/>
          </a:xfrm>
          <a:prstGeom prst="rect">
            <a:avLst/>
          </a:prstGeom>
          <a:noFill/>
          <a:ln/>
        </p:spPr>
        <p:txBody>
          <a:bodyPr wrap="square" lIns="25400" tIns="25400" rIns="25400" bIns="25400" rtlCol="0" anchor="t">
            <a:normAutofit/>
          </a:bodyPr>
          <a:lstStyle/>
          <a:p>
            <a:pPr algn="l" indent="0" marL="0">
              <a:buNone/>
            </a:pPr>
            <a:r>
              <a:rPr lang="en-US" sz="2100" dirty="0">
                <a:solidFill>
                  <a:srgbClr val="E7D7C1"/>
                </a:solidFill>
                <a:latin typeface="Arial" pitchFamily="34" charset="0"/>
                <a:ea typeface="Arial" pitchFamily="34" charset="-122"/>
                <a:cs typeface="Arial" pitchFamily="34" charset="-120"/>
              </a:rPr>
              <a:t>Presenter</a:t>
            </a:r>
            <a:endParaRPr lang="en-US" sz="2100" dirty="0"/>
          </a:p>
        </p:txBody>
      </p:sp>
      <p:sp>
        <p:nvSpPr>
          <p:cNvPr id="11" name="Text 8"/>
          <p:cNvSpPr/>
          <p:nvPr/>
        </p:nvSpPr>
        <p:spPr>
          <a:xfrm>
            <a:off x="2474952" y="6296025"/>
            <a:ext cx="12889027" cy="342900"/>
          </a:xfrm>
          <a:prstGeom prst="rect">
            <a:avLst/>
          </a:prstGeom>
          <a:noFill/>
          <a:ln/>
        </p:spPr>
        <p:txBody>
          <a:bodyPr wrap="square" lIns="25400" tIns="25400" rIns="25400" bIns="25400" rtlCol="0" anchor="t">
            <a:normAutofit/>
          </a:bodyPr>
          <a:lstStyle/>
          <a:p>
            <a:pPr algn="l" indent="0" marL="0">
              <a:buNone/>
            </a:pPr>
            <a:r>
              <a:rPr lang="en-US" sz="2100" dirty="0">
                <a:solidFill>
                  <a:srgbClr val="FFFFFF"/>
                </a:solidFill>
                <a:latin typeface="Arial" pitchFamily="34" charset="0"/>
                <a:ea typeface="Arial" pitchFamily="34" charset="-122"/>
                <a:cs typeface="Arial" pitchFamily="34" charset="-120"/>
              </a:rPr>
              <a:t>Mohammed Moqbel Ali</a:t>
            </a:r>
            <a:endParaRPr lang="en-US" sz="2100" dirty="0"/>
          </a:p>
        </p:txBody>
      </p:sp>
      <p:sp>
        <p:nvSpPr>
          <p:cNvPr id="12" name="Text 9"/>
          <p:cNvSpPr/>
          <p:nvPr/>
        </p:nvSpPr>
        <p:spPr>
          <a:xfrm>
            <a:off x="857250" y="6734175"/>
            <a:ext cx="1402283" cy="342900"/>
          </a:xfrm>
          <a:prstGeom prst="rect">
            <a:avLst/>
          </a:prstGeom>
          <a:noFill/>
          <a:ln/>
        </p:spPr>
        <p:txBody>
          <a:bodyPr wrap="square" lIns="25400" tIns="25400" rIns="25400" bIns="25400" rtlCol="0" anchor="t">
            <a:normAutofit/>
          </a:bodyPr>
          <a:lstStyle/>
          <a:p>
            <a:pPr algn="l" indent="0" marL="0">
              <a:buNone/>
            </a:pPr>
            <a:r>
              <a:rPr lang="en-US" sz="2100" dirty="0">
                <a:solidFill>
                  <a:srgbClr val="E7D7C1"/>
                </a:solidFill>
                <a:latin typeface="Arial" pitchFamily="34" charset="0"/>
                <a:ea typeface="Arial" pitchFamily="34" charset="-122"/>
                <a:cs typeface="Arial" pitchFamily="34" charset="-120"/>
              </a:rPr>
              <a:t>Supervisor</a:t>
            </a:r>
            <a:endParaRPr lang="en-US" sz="2100" dirty="0"/>
          </a:p>
        </p:txBody>
      </p:sp>
      <p:sp>
        <p:nvSpPr>
          <p:cNvPr id="13" name="Text 10"/>
          <p:cNvSpPr/>
          <p:nvPr/>
        </p:nvSpPr>
        <p:spPr>
          <a:xfrm>
            <a:off x="2474952" y="6734175"/>
            <a:ext cx="12889027" cy="342900"/>
          </a:xfrm>
          <a:prstGeom prst="rect">
            <a:avLst/>
          </a:prstGeom>
          <a:noFill/>
          <a:ln/>
        </p:spPr>
        <p:txBody>
          <a:bodyPr wrap="square" lIns="25400" tIns="25400" rIns="25400" bIns="25400" rtlCol="0" anchor="t">
            <a:normAutofit/>
          </a:bodyPr>
          <a:lstStyle/>
          <a:p>
            <a:pPr algn="l" indent="0" marL="0">
              <a:buNone/>
            </a:pPr>
            <a:r>
              <a:rPr lang="en-US" sz="2100" dirty="0">
                <a:solidFill>
                  <a:srgbClr val="FFFFFF"/>
                </a:solidFill>
                <a:latin typeface="Arial" pitchFamily="34" charset="0"/>
                <a:ea typeface="Arial" pitchFamily="34" charset="-122"/>
                <a:cs typeface="Arial" pitchFamily="34" charset="-120"/>
              </a:rPr>
              <a:t>Mr. Johan Mohamad Sharif</a:t>
            </a:r>
            <a:endParaRPr lang="en-US" sz="2100" dirty="0"/>
          </a:p>
        </p:txBody>
      </p:sp>
      <p:sp>
        <p:nvSpPr>
          <p:cNvPr id="14" name="Text 11"/>
          <p:cNvSpPr/>
          <p:nvPr/>
        </p:nvSpPr>
        <p:spPr>
          <a:xfrm>
            <a:off x="857250" y="7172325"/>
            <a:ext cx="1402283" cy="342900"/>
          </a:xfrm>
          <a:prstGeom prst="rect">
            <a:avLst/>
          </a:prstGeom>
          <a:noFill/>
          <a:ln/>
        </p:spPr>
        <p:txBody>
          <a:bodyPr wrap="square" lIns="25400" tIns="25400" rIns="25400" bIns="25400" rtlCol="0" anchor="t">
            <a:normAutofit/>
          </a:bodyPr>
          <a:lstStyle/>
          <a:p>
            <a:pPr algn="l" indent="0" marL="0">
              <a:buNone/>
            </a:pPr>
            <a:r>
              <a:rPr lang="en-US" sz="2100" dirty="0">
                <a:solidFill>
                  <a:srgbClr val="E7D7C1"/>
                </a:solidFill>
                <a:latin typeface="Arial" pitchFamily="34" charset="0"/>
                <a:ea typeface="Arial" pitchFamily="34" charset="-122"/>
                <a:cs typeface="Arial" pitchFamily="34" charset="-120"/>
              </a:rPr>
              <a:t>Faculty</a:t>
            </a:r>
            <a:endParaRPr lang="en-US" sz="2100" dirty="0"/>
          </a:p>
        </p:txBody>
      </p:sp>
      <p:sp>
        <p:nvSpPr>
          <p:cNvPr id="15" name="Text 12"/>
          <p:cNvSpPr/>
          <p:nvPr/>
        </p:nvSpPr>
        <p:spPr>
          <a:xfrm>
            <a:off x="2474952" y="7172325"/>
            <a:ext cx="12889027" cy="342900"/>
          </a:xfrm>
          <a:prstGeom prst="rect">
            <a:avLst/>
          </a:prstGeom>
          <a:noFill/>
          <a:ln/>
        </p:spPr>
        <p:txBody>
          <a:bodyPr wrap="square" lIns="25400" tIns="25400" rIns="25400" bIns="25400" rtlCol="0" anchor="t">
            <a:normAutofit/>
          </a:bodyPr>
          <a:lstStyle/>
          <a:p>
            <a:pPr algn="l" indent="0" marL="0">
              <a:buNone/>
            </a:pPr>
            <a:r>
              <a:rPr lang="en-US" sz="2100" dirty="0">
                <a:solidFill>
                  <a:srgbClr val="FFFFFF"/>
                </a:solidFill>
                <a:latin typeface="Arial" pitchFamily="34" charset="0"/>
                <a:ea typeface="Arial" pitchFamily="34" charset="-122"/>
                <a:cs typeface="Arial" pitchFamily="34" charset="-120"/>
              </a:rPr>
              <a:t>Faculty of Computing · Universiti Teknologi Malaysia</a:t>
            </a:r>
            <a:endParaRPr lang="en-US" sz="2100" dirty="0"/>
          </a:p>
        </p:txBody>
      </p:sp>
      <p:sp>
        <p:nvSpPr>
          <p:cNvPr id="16" name="Text 13"/>
          <p:cNvSpPr/>
          <p:nvPr/>
        </p:nvSpPr>
        <p:spPr>
          <a:xfrm>
            <a:off x="857250" y="9551670"/>
            <a:ext cx="2474393" cy="297180"/>
          </a:xfrm>
          <a:prstGeom prst="rect">
            <a:avLst/>
          </a:prstGeom>
          <a:noFill/>
          <a:ln/>
        </p:spPr>
        <p:txBody>
          <a:bodyPr wrap="square" lIns="25400" tIns="25400" rIns="25400" bIns="25400" rtlCol="0" anchor="t">
            <a:normAutofit/>
          </a:bodyPr>
          <a:lstStyle/>
          <a:p>
            <a:pPr algn="l" indent="0" marL="0">
              <a:buNone/>
            </a:pPr>
            <a:r>
              <a:rPr lang="en-US" sz="1800" i="1" spc="75" kern="0" dirty="0">
                <a:solidFill>
                  <a:srgbClr val="B19C7D"/>
                </a:solidFill>
                <a:latin typeface="Arial" pitchFamily="34" charset="0"/>
                <a:ea typeface="Arial" pitchFamily="34" charset="-122"/>
                <a:cs typeface="Arial" pitchFamily="34" charset="-120"/>
              </a:rPr>
              <a:t>Innovating Solutions</a:t>
            </a:r>
            <a:endParaRPr lang="en-US" sz="1800" dirty="0"/>
          </a:p>
        </p:txBody>
      </p:sp>
      <p:sp>
        <p:nvSpPr>
          <p:cNvPr id="17" name="Text 14"/>
          <p:cNvSpPr/>
          <p:nvPr/>
        </p:nvSpPr>
        <p:spPr>
          <a:xfrm>
            <a:off x="16664940" y="9551670"/>
            <a:ext cx="842010" cy="297180"/>
          </a:xfrm>
          <a:prstGeom prst="rect">
            <a:avLst/>
          </a:prstGeom>
          <a:noFill/>
          <a:ln/>
        </p:spPr>
        <p:txBody>
          <a:bodyPr wrap="square" lIns="25400" tIns="25400" rIns="25400" bIns="25400" rtlCol="0" anchor="t">
            <a:normAutofit/>
          </a:bodyPr>
          <a:lstStyle/>
          <a:p>
            <a:pPr algn="l" indent="0" marL="0">
              <a:buNone/>
            </a:pPr>
            <a:r>
              <a:rPr lang="en-US" sz="1800" spc="75" kern="0" dirty="0">
                <a:solidFill>
                  <a:srgbClr val="B19C7D"/>
                </a:solidFill>
                <a:latin typeface="Arial" pitchFamily="34" charset="0"/>
                <a:ea typeface="Arial" pitchFamily="34" charset="-122"/>
                <a:cs typeface="Arial" pitchFamily="34" charset="-120"/>
              </a:rPr>
              <a:t>14 / 14</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2026-06-25T18:16:50Z</dcterms:created>
  <dcterms:modified xsi:type="dcterms:W3CDTF">2026-06-25T18:16:50Z</dcterms:modified>
</cp:coreProperties>
</file>