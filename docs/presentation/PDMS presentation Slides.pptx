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5" d="100"/>
          <a:sy n="45" d="100"/>
        </p:scale>
        <p:origin x="72" y="3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2695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panel members and supervisor. My name is Mohamed Omar Makhlouf, a final-year student in the School of Electrical, Computing and Engineering at Universiti Teknologi Malaysia, under the supervision of Mr. Johan Mohamed Sharif. Today I present the analysis and design of my PSM 1 project: Design and Deployment of a Secure Cloud-Based Patient Data Management System Using a Three-Tier Architecture on AWS. The project is motivated by a real ransomware incident at Alamin Clinic in May 2023. The presentation will take roughly ten minutes, after which I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Alamin Clinic is a private clinic in Saudi Arabia running a fully manual, server-based patient records system. All staff share a single login, there is no access control, no data encryption, and no backup policy. In May 2023 a ransomware attack struck the clinic, encrypting every patient record and halting operations for five full days. Records were permanently lost and no forensic investigation was possible. This real-world incident exposed three structural security gaps that this project directly addresses: the absence of role-based access control, the absence of an audit trail, and the absence of any disaster recovery capability.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root-cause gaps were identified from the Alamin Clinic ransomware post-mortem. P1 is the absence of role-based access control: every staff member shared one login, so there was no data isolation between doctors, administrators, and patients — any user could read or modify any record. P2 is the absence of an audit trail: with no logging of who accessed or changed records, forensic investigation after the attack was entirely impossible. P3 is the absence of disaster recovery: no backup existed, no infrastructure-as-code could rebuild the environment, and the unplanned recovery took five days with permanent data loss. Each problem maps directly to a project objective and a non-functional requirement.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aim is to design and deploy a secure, three-tier cloud-based patient data management system on AWS that directly eliminates all three gaps from the Alamin Clinic case. Four measurable objectives support this aim. First, design a three-tier AWS VPC with isolated public, private application, and private database subnets. Second, implement role-based access control enforced at three independent layers: JWT at the application layer, AWS IAM at the infrastructure layer, and PostgreSQL Row-Level Security at the database layer. Third, build a DevSecOps CI/CD pipeline with SonarQube SAST, Trivy container scanning, and Checkov IaC scanning — each configured to block deployment on failure. Fourth, achieve a ransomware recovery RTO under fifteen minutes using Terraform infrastructure-as-code, compared with the five-day recovery at Alamin Clinic.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scope is bounded by three user roles. Doctors can view and create medical records but only for patients assigned to them. Administrators can register patients, manage appointments, and manage user accounts but cannot see clinical data. Patients can view their own records and appointments in read-only mode. The system is deployed on AWS in the ap-southeast-1 Singapore region. The backend is Node.js and Express on EC2. The frontend is React, served via S3 and CloudFront. The database is Amazon RDS PostgreSQL with Multi-AZ. PSM 1 covers the analysis and design phase. PSM 2 will cover implementation and testing. Out of scope are a mobile application, payment processing, and third-party EHR integration.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existing systems were studied: OpenEMR, Epic Systems, and the AWS Well-Architected Healthcare framework. OpenEMR provides only basic RBAC, no audit trail, is on-premise only, and has no infrastructure-as-code or disaster recovery. Epic Systems offers enterprise-grade RBAC and audit logging but runs on a proprietary private cloud with proprietary disaster recovery — it is not open-source and is inaccessible to smaller healthcare providers. The AWS Well-Architected framework provides CloudTrail API logging and supports IaC partially, but it does not include application-layer RBAC. None of the three systems combines three-layer RBAC, a full DevSecOps CI/CD pipeline, and Terraform-based disaster recovery with an RTO under fifteen minutes in a single cloud-native open-source deployment. That is the research gap this project fills.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was chosen because security requirements evolved iteratively through two structured stakeholder interviews with the clinic's administrative staff and clinical staff. A waterfall approach would have locked requirements too early. DevSecOps is overlaid on the Agile sprints so security scanning is automated at every pipeline stage rather than being a single end-of-project gate. The five sprints cover requirements and architecture design in Sprint 1, which is complete at PSM 1. Sprints 2 through 5 — covering the network and database layer, application layer, security integration, and final testing — are planned for PSM 2 from June to November 2026.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architecture is a three-tier AWS VPC. The public tier contains the Application Load Balancer, which accepts only HTTPS traffic on port 443, and the NAT Gateway which handles outbound traffic from the private subnets. The private application tier contains EC2 instances running the Node.js and Express REST API, and the React frontend served via S3 and CloudFront. The private database tier contains Amazon RDS PostgreSQL in a Multi-AZ deployment with AES-256 encryption at rest and row-level security policies active. Cross-cutting security controls include Security Groups, Network ACLs, AWS IAM least-privilege policies, CloudTrail for all API event logging, and Terraform managing the entire infrastructure as code. EC2 cannot reach RDS directly — all database access passes through the application layer and is further governed by row-level security.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model contains 18 use cases across five modules: Authentication, Patient Management, Medical Records, Appointments, and Audit. Three actors are involved: Doctor, Admin, and Patient. The database design uses six PostgreSQL tables: users, patients, doctors, medical_records, appointments, and audit_log. All primary keys are UUIDs. Three key design decisions enforce security at the database layer. Row-level security on medical_records means a doctor can only see records for patients assigned to them. Row-level security on the patients table means each patient sees only their own profile. The audit_log table is insert-only — no update or delete operations are permitted, making it tamper-evident. These policies operate independently of the application code, so even if the application layer is bypassed, the database enforces the same access rules.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security design has two major components. The three-layer RBAC model and the DevSecOps pipeline. For RBAC: Layer 1 is JWT at the application layer — tokens are stored in httpOnly and Secure cookies, roles are embedded in the token payload, bcrypt cost factor 12 is used for password hashing, and SameSite Strict prevents cross-site request forgery. Layer 2 is AWS IAM at the infrastructure layer — least-privilege policies per service, EC2 cannot reach RDS directly, S3 blocks all public access, and all policies are managed by Terraform. Layer 3 is PostgreSQL Row-Level Security at the database layer — doctors see only their assigned records, patients see only their own profile, and this enforcement is completely independent of the application code. The DevSecOps pipeline has six stages: code checkout, SonarQube SAST which blocks on any critical finding, Docker build, Trivy image scan which blocks on critical CVEs, Checkov IaC scan which blocks on high or critical findings, and finally Terraform apply which only runs if all three security gates pass. HIPAA compliance mapping confirms this design covers sections 164.312 a, b, and 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role-based wireframes were designed in Appendix E. Figure E.1 is the Login Screen — a single entry point for all three roles. After authentication, the JWT redirects each user to their own role-specific dashboard. There is no self-registration. Figure E.2 is the Doctor Dashboard — a left sidebar shows Patients and Appointments. Doctors can only create new records for their assigned patients, and no administrative functions are visible. Figure E.3 is the Admin Dashboard — the admin can register patients, manage appointments, and manage user accounts, but no clinical data is visible at all. Figure E.4 is the Patient Portal — patients can view their own records and appointments in read-only mode, with no edit or delete controls rendered on screen. The core principle across all four screens is that role isolation is enforced visually — each interface only surfaces what that role is permitted to access.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plan has five layers, all to be executed in PSM 2. Functional testing will cover test cases for all 18 use cases with both positive and negative scenarios. Security testing will include penetration testing to validate each RBAC layer and confirm the RLS policies cannot be bypassed. Pipeline testing will verify that each security gate correctly blocks deployment when a critical or high-severity finding is present. Recovery testing will destroy the test environment and measure the time taken for terraform apply to restore it to a fully operational state — the target is under fifteen minutes. Compliance auditing will validate the design against HIPAA section 164.312 and Malaysia's Personal Data Protection Act 2010.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PSM 1 has produced a comprehensive set of design artefacts. These include the Alamin Clinic ransomware root cause analysis, two stakeholder interviews, 18 use cases and twelve functional plus eleven non-functional requirements, the three-tier AWS VPC architecture design, the three-layer RBAC model, the six-stage DevSecOps pipeline design, the database schema with six tables and row-level security policies, four role-based interface wireframes in Appendix E, and a HIPAA section 164.312 compliance mapping. PSM 2, running from June to November 2026, will implement all of this: Terraform-provisioned VPC, RDS, and IAM; the Node.js and React application; JWT authentication and PostgreSQL RLS activation; the full DevSecOps pipeline; penetration testing and a formal security audit; PDPA 2010 compliance review; and the final documentation and viva.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very much for your time and attention. I would welcome any questions on the system architecture, the security design, the database schema, the DevSecOps pipeline, or the evaluation plan.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youtu.be/z5akqhO1zrY"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287000" cy="10287000"/>
          </a:xfrm>
          <a:prstGeom prst="rect">
            <a:avLst/>
          </a:prstGeom>
          <a:solidFill>
            <a:srgbClr val="74121D"/>
          </a:solidFill>
          <a:ln/>
        </p:spPr>
        <p:txBody>
          <a:bodyPr/>
          <a:lstStyle/>
          <a:p>
            <a:pPr algn="ctr"/>
            <a:r>
              <a:rPr lang="en-MY" sz="3000" dirty="0">
                <a:hlinkClick r:id="rId3"/>
              </a:rPr>
              <a:t>PSM1 </a:t>
            </a:r>
            <a:r>
              <a:rPr lang="en-MY" sz="3000" b="1" dirty="0">
                <a:hlinkClick r:id="rId3"/>
              </a:rPr>
              <a:t>Video</a:t>
            </a:r>
            <a:r>
              <a:rPr lang="en-MY" sz="3000" dirty="0">
                <a:hlinkClick r:id="rId3"/>
              </a:rPr>
              <a:t> Presentation Link </a:t>
            </a:r>
            <a:endParaRPr lang="en-MY" sz="3000" dirty="0"/>
          </a:p>
        </p:txBody>
      </p:sp>
      <p:pic>
        <p:nvPicPr>
          <p:cNvPr id="3" name="Image 0" descr="preencoded.png"/>
          <p:cNvPicPr>
            <a:picLocks noChangeAspect="1"/>
          </p:cNvPicPr>
          <p:nvPr/>
        </p:nvPicPr>
        <p:blipFill>
          <a:blip r:embed="rId4"/>
          <a:stretch>
            <a:fillRect/>
          </a:stretch>
        </p:blipFill>
        <p:spPr>
          <a:xfrm>
            <a:off x="857250" y="857250"/>
            <a:ext cx="2000250" cy="674370"/>
          </a:xfrm>
          <a:prstGeom prst="rect">
            <a:avLst/>
          </a:prstGeom>
        </p:spPr>
      </p:pic>
      <p:sp>
        <p:nvSpPr>
          <p:cNvPr id="4" name="Text 1"/>
          <p:cNvSpPr/>
          <p:nvPr/>
        </p:nvSpPr>
        <p:spPr>
          <a:xfrm>
            <a:off x="857250" y="1703070"/>
            <a:ext cx="942975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00" dirty="0">
                <a:solidFill>
                  <a:srgbClr val="E7D7C1"/>
                </a:solidFill>
                <a:latin typeface="Arial" pitchFamily="34" charset="0"/>
                <a:ea typeface="Arial" pitchFamily="34" charset="-122"/>
                <a:cs typeface="Arial" pitchFamily="34" charset="-120"/>
              </a:rPr>
              <a:t>FINAL YEAR PROJECT · PSM 1</a:t>
            </a:r>
            <a:endParaRPr lang="en-US" sz="1800" dirty="0"/>
          </a:p>
        </p:txBody>
      </p:sp>
      <p:sp>
        <p:nvSpPr>
          <p:cNvPr id="5" name="Text 2"/>
          <p:cNvSpPr/>
          <p:nvPr/>
        </p:nvSpPr>
        <p:spPr>
          <a:xfrm>
            <a:off x="857250" y="3718560"/>
            <a:ext cx="942975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75" dirty="0">
                <a:solidFill>
                  <a:srgbClr val="E7D7C1"/>
                </a:solidFill>
                <a:latin typeface="Arial" pitchFamily="34" charset="0"/>
                <a:ea typeface="Arial" pitchFamily="34" charset="-122"/>
                <a:cs typeface="Arial" pitchFamily="34" charset="-120"/>
              </a:rPr>
              <a:t>SCHOOL OF COMPUTING (SECRH)</a:t>
            </a:r>
            <a:endParaRPr lang="en-US" sz="1800" dirty="0"/>
          </a:p>
        </p:txBody>
      </p:sp>
      <p:sp>
        <p:nvSpPr>
          <p:cNvPr id="6" name="Text 3"/>
          <p:cNvSpPr/>
          <p:nvPr/>
        </p:nvSpPr>
        <p:spPr>
          <a:xfrm>
            <a:off x="857250" y="4206240"/>
            <a:ext cx="8633460" cy="238506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4200" b="1" kern="0" spc="-37" dirty="0">
                <a:solidFill>
                  <a:srgbClr val="FFFFFF"/>
                </a:solidFill>
                <a:latin typeface="Arial" pitchFamily="34" charset="0"/>
                <a:ea typeface="Arial" pitchFamily="34" charset="-122"/>
                <a:cs typeface="Arial" pitchFamily="34" charset="-120"/>
              </a:rPr>
              <a:t>Design and Deployment of a Secure Cloud-Based Patient Data Management System Using a Three-Tier Architecture on AWS</a:t>
            </a:r>
            <a:endParaRPr lang="en-US" sz="4200" dirty="0"/>
          </a:p>
        </p:txBody>
      </p:sp>
      <p:sp>
        <p:nvSpPr>
          <p:cNvPr id="7" name="Shape 4"/>
          <p:cNvSpPr/>
          <p:nvPr/>
        </p:nvSpPr>
        <p:spPr>
          <a:xfrm>
            <a:off x="857250" y="6896100"/>
            <a:ext cx="1143000" cy="57150"/>
          </a:xfrm>
          <a:prstGeom prst="roundRect">
            <a:avLst>
              <a:gd name="adj" fmla="val 50000"/>
            </a:avLst>
          </a:prstGeom>
          <a:solidFill>
            <a:srgbClr val="B19C7D"/>
          </a:solidFill>
          <a:ln/>
        </p:spPr>
      </p:sp>
      <p:sp>
        <p:nvSpPr>
          <p:cNvPr id="8" name="Text 5"/>
          <p:cNvSpPr/>
          <p:nvPr/>
        </p:nvSpPr>
        <p:spPr>
          <a:xfrm>
            <a:off x="857250" y="7258050"/>
            <a:ext cx="148178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E7D7C1"/>
                </a:solidFill>
                <a:latin typeface="Arial" pitchFamily="34" charset="0"/>
                <a:ea typeface="Arial" pitchFamily="34" charset="-122"/>
                <a:cs typeface="Arial" pitchFamily="34" charset="-120"/>
              </a:rPr>
              <a:t>Presented by</a:t>
            </a:r>
            <a:endParaRPr lang="en-US" sz="1800" dirty="0"/>
          </a:p>
        </p:txBody>
      </p:sp>
      <p:sp>
        <p:nvSpPr>
          <p:cNvPr id="9" name="Text 6"/>
          <p:cNvSpPr/>
          <p:nvPr/>
        </p:nvSpPr>
        <p:spPr>
          <a:xfrm>
            <a:off x="2490073" y="7258050"/>
            <a:ext cx="7633645"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FFFFFF"/>
                </a:solidFill>
                <a:latin typeface="Arial" pitchFamily="34" charset="0"/>
                <a:ea typeface="Arial" pitchFamily="34" charset="-122"/>
                <a:cs typeface="Arial" pitchFamily="34" charset="-120"/>
              </a:rPr>
              <a:t>Mohamed Omar Makhlouf</a:t>
            </a:r>
            <a:endParaRPr lang="en-US" sz="1800" dirty="0"/>
          </a:p>
        </p:txBody>
      </p:sp>
      <p:sp>
        <p:nvSpPr>
          <p:cNvPr id="10" name="Text 7"/>
          <p:cNvSpPr/>
          <p:nvPr/>
        </p:nvSpPr>
        <p:spPr>
          <a:xfrm>
            <a:off x="857250" y="7650480"/>
            <a:ext cx="148178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E7D7C1"/>
                </a:solidFill>
                <a:latin typeface="Arial" pitchFamily="34" charset="0"/>
                <a:ea typeface="Arial" pitchFamily="34" charset="-122"/>
                <a:cs typeface="Arial" pitchFamily="34" charset="-120"/>
              </a:rPr>
              <a:t>Programme</a:t>
            </a:r>
            <a:endParaRPr lang="en-US" sz="1800" dirty="0"/>
          </a:p>
        </p:txBody>
      </p:sp>
      <p:sp>
        <p:nvSpPr>
          <p:cNvPr id="11" name="Text 8"/>
          <p:cNvSpPr/>
          <p:nvPr/>
        </p:nvSpPr>
        <p:spPr>
          <a:xfrm>
            <a:off x="2490073" y="7650480"/>
            <a:ext cx="7633645"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FFFFFF"/>
                </a:solidFill>
                <a:latin typeface="Arial" pitchFamily="34" charset="0"/>
                <a:ea typeface="Arial" pitchFamily="34" charset="-122"/>
                <a:cs typeface="Arial" pitchFamily="34" charset="-120"/>
              </a:rPr>
              <a:t>BSc Computer Science (SECRH)</a:t>
            </a:r>
            <a:endParaRPr lang="en-US" sz="1800" dirty="0"/>
          </a:p>
        </p:txBody>
      </p:sp>
      <p:sp>
        <p:nvSpPr>
          <p:cNvPr id="12" name="Text 9"/>
          <p:cNvSpPr/>
          <p:nvPr/>
        </p:nvSpPr>
        <p:spPr>
          <a:xfrm>
            <a:off x="857250" y="8042910"/>
            <a:ext cx="148178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E7D7C1"/>
                </a:solidFill>
                <a:latin typeface="Arial" pitchFamily="34" charset="0"/>
                <a:ea typeface="Arial" pitchFamily="34" charset="-122"/>
                <a:cs typeface="Arial" pitchFamily="34" charset="-120"/>
              </a:rPr>
              <a:t>Supervisor</a:t>
            </a:r>
            <a:endParaRPr lang="en-US" sz="1800" dirty="0"/>
          </a:p>
        </p:txBody>
      </p:sp>
      <p:sp>
        <p:nvSpPr>
          <p:cNvPr id="13" name="Text 10"/>
          <p:cNvSpPr/>
          <p:nvPr/>
        </p:nvSpPr>
        <p:spPr>
          <a:xfrm>
            <a:off x="2490073" y="8042910"/>
            <a:ext cx="7633645"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FFFFFF"/>
                </a:solidFill>
                <a:latin typeface="Arial" pitchFamily="34" charset="0"/>
                <a:ea typeface="Arial" pitchFamily="34" charset="-122"/>
                <a:cs typeface="Arial" pitchFamily="34" charset="-120"/>
              </a:rPr>
              <a:t>Mr. Johan Mohamed Sharif</a:t>
            </a:r>
            <a:endParaRPr lang="en-US" sz="1800" dirty="0"/>
          </a:p>
        </p:txBody>
      </p:sp>
      <p:sp>
        <p:nvSpPr>
          <p:cNvPr id="14" name="Text 11"/>
          <p:cNvSpPr/>
          <p:nvPr/>
        </p:nvSpPr>
        <p:spPr>
          <a:xfrm>
            <a:off x="857250" y="8435340"/>
            <a:ext cx="148178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E7D7C1"/>
                </a:solidFill>
                <a:latin typeface="Arial" pitchFamily="34" charset="0"/>
                <a:ea typeface="Arial" pitchFamily="34" charset="-122"/>
                <a:cs typeface="Arial" pitchFamily="34" charset="-120"/>
              </a:rPr>
              <a:t>Date</a:t>
            </a:r>
            <a:endParaRPr lang="en-US" sz="1800" dirty="0"/>
          </a:p>
        </p:txBody>
      </p:sp>
      <p:sp>
        <p:nvSpPr>
          <p:cNvPr id="15" name="Text 12"/>
          <p:cNvSpPr/>
          <p:nvPr/>
        </p:nvSpPr>
        <p:spPr>
          <a:xfrm>
            <a:off x="2490073" y="8435340"/>
            <a:ext cx="7633645"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FFFFFF"/>
                </a:solidFill>
                <a:latin typeface="Arial" pitchFamily="34" charset="0"/>
                <a:ea typeface="Arial" pitchFamily="34" charset="-122"/>
                <a:cs typeface="Arial" pitchFamily="34" charset="-120"/>
              </a:rPr>
              <a:t>June 2026</a:t>
            </a:r>
            <a:endParaRPr lang="en-US" sz="1800" dirty="0"/>
          </a:p>
        </p:txBody>
      </p:sp>
      <p:sp>
        <p:nvSpPr>
          <p:cNvPr id="16" name="Text 13"/>
          <p:cNvSpPr/>
          <p:nvPr/>
        </p:nvSpPr>
        <p:spPr>
          <a:xfrm>
            <a:off x="857250" y="9265920"/>
            <a:ext cx="8829675"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i="1" kern="0" spc="75" dirty="0">
                <a:solidFill>
                  <a:srgbClr val="B19C7D"/>
                </a:solidFill>
                <a:latin typeface="Arial" pitchFamily="34" charset="0"/>
                <a:ea typeface="Arial" pitchFamily="34" charset="-122"/>
                <a:cs typeface="Arial" pitchFamily="34" charset="-120"/>
              </a:rPr>
              <a:t>Innovating Solutions</a:t>
            </a:r>
            <a:endParaRPr lang="en-US" sz="1800" dirty="0"/>
          </a:p>
        </p:txBody>
      </p:sp>
      <p:pic>
        <p:nvPicPr>
          <p:cNvPr id="17" name="Image 1" descr="preencoded.png"/>
          <p:cNvPicPr>
            <a:picLocks noChangeAspect="1"/>
          </p:cNvPicPr>
          <p:nvPr/>
        </p:nvPicPr>
        <p:blipFill>
          <a:blip r:embed="rId5"/>
          <a:srcRect l="14563" r="14563"/>
          <a:stretch/>
        </p:blipFill>
        <p:spPr>
          <a:xfrm>
            <a:off x="10287000" y="0"/>
            <a:ext cx="8001000" cy="10287000"/>
          </a:xfrm>
          <a:prstGeom prst="rect">
            <a:avLst/>
          </a:prstGeom>
        </p:spPr>
      </p:pic>
      <p:sp>
        <p:nvSpPr>
          <p:cNvPr id="18" name="Shape 14"/>
          <p:cNvSpPr/>
          <p:nvPr/>
        </p:nvSpPr>
        <p:spPr>
          <a:xfrm>
            <a:off x="10287000" y="0"/>
            <a:ext cx="1333500" cy="10287000"/>
          </a:xfrm>
          <a:prstGeom prst="rect">
            <a:avLst/>
          </a:prstGeom>
          <a:gradFill rotWithShape="1">
            <a:gsLst>
              <a:gs pos="0">
                <a:srgbClr val="74121D">
                  <a:alpha val="55000"/>
                </a:srgbClr>
              </a:gs>
              <a:gs pos="100000">
                <a:srgbClr val="74121D">
                  <a:alpha val="0"/>
                </a:srgbClr>
              </a:gs>
            </a:gsLst>
            <a:lin ang="0" scaled="0"/>
          </a:gra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icPr>
            <a:picLocks noChangeAspect="1"/>
          </p:cNvPicPr>
          <p:nvPr/>
        </p:nvPicPr>
        <p:blipFill>
          <a:blip r:embed="rId3"/>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B19C7D"/>
                </a:solidFill>
                <a:latin typeface="Arial" pitchFamily="34" charset="0"/>
                <a:ea typeface="Arial" pitchFamily="34" charset="-122"/>
                <a:cs typeface="Arial" pitchFamily="34" charset="-120"/>
              </a:rPr>
              <a:t>CHAPTER 1</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37" dirty="0">
                <a:solidFill>
                  <a:srgbClr val="74121D"/>
                </a:solidFill>
                <a:latin typeface="Arial" pitchFamily="34" charset="0"/>
                <a:ea typeface="Arial" pitchFamily="34" charset="-122"/>
                <a:cs typeface="Arial" pitchFamily="34" charset="-120"/>
              </a:rPr>
              <a:t>Introduction</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Text 4"/>
          <p:cNvSpPr/>
          <p:nvPr/>
        </p:nvSpPr>
        <p:spPr>
          <a:xfrm>
            <a:off x="952500" y="2868930"/>
            <a:ext cx="8643938"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150" dirty="0">
                <a:solidFill>
                  <a:srgbClr val="74121D"/>
                </a:solidFill>
                <a:latin typeface="Arial" pitchFamily="34" charset="0"/>
                <a:ea typeface="Arial" pitchFamily="34" charset="-122"/>
                <a:cs typeface="Arial" pitchFamily="34" charset="-120"/>
              </a:rPr>
              <a:t>THE CLINIC</a:t>
            </a:r>
            <a:endParaRPr lang="en-US" sz="1950" dirty="0"/>
          </a:p>
        </p:txBody>
      </p:sp>
      <p:sp>
        <p:nvSpPr>
          <p:cNvPr id="8" name="Text 5"/>
          <p:cNvSpPr/>
          <p:nvPr/>
        </p:nvSpPr>
        <p:spPr>
          <a:xfrm>
            <a:off x="952500" y="3284220"/>
            <a:ext cx="8093869" cy="13239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250" dirty="0">
                <a:solidFill>
                  <a:srgbClr val="3A3A3A"/>
                </a:solidFill>
                <a:latin typeface="Arial" pitchFamily="34" charset="0"/>
                <a:ea typeface="Arial" pitchFamily="34" charset="-122"/>
                <a:cs typeface="Arial" pitchFamily="34" charset="-120"/>
              </a:rPr>
              <a:t>Alamin Clinic (Saudi Arabia) operated a fully manual, server-based patient records system with shared credentials, no access control, no encryption, and no backup policy.</a:t>
            </a:r>
            <a:endParaRPr lang="en-US" sz="2250" dirty="0"/>
          </a:p>
        </p:txBody>
      </p:sp>
      <p:sp>
        <p:nvSpPr>
          <p:cNvPr id="9" name="Text 6"/>
          <p:cNvSpPr/>
          <p:nvPr/>
        </p:nvSpPr>
        <p:spPr>
          <a:xfrm>
            <a:off x="9477375" y="2868930"/>
            <a:ext cx="8643938"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150" dirty="0">
                <a:solidFill>
                  <a:srgbClr val="74121D"/>
                </a:solidFill>
                <a:latin typeface="Arial" pitchFamily="34" charset="0"/>
                <a:ea typeface="Arial" pitchFamily="34" charset="-122"/>
                <a:cs typeface="Arial" pitchFamily="34" charset="-120"/>
              </a:rPr>
              <a:t>THE INCIDENT</a:t>
            </a:r>
            <a:endParaRPr lang="en-US" sz="1950" dirty="0"/>
          </a:p>
        </p:txBody>
      </p:sp>
      <p:sp>
        <p:nvSpPr>
          <p:cNvPr id="10" name="Text 7"/>
          <p:cNvSpPr/>
          <p:nvPr/>
        </p:nvSpPr>
        <p:spPr>
          <a:xfrm>
            <a:off x="9477375" y="3284220"/>
            <a:ext cx="8093869" cy="13239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250" dirty="0">
                <a:solidFill>
                  <a:srgbClr val="3A3A3A"/>
                </a:solidFill>
                <a:latin typeface="Arial" pitchFamily="34" charset="0"/>
                <a:ea typeface="Arial" pitchFamily="34" charset="-122"/>
                <a:cs typeface="Arial" pitchFamily="34" charset="-120"/>
              </a:rPr>
              <a:t>May 2023 — ransomware attack encrypted all patient data, halted operations for 5 days, caused permanent record loss, and made forensic investigation impossible.</a:t>
            </a:r>
            <a:endParaRPr lang="en-US" sz="2250" dirty="0"/>
          </a:p>
        </p:txBody>
      </p:sp>
      <p:sp>
        <p:nvSpPr>
          <p:cNvPr id="11" name="Shape 8"/>
          <p:cNvSpPr/>
          <p:nvPr/>
        </p:nvSpPr>
        <p:spPr>
          <a:xfrm>
            <a:off x="952500" y="5141595"/>
            <a:ext cx="16154400" cy="1811655"/>
          </a:xfrm>
          <a:prstGeom prst="rect">
            <a:avLst/>
          </a:prstGeom>
          <a:solidFill>
            <a:srgbClr val="FBF6EE"/>
          </a:solidFill>
          <a:ln/>
        </p:spPr>
      </p:sp>
      <p:sp>
        <p:nvSpPr>
          <p:cNvPr id="12" name="Shape 9"/>
          <p:cNvSpPr/>
          <p:nvPr/>
        </p:nvSpPr>
        <p:spPr>
          <a:xfrm>
            <a:off x="952500" y="5141595"/>
            <a:ext cx="76200" cy="1811655"/>
          </a:xfrm>
          <a:prstGeom prst="rect">
            <a:avLst/>
          </a:prstGeom>
          <a:solidFill>
            <a:srgbClr val="B19C7D"/>
          </a:solidFill>
          <a:ln/>
        </p:spPr>
      </p:sp>
      <p:sp>
        <p:nvSpPr>
          <p:cNvPr id="13" name="Text 10"/>
          <p:cNvSpPr/>
          <p:nvPr/>
        </p:nvSpPr>
        <p:spPr>
          <a:xfrm>
            <a:off x="1447800" y="5465445"/>
            <a:ext cx="167640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13" dirty="0">
                <a:solidFill>
                  <a:srgbClr val="74121D"/>
                </a:solidFill>
                <a:latin typeface="Arial" pitchFamily="34" charset="0"/>
                <a:ea typeface="Arial" pitchFamily="34" charset="-122"/>
                <a:cs typeface="Arial" pitchFamily="34" charset="-120"/>
              </a:rPr>
              <a:t>THIS PROJECT PROPOSES</a:t>
            </a:r>
            <a:endParaRPr lang="en-US" sz="1800" dirty="0"/>
          </a:p>
        </p:txBody>
      </p:sp>
      <p:sp>
        <p:nvSpPr>
          <p:cNvPr id="14" name="Text 11"/>
          <p:cNvSpPr/>
          <p:nvPr/>
        </p:nvSpPr>
        <p:spPr>
          <a:xfrm>
            <a:off x="1447800" y="5800725"/>
            <a:ext cx="15697200" cy="86677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250" dirty="0">
                <a:solidFill>
                  <a:srgbClr val="2A2A2A"/>
                </a:solidFill>
                <a:latin typeface="Arial" pitchFamily="34" charset="0"/>
                <a:ea typeface="Arial" pitchFamily="34" charset="-122"/>
                <a:cs typeface="Arial" pitchFamily="34" charset="-120"/>
              </a:rPr>
              <a:t>A secure, three-tier cloud-based patient data management system on AWS that eliminates the three structural gaps exposed by the ransomware attack — through layered RBAC, a full audit trail, and Terraform-driven recovery.</a:t>
            </a:r>
            <a:endParaRPr lang="en-US" sz="2250" dirty="0"/>
          </a:p>
        </p:txBody>
      </p:sp>
      <p:sp>
        <p:nvSpPr>
          <p:cNvPr id="15" name="Text 12"/>
          <p:cNvSpPr/>
          <p:nvPr/>
        </p:nvSpPr>
        <p:spPr>
          <a:xfrm>
            <a:off x="952500" y="9742170"/>
            <a:ext cx="553604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Secure AWS Patient Data System · PSM 1 Viva</a:t>
            </a:r>
            <a:endParaRPr lang="en-US" sz="1800" dirty="0"/>
          </a:p>
        </p:txBody>
      </p:sp>
      <p:sp>
        <p:nvSpPr>
          <p:cNvPr id="16" name="Text 13"/>
          <p:cNvSpPr/>
          <p:nvPr/>
        </p:nvSpPr>
        <p:spPr>
          <a:xfrm>
            <a:off x="16603027" y="9742170"/>
            <a:ext cx="80867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02 / 14</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icPr>
            <a:picLocks noChangeAspect="1"/>
          </p:cNvPicPr>
          <p:nvPr/>
        </p:nvPicPr>
        <p:blipFill>
          <a:blip r:embed="rId3"/>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B19C7D"/>
                </a:solidFill>
                <a:latin typeface="Arial" pitchFamily="34" charset="0"/>
                <a:ea typeface="Arial" pitchFamily="34" charset="-122"/>
                <a:cs typeface="Arial" pitchFamily="34" charset="-120"/>
              </a:rPr>
              <a:t>CHAPTER 1.2</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37" dirty="0">
                <a:solidFill>
                  <a:srgbClr val="74121D"/>
                </a:solidFill>
                <a:latin typeface="Arial" pitchFamily="34" charset="0"/>
                <a:ea typeface="Arial" pitchFamily="34" charset="-122"/>
                <a:cs typeface="Arial" pitchFamily="34" charset="-120"/>
              </a:rPr>
              <a:t>Problem Statement</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Text 4"/>
          <p:cNvSpPr/>
          <p:nvPr/>
        </p:nvSpPr>
        <p:spPr>
          <a:xfrm>
            <a:off x="952500" y="2868930"/>
            <a:ext cx="16764000" cy="45243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250" dirty="0">
                <a:solidFill>
                  <a:srgbClr val="3A3A3A"/>
                </a:solidFill>
                <a:latin typeface="Arial" pitchFamily="34" charset="0"/>
                <a:ea typeface="Arial" pitchFamily="34" charset="-122"/>
                <a:cs typeface="Arial" pitchFamily="34" charset="-120"/>
              </a:rPr>
              <a:t>Three structural root-cause gaps identified from the Alamin Clinic ransomware case study:</a:t>
            </a:r>
            <a:endParaRPr lang="en-US" sz="2250" dirty="0"/>
          </a:p>
        </p:txBody>
      </p:sp>
      <p:sp>
        <p:nvSpPr>
          <p:cNvPr id="8" name="Shape 5"/>
          <p:cNvSpPr/>
          <p:nvPr/>
        </p:nvSpPr>
        <p:spPr>
          <a:xfrm>
            <a:off x="952500" y="3702368"/>
            <a:ext cx="5245061" cy="4992053"/>
          </a:xfrm>
          <a:prstGeom prst="rect">
            <a:avLst/>
          </a:prstGeom>
          <a:solidFill>
            <a:srgbClr val="FFFFFF"/>
          </a:solidFill>
          <a:ln/>
        </p:spPr>
      </p:sp>
      <p:sp>
        <p:nvSpPr>
          <p:cNvPr id="9" name="Shape 6"/>
          <p:cNvSpPr/>
          <p:nvPr/>
        </p:nvSpPr>
        <p:spPr>
          <a:xfrm>
            <a:off x="952500" y="8679180"/>
            <a:ext cx="5245061" cy="15240"/>
          </a:xfrm>
          <a:prstGeom prst="rect">
            <a:avLst/>
          </a:prstGeom>
          <a:solidFill>
            <a:srgbClr val="EFE6DA"/>
          </a:solidFill>
          <a:ln/>
        </p:spPr>
      </p:sp>
      <p:sp>
        <p:nvSpPr>
          <p:cNvPr id="10" name="Shape 7"/>
          <p:cNvSpPr/>
          <p:nvPr/>
        </p:nvSpPr>
        <p:spPr>
          <a:xfrm>
            <a:off x="952500" y="3702368"/>
            <a:ext cx="5245061" cy="76200"/>
          </a:xfrm>
          <a:prstGeom prst="rect">
            <a:avLst/>
          </a:prstGeom>
          <a:solidFill>
            <a:srgbClr val="A7333F"/>
          </a:solidFill>
          <a:ln/>
        </p:spPr>
      </p:sp>
      <p:sp>
        <p:nvSpPr>
          <p:cNvPr id="11" name="Shape 8"/>
          <p:cNvSpPr/>
          <p:nvPr/>
        </p:nvSpPr>
        <p:spPr>
          <a:xfrm>
            <a:off x="952500" y="3702368"/>
            <a:ext cx="15240" cy="4992053"/>
          </a:xfrm>
          <a:prstGeom prst="rect">
            <a:avLst/>
          </a:prstGeom>
          <a:solidFill>
            <a:srgbClr val="EFE6DA"/>
          </a:solidFill>
          <a:ln/>
        </p:spPr>
      </p:sp>
      <p:sp>
        <p:nvSpPr>
          <p:cNvPr id="12" name="Shape 9"/>
          <p:cNvSpPr/>
          <p:nvPr/>
        </p:nvSpPr>
        <p:spPr>
          <a:xfrm>
            <a:off x="6182321" y="3702368"/>
            <a:ext cx="15240" cy="4992053"/>
          </a:xfrm>
          <a:prstGeom prst="rect">
            <a:avLst/>
          </a:prstGeom>
          <a:solidFill>
            <a:srgbClr val="EFE6DA"/>
          </a:solidFill>
          <a:ln/>
        </p:spPr>
      </p:sp>
      <p:sp>
        <p:nvSpPr>
          <p:cNvPr id="13" name="Text 10"/>
          <p:cNvSpPr/>
          <p:nvPr/>
        </p:nvSpPr>
        <p:spPr>
          <a:xfrm>
            <a:off x="1253490" y="4121468"/>
            <a:ext cx="510738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50" dirty="0">
                <a:solidFill>
                  <a:srgbClr val="A7333F"/>
                </a:solidFill>
                <a:latin typeface="Arial" pitchFamily="34" charset="0"/>
                <a:ea typeface="Arial" pitchFamily="34" charset="-122"/>
                <a:cs typeface="Arial" pitchFamily="34" charset="-120"/>
              </a:rPr>
              <a:t>P1</a:t>
            </a:r>
            <a:endParaRPr lang="en-US" sz="1800" dirty="0"/>
          </a:p>
        </p:txBody>
      </p:sp>
      <p:sp>
        <p:nvSpPr>
          <p:cNvPr id="14" name="Text 11"/>
          <p:cNvSpPr/>
          <p:nvPr/>
        </p:nvSpPr>
        <p:spPr>
          <a:xfrm>
            <a:off x="1253490" y="4494847"/>
            <a:ext cx="5107388"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2A2A2A"/>
                </a:solidFill>
                <a:latin typeface="Arial" pitchFamily="34" charset="0"/>
                <a:ea typeface="Arial" pitchFamily="34" charset="-122"/>
                <a:cs typeface="Arial" pitchFamily="34" charset="-120"/>
              </a:rPr>
              <a:t>No Role-Based Access Control</a:t>
            </a:r>
            <a:endParaRPr lang="en-US" sz="2250" dirty="0"/>
          </a:p>
        </p:txBody>
      </p:sp>
      <p:sp>
        <p:nvSpPr>
          <p:cNvPr id="15" name="Text 12"/>
          <p:cNvSpPr/>
          <p:nvPr/>
        </p:nvSpPr>
        <p:spPr>
          <a:xfrm>
            <a:off x="1253490" y="5009198"/>
            <a:ext cx="4782373" cy="2934653"/>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5A5A5A"/>
                </a:solidFill>
                <a:latin typeface="Arial" pitchFamily="34" charset="0"/>
                <a:ea typeface="Arial" pitchFamily="34" charset="-122"/>
                <a:cs typeface="Arial" pitchFamily="34" charset="-120"/>
              </a:rPr>
              <a:t>Shared credentials allowed any staff member to access any patient record regardless of role. No data isolation between doctors, admin, and patients.</a:t>
            </a:r>
            <a:endParaRPr lang="en-US" sz="1950" dirty="0"/>
          </a:p>
        </p:txBody>
      </p:sp>
      <p:sp>
        <p:nvSpPr>
          <p:cNvPr id="16" name="Text 13"/>
          <p:cNvSpPr/>
          <p:nvPr/>
        </p:nvSpPr>
        <p:spPr>
          <a:xfrm>
            <a:off x="1253490" y="8077200"/>
            <a:ext cx="510738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5" dirty="0">
                <a:solidFill>
                  <a:srgbClr val="A7333F"/>
                </a:solidFill>
                <a:latin typeface="Arial" pitchFamily="34" charset="0"/>
                <a:ea typeface="Arial" pitchFamily="34" charset="-122"/>
                <a:cs typeface="Arial" pitchFamily="34" charset="-120"/>
              </a:rPr>
              <a:t>HIGH IMPACT</a:t>
            </a:r>
            <a:endParaRPr lang="en-US" sz="1800" dirty="0"/>
          </a:p>
        </p:txBody>
      </p:sp>
      <p:sp>
        <p:nvSpPr>
          <p:cNvPr id="17" name="Shape 14"/>
          <p:cNvSpPr/>
          <p:nvPr/>
        </p:nvSpPr>
        <p:spPr>
          <a:xfrm>
            <a:off x="6521411" y="3702368"/>
            <a:ext cx="5245061" cy="4992053"/>
          </a:xfrm>
          <a:prstGeom prst="rect">
            <a:avLst/>
          </a:prstGeom>
          <a:solidFill>
            <a:srgbClr val="FFFFFF"/>
          </a:solidFill>
          <a:ln/>
        </p:spPr>
      </p:sp>
      <p:sp>
        <p:nvSpPr>
          <p:cNvPr id="18" name="Shape 15"/>
          <p:cNvSpPr/>
          <p:nvPr/>
        </p:nvSpPr>
        <p:spPr>
          <a:xfrm>
            <a:off x="6521411" y="8679180"/>
            <a:ext cx="5245061" cy="15240"/>
          </a:xfrm>
          <a:prstGeom prst="rect">
            <a:avLst/>
          </a:prstGeom>
          <a:solidFill>
            <a:srgbClr val="EFE6DA"/>
          </a:solidFill>
          <a:ln/>
        </p:spPr>
      </p:sp>
      <p:sp>
        <p:nvSpPr>
          <p:cNvPr id="19" name="Shape 16"/>
          <p:cNvSpPr/>
          <p:nvPr/>
        </p:nvSpPr>
        <p:spPr>
          <a:xfrm>
            <a:off x="6521411" y="3702368"/>
            <a:ext cx="5245061" cy="76200"/>
          </a:xfrm>
          <a:prstGeom prst="rect">
            <a:avLst/>
          </a:prstGeom>
          <a:solidFill>
            <a:srgbClr val="A7333F"/>
          </a:solidFill>
          <a:ln/>
        </p:spPr>
      </p:sp>
      <p:sp>
        <p:nvSpPr>
          <p:cNvPr id="20" name="Shape 17"/>
          <p:cNvSpPr/>
          <p:nvPr/>
        </p:nvSpPr>
        <p:spPr>
          <a:xfrm>
            <a:off x="6521411" y="3702368"/>
            <a:ext cx="15240" cy="4992053"/>
          </a:xfrm>
          <a:prstGeom prst="rect">
            <a:avLst/>
          </a:prstGeom>
          <a:solidFill>
            <a:srgbClr val="EFE6DA"/>
          </a:solidFill>
          <a:ln/>
        </p:spPr>
      </p:sp>
      <p:sp>
        <p:nvSpPr>
          <p:cNvPr id="21" name="Shape 18"/>
          <p:cNvSpPr/>
          <p:nvPr/>
        </p:nvSpPr>
        <p:spPr>
          <a:xfrm>
            <a:off x="11751231" y="3702368"/>
            <a:ext cx="15240" cy="4992053"/>
          </a:xfrm>
          <a:prstGeom prst="rect">
            <a:avLst/>
          </a:prstGeom>
          <a:solidFill>
            <a:srgbClr val="EFE6DA"/>
          </a:solidFill>
          <a:ln/>
        </p:spPr>
      </p:sp>
      <p:sp>
        <p:nvSpPr>
          <p:cNvPr id="22" name="Text 19"/>
          <p:cNvSpPr/>
          <p:nvPr/>
        </p:nvSpPr>
        <p:spPr>
          <a:xfrm>
            <a:off x="6822400" y="4121468"/>
            <a:ext cx="510738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50" dirty="0">
                <a:solidFill>
                  <a:srgbClr val="A7333F"/>
                </a:solidFill>
                <a:latin typeface="Arial" pitchFamily="34" charset="0"/>
                <a:ea typeface="Arial" pitchFamily="34" charset="-122"/>
                <a:cs typeface="Arial" pitchFamily="34" charset="-120"/>
              </a:rPr>
              <a:t>P2</a:t>
            </a:r>
            <a:endParaRPr lang="en-US" sz="1800" dirty="0"/>
          </a:p>
        </p:txBody>
      </p:sp>
      <p:sp>
        <p:nvSpPr>
          <p:cNvPr id="23" name="Text 20"/>
          <p:cNvSpPr/>
          <p:nvPr/>
        </p:nvSpPr>
        <p:spPr>
          <a:xfrm>
            <a:off x="6822400" y="4494847"/>
            <a:ext cx="5107388"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2A2A2A"/>
                </a:solidFill>
                <a:latin typeface="Arial" pitchFamily="34" charset="0"/>
                <a:ea typeface="Arial" pitchFamily="34" charset="-122"/>
                <a:cs typeface="Arial" pitchFamily="34" charset="-120"/>
              </a:rPr>
              <a:t>No Audit Trail</a:t>
            </a:r>
            <a:endParaRPr lang="en-US" sz="2250" dirty="0"/>
          </a:p>
        </p:txBody>
      </p:sp>
      <p:sp>
        <p:nvSpPr>
          <p:cNvPr id="24" name="Text 21"/>
          <p:cNvSpPr/>
          <p:nvPr/>
        </p:nvSpPr>
        <p:spPr>
          <a:xfrm>
            <a:off x="6822400" y="5009198"/>
            <a:ext cx="4782373" cy="2934653"/>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5A5A5A"/>
                </a:solidFill>
                <a:latin typeface="Arial" pitchFamily="34" charset="0"/>
                <a:ea typeface="Arial" pitchFamily="34" charset="-122"/>
                <a:cs typeface="Arial" pitchFamily="34" charset="-120"/>
              </a:rPr>
              <a:t>No logging of who accessed or modified records. Post-incident forensic investigation was completely impossible.</a:t>
            </a:r>
            <a:endParaRPr lang="en-US" sz="1950" dirty="0"/>
          </a:p>
        </p:txBody>
      </p:sp>
      <p:sp>
        <p:nvSpPr>
          <p:cNvPr id="25" name="Text 22"/>
          <p:cNvSpPr/>
          <p:nvPr/>
        </p:nvSpPr>
        <p:spPr>
          <a:xfrm>
            <a:off x="6822400" y="8077200"/>
            <a:ext cx="510738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5" dirty="0">
                <a:solidFill>
                  <a:srgbClr val="A7333F"/>
                </a:solidFill>
                <a:latin typeface="Arial" pitchFamily="34" charset="0"/>
                <a:ea typeface="Arial" pitchFamily="34" charset="-122"/>
                <a:cs typeface="Arial" pitchFamily="34" charset="-120"/>
              </a:rPr>
              <a:t>HIGH IMPACT</a:t>
            </a:r>
            <a:endParaRPr lang="en-US" sz="1800" dirty="0"/>
          </a:p>
        </p:txBody>
      </p:sp>
      <p:sp>
        <p:nvSpPr>
          <p:cNvPr id="26" name="Shape 23"/>
          <p:cNvSpPr/>
          <p:nvPr/>
        </p:nvSpPr>
        <p:spPr>
          <a:xfrm>
            <a:off x="12090321" y="3702368"/>
            <a:ext cx="5245061" cy="4992053"/>
          </a:xfrm>
          <a:prstGeom prst="rect">
            <a:avLst/>
          </a:prstGeom>
          <a:solidFill>
            <a:srgbClr val="FFFFFF"/>
          </a:solidFill>
          <a:ln/>
        </p:spPr>
      </p:sp>
      <p:sp>
        <p:nvSpPr>
          <p:cNvPr id="27" name="Shape 24"/>
          <p:cNvSpPr/>
          <p:nvPr/>
        </p:nvSpPr>
        <p:spPr>
          <a:xfrm>
            <a:off x="12090321" y="8679180"/>
            <a:ext cx="5245061" cy="15240"/>
          </a:xfrm>
          <a:prstGeom prst="rect">
            <a:avLst/>
          </a:prstGeom>
          <a:solidFill>
            <a:srgbClr val="EFE6DA"/>
          </a:solidFill>
          <a:ln/>
        </p:spPr>
      </p:sp>
      <p:sp>
        <p:nvSpPr>
          <p:cNvPr id="28" name="Shape 25"/>
          <p:cNvSpPr/>
          <p:nvPr/>
        </p:nvSpPr>
        <p:spPr>
          <a:xfrm>
            <a:off x="12090321" y="3702368"/>
            <a:ext cx="5245061" cy="76200"/>
          </a:xfrm>
          <a:prstGeom prst="rect">
            <a:avLst/>
          </a:prstGeom>
          <a:solidFill>
            <a:srgbClr val="B19C7D"/>
          </a:solidFill>
          <a:ln/>
        </p:spPr>
      </p:sp>
      <p:sp>
        <p:nvSpPr>
          <p:cNvPr id="29" name="Shape 26"/>
          <p:cNvSpPr/>
          <p:nvPr/>
        </p:nvSpPr>
        <p:spPr>
          <a:xfrm>
            <a:off x="12090321" y="3702368"/>
            <a:ext cx="15240" cy="4992053"/>
          </a:xfrm>
          <a:prstGeom prst="rect">
            <a:avLst/>
          </a:prstGeom>
          <a:solidFill>
            <a:srgbClr val="EFE6DA"/>
          </a:solidFill>
          <a:ln/>
        </p:spPr>
      </p:sp>
      <p:sp>
        <p:nvSpPr>
          <p:cNvPr id="30" name="Shape 27"/>
          <p:cNvSpPr/>
          <p:nvPr/>
        </p:nvSpPr>
        <p:spPr>
          <a:xfrm>
            <a:off x="17320142" y="3702368"/>
            <a:ext cx="15240" cy="4992053"/>
          </a:xfrm>
          <a:prstGeom prst="rect">
            <a:avLst/>
          </a:prstGeom>
          <a:solidFill>
            <a:srgbClr val="EFE6DA"/>
          </a:solidFill>
          <a:ln/>
        </p:spPr>
      </p:sp>
      <p:sp>
        <p:nvSpPr>
          <p:cNvPr id="31" name="Text 28"/>
          <p:cNvSpPr/>
          <p:nvPr/>
        </p:nvSpPr>
        <p:spPr>
          <a:xfrm>
            <a:off x="12391311" y="4121468"/>
            <a:ext cx="510738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50" dirty="0">
                <a:solidFill>
                  <a:srgbClr val="B19C7D"/>
                </a:solidFill>
                <a:latin typeface="Arial" pitchFamily="34" charset="0"/>
                <a:ea typeface="Arial" pitchFamily="34" charset="-122"/>
                <a:cs typeface="Arial" pitchFamily="34" charset="-120"/>
              </a:rPr>
              <a:t>P3</a:t>
            </a:r>
            <a:endParaRPr lang="en-US" sz="1800" dirty="0"/>
          </a:p>
        </p:txBody>
      </p:sp>
      <p:sp>
        <p:nvSpPr>
          <p:cNvPr id="32" name="Text 29"/>
          <p:cNvSpPr/>
          <p:nvPr/>
        </p:nvSpPr>
        <p:spPr>
          <a:xfrm>
            <a:off x="12391311" y="4494847"/>
            <a:ext cx="5107388"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2A2A2A"/>
                </a:solidFill>
                <a:latin typeface="Arial" pitchFamily="34" charset="0"/>
                <a:ea typeface="Arial" pitchFamily="34" charset="-122"/>
                <a:cs typeface="Arial" pitchFamily="34" charset="-120"/>
              </a:rPr>
              <a:t>No Disaster Recovery</a:t>
            </a:r>
            <a:endParaRPr lang="en-US" sz="2250" dirty="0"/>
          </a:p>
        </p:txBody>
      </p:sp>
      <p:sp>
        <p:nvSpPr>
          <p:cNvPr id="33" name="Text 30"/>
          <p:cNvSpPr/>
          <p:nvPr/>
        </p:nvSpPr>
        <p:spPr>
          <a:xfrm>
            <a:off x="12391311" y="5009198"/>
            <a:ext cx="4782373" cy="2934653"/>
          </a:xfrm>
          <a:prstGeom prst="rect">
            <a:avLst/>
          </a:prstGeom>
          <a:noFill/>
          <a:ln/>
        </p:spPr>
        <p:txBody>
          <a:bodyPr wrap="square" lIns="25400" tIns="25400" rIns="25400" bIns="25400" rtlCol="0" anchor="t">
            <a:normAutofit/>
          </a:bodyPr>
          <a:lstStyle/>
          <a:p>
            <a:pPr marL="0" indent="0" algn="l">
              <a:lnSpc>
                <a:spcPct val="150000"/>
              </a:lnSpc>
              <a:buNone/>
            </a:pPr>
            <a:r>
              <a:rPr lang="en-US" sz="1950" dirty="0">
                <a:solidFill>
                  <a:srgbClr val="5A5A5A"/>
                </a:solidFill>
                <a:latin typeface="Arial" pitchFamily="34" charset="0"/>
                <a:ea typeface="Arial" pitchFamily="34" charset="-122"/>
                <a:cs typeface="Arial" pitchFamily="34" charset="-120"/>
              </a:rPr>
              <a:t>No backup, no infrastructure-as-code, no documented recovery plan. Full recovery took 5 days with permanent data loss.</a:t>
            </a:r>
            <a:endParaRPr lang="en-US" sz="1950" dirty="0"/>
          </a:p>
        </p:txBody>
      </p:sp>
      <p:sp>
        <p:nvSpPr>
          <p:cNvPr id="34" name="Text 31"/>
          <p:cNvSpPr/>
          <p:nvPr/>
        </p:nvSpPr>
        <p:spPr>
          <a:xfrm>
            <a:off x="12391311" y="8077200"/>
            <a:ext cx="510738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5" dirty="0">
                <a:solidFill>
                  <a:srgbClr val="B19C7D"/>
                </a:solidFill>
                <a:latin typeface="Arial" pitchFamily="34" charset="0"/>
                <a:ea typeface="Arial" pitchFamily="34" charset="-122"/>
                <a:cs typeface="Arial" pitchFamily="34" charset="-120"/>
              </a:rPr>
              <a:t>CRITICAL</a:t>
            </a:r>
            <a:endParaRPr lang="en-US" sz="1800" dirty="0"/>
          </a:p>
        </p:txBody>
      </p:sp>
      <p:sp>
        <p:nvSpPr>
          <p:cNvPr id="35" name="Text 32"/>
          <p:cNvSpPr/>
          <p:nvPr/>
        </p:nvSpPr>
        <p:spPr>
          <a:xfrm>
            <a:off x="952500" y="898017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i="1" dirty="0">
                <a:solidFill>
                  <a:srgbClr val="74121D"/>
                </a:solidFill>
                <a:latin typeface="Arial" pitchFamily="34" charset="0"/>
                <a:ea typeface="Arial" pitchFamily="34" charset="-122"/>
                <a:cs typeface="Arial" pitchFamily="34" charset="-120"/>
              </a:rPr>
              <a:t>Source: Stakeholder interviews + Alamin Clinic post-mortem analysis</a:t>
            </a:r>
            <a:endParaRPr lang="en-US" sz="1800" dirty="0"/>
          </a:p>
        </p:txBody>
      </p:sp>
      <p:sp>
        <p:nvSpPr>
          <p:cNvPr id="36" name="Text 33"/>
          <p:cNvSpPr/>
          <p:nvPr/>
        </p:nvSpPr>
        <p:spPr>
          <a:xfrm>
            <a:off x="952500" y="9742170"/>
            <a:ext cx="553604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Secure AWS Patient Data System · PSM 1 Viva</a:t>
            </a:r>
            <a:endParaRPr lang="en-US" sz="1800" dirty="0"/>
          </a:p>
        </p:txBody>
      </p:sp>
      <p:sp>
        <p:nvSpPr>
          <p:cNvPr id="37" name="Text 34"/>
          <p:cNvSpPr/>
          <p:nvPr/>
        </p:nvSpPr>
        <p:spPr>
          <a:xfrm>
            <a:off x="16603027" y="9742170"/>
            <a:ext cx="80867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03 / 14</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icPr>
            <a:picLocks noChangeAspect="1"/>
          </p:cNvPicPr>
          <p:nvPr/>
        </p:nvPicPr>
        <p:blipFill>
          <a:blip r:embed="rId3"/>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B19C7D"/>
                </a:solidFill>
                <a:latin typeface="Arial" pitchFamily="34" charset="0"/>
                <a:ea typeface="Arial" pitchFamily="34" charset="-122"/>
                <a:cs typeface="Arial" pitchFamily="34" charset="-120"/>
              </a:rPr>
              <a:t>CHAPTER 1.3 – 1.4</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37" dirty="0">
                <a:solidFill>
                  <a:srgbClr val="74121D"/>
                </a:solidFill>
                <a:latin typeface="Arial" pitchFamily="34" charset="0"/>
                <a:ea typeface="Arial" pitchFamily="34" charset="-122"/>
                <a:cs typeface="Arial" pitchFamily="34" charset="-120"/>
              </a:rPr>
              <a:t>Project Aim and Objectives</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952500" y="2868930"/>
            <a:ext cx="16383000" cy="1562100"/>
          </a:xfrm>
          <a:prstGeom prst="rect">
            <a:avLst/>
          </a:prstGeom>
          <a:solidFill>
            <a:srgbClr val="74121D"/>
          </a:solidFill>
          <a:ln/>
        </p:spPr>
      </p:sp>
      <p:sp>
        <p:nvSpPr>
          <p:cNvPr id="8" name="Text 5"/>
          <p:cNvSpPr/>
          <p:nvPr/>
        </p:nvSpPr>
        <p:spPr>
          <a:xfrm>
            <a:off x="1295400" y="3116580"/>
            <a:ext cx="1726692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E7D7C1"/>
                </a:solidFill>
                <a:latin typeface="Arial" pitchFamily="34" charset="0"/>
                <a:ea typeface="Arial" pitchFamily="34" charset="-122"/>
                <a:cs typeface="Arial" pitchFamily="34" charset="-120"/>
              </a:rPr>
              <a:t>AIM</a:t>
            </a:r>
            <a:endParaRPr lang="en-US" sz="1650" dirty="0"/>
          </a:p>
        </p:txBody>
      </p:sp>
      <p:sp>
        <p:nvSpPr>
          <p:cNvPr id="9" name="Text 6"/>
          <p:cNvSpPr/>
          <p:nvPr/>
        </p:nvSpPr>
        <p:spPr>
          <a:xfrm>
            <a:off x="1295400" y="3436620"/>
            <a:ext cx="16168116" cy="78486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dirty="0">
                <a:solidFill>
                  <a:srgbClr val="FFFFFF"/>
                </a:solidFill>
                <a:latin typeface="Arial" pitchFamily="34" charset="0"/>
                <a:ea typeface="Arial" pitchFamily="34" charset="-122"/>
                <a:cs typeface="Arial" pitchFamily="34" charset="-120"/>
              </a:rPr>
              <a:t>Design and deploy a secure, three-tier cloud-based patient data management system on AWS that directly eliminates all three critical gaps identified from the Alamin Clinic ransomware case study.</a:t>
            </a:r>
            <a:endParaRPr lang="en-US" sz="2100" dirty="0"/>
          </a:p>
        </p:txBody>
      </p:sp>
      <p:sp>
        <p:nvSpPr>
          <p:cNvPr id="10" name="Shape 7"/>
          <p:cNvSpPr/>
          <p:nvPr/>
        </p:nvSpPr>
        <p:spPr>
          <a:xfrm>
            <a:off x="952500" y="4907280"/>
            <a:ext cx="3895725" cy="3276600"/>
          </a:xfrm>
          <a:prstGeom prst="rect">
            <a:avLst/>
          </a:prstGeom>
          <a:solidFill>
            <a:srgbClr val="FBF6EE"/>
          </a:solidFill>
          <a:ln/>
        </p:spPr>
      </p:sp>
      <p:sp>
        <p:nvSpPr>
          <p:cNvPr id="11" name="Shape 8"/>
          <p:cNvSpPr/>
          <p:nvPr/>
        </p:nvSpPr>
        <p:spPr>
          <a:xfrm>
            <a:off x="1181100" y="4697730"/>
            <a:ext cx="571500" cy="571500"/>
          </a:xfrm>
          <a:prstGeom prst="ellipse">
            <a:avLst/>
          </a:prstGeom>
          <a:solidFill>
            <a:srgbClr val="74121D"/>
          </a:solidFill>
          <a:ln/>
        </p:spPr>
      </p:sp>
      <p:sp>
        <p:nvSpPr>
          <p:cNvPr id="12" name="Text 9"/>
          <p:cNvSpPr/>
          <p:nvPr/>
        </p:nvSpPr>
        <p:spPr>
          <a:xfrm>
            <a:off x="1143000" y="4697730"/>
            <a:ext cx="647700" cy="6096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FFFFF"/>
                </a:solidFill>
                <a:latin typeface="Arial" pitchFamily="34" charset="0"/>
                <a:ea typeface="Arial" pitchFamily="34" charset="-122"/>
                <a:cs typeface="Arial" pitchFamily="34" charset="-120"/>
              </a:rPr>
              <a:t>01</a:t>
            </a:r>
            <a:endParaRPr lang="en-US" sz="1950" dirty="0"/>
          </a:p>
        </p:txBody>
      </p:sp>
      <p:sp>
        <p:nvSpPr>
          <p:cNvPr id="13" name="Text 10"/>
          <p:cNvSpPr/>
          <p:nvPr/>
        </p:nvSpPr>
        <p:spPr>
          <a:xfrm>
            <a:off x="1200150" y="5440680"/>
            <a:ext cx="374046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13" dirty="0">
                <a:solidFill>
                  <a:srgbClr val="74121D"/>
                </a:solidFill>
                <a:latin typeface="Arial" pitchFamily="34" charset="0"/>
                <a:ea typeface="Arial" pitchFamily="34" charset="-122"/>
                <a:cs typeface="Arial" pitchFamily="34" charset="-120"/>
              </a:rPr>
              <a:t>THREE-TIER VPC</a:t>
            </a:r>
            <a:endParaRPr lang="en-US" sz="1650" dirty="0"/>
          </a:p>
        </p:txBody>
      </p:sp>
      <p:sp>
        <p:nvSpPr>
          <p:cNvPr id="14" name="Text 11"/>
          <p:cNvSpPr/>
          <p:nvPr/>
        </p:nvSpPr>
        <p:spPr>
          <a:xfrm>
            <a:off x="1200150" y="5798820"/>
            <a:ext cx="3502438"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3A3A3A"/>
                </a:solidFill>
                <a:latin typeface="Arial" pitchFamily="34" charset="0"/>
                <a:ea typeface="Arial" pitchFamily="34" charset="-122"/>
                <a:cs typeface="Arial" pitchFamily="34" charset="-120"/>
              </a:rPr>
              <a:t>Isolated Public, Private App, and Private DB subnets on AWS.</a:t>
            </a:r>
            <a:endParaRPr lang="en-US" sz="1800" dirty="0"/>
          </a:p>
        </p:txBody>
      </p:sp>
      <p:sp>
        <p:nvSpPr>
          <p:cNvPr id="15" name="Shape 12"/>
          <p:cNvSpPr/>
          <p:nvPr/>
        </p:nvSpPr>
        <p:spPr>
          <a:xfrm>
            <a:off x="5114925" y="4907280"/>
            <a:ext cx="3895725" cy="3276600"/>
          </a:xfrm>
          <a:prstGeom prst="rect">
            <a:avLst/>
          </a:prstGeom>
          <a:solidFill>
            <a:srgbClr val="FBF6EE"/>
          </a:solidFill>
          <a:ln/>
        </p:spPr>
      </p:sp>
      <p:sp>
        <p:nvSpPr>
          <p:cNvPr id="16" name="Shape 13"/>
          <p:cNvSpPr/>
          <p:nvPr/>
        </p:nvSpPr>
        <p:spPr>
          <a:xfrm>
            <a:off x="5343525" y="4697730"/>
            <a:ext cx="571500" cy="571500"/>
          </a:xfrm>
          <a:prstGeom prst="ellipse">
            <a:avLst/>
          </a:prstGeom>
          <a:solidFill>
            <a:srgbClr val="74121D"/>
          </a:solidFill>
          <a:ln/>
        </p:spPr>
      </p:sp>
      <p:sp>
        <p:nvSpPr>
          <p:cNvPr id="17" name="Text 14"/>
          <p:cNvSpPr/>
          <p:nvPr/>
        </p:nvSpPr>
        <p:spPr>
          <a:xfrm>
            <a:off x="5305425" y="4697730"/>
            <a:ext cx="647700" cy="6096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FFFFF"/>
                </a:solidFill>
                <a:latin typeface="Arial" pitchFamily="34" charset="0"/>
                <a:ea typeface="Arial" pitchFamily="34" charset="-122"/>
                <a:cs typeface="Arial" pitchFamily="34" charset="-120"/>
              </a:rPr>
              <a:t>02</a:t>
            </a:r>
            <a:endParaRPr lang="en-US" sz="1950" dirty="0"/>
          </a:p>
        </p:txBody>
      </p:sp>
      <p:sp>
        <p:nvSpPr>
          <p:cNvPr id="18" name="Text 15"/>
          <p:cNvSpPr/>
          <p:nvPr/>
        </p:nvSpPr>
        <p:spPr>
          <a:xfrm>
            <a:off x="5362575" y="5440680"/>
            <a:ext cx="374046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13" dirty="0">
                <a:solidFill>
                  <a:srgbClr val="74121D"/>
                </a:solidFill>
                <a:latin typeface="Arial" pitchFamily="34" charset="0"/>
                <a:ea typeface="Arial" pitchFamily="34" charset="-122"/>
                <a:cs typeface="Arial" pitchFamily="34" charset="-120"/>
              </a:rPr>
              <a:t>3-LAYER RBAC</a:t>
            </a:r>
            <a:endParaRPr lang="en-US" sz="1650" dirty="0"/>
          </a:p>
        </p:txBody>
      </p:sp>
      <p:sp>
        <p:nvSpPr>
          <p:cNvPr id="19" name="Text 16"/>
          <p:cNvSpPr/>
          <p:nvPr/>
        </p:nvSpPr>
        <p:spPr>
          <a:xfrm>
            <a:off x="5362575" y="5798820"/>
            <a:ext cx="3502438"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3A3A3A"/>
                </a:solidFill>
                <a:latin typeface="Arial" pitchFamily="34" charset="0"/>
                <a:ea typeface="Arial" pitchFamily="34" charset="-122"/>
                <a:cs typeface="Arial" pitchFamily="34" charset="-120"/>
              </a:rPr>
              <a:t>JWT (app) · AWS IAM (infra) · PostgreSQL RLS (database)</a:t>
            </a:r>
            <a:endParaRPr lang="en-US" sz="1800" dirty="0"/>
          </a:p>
        </p:txBody>
      </p:sp>
      <p:sp>
        <p:nvSpPr>
          <p:cNvPr id="20" name="Shape 17"/>
          <p:cNvSpPr/>
          <p:nvPr/>
        </p:nvSpPr>
        <p:spPr>
          <a:xfrm>
            <a:off x="9277350" y="4907280"/>
            <a:ext cx="3895725" cy="3276600"/>
          </a:xfrm>
          <a:prstGeom prst="rect">
            <a:avLst/>
          </a:prstGeom>
          <a:solidFill>
            <a:srgbClr val="FBF6EE"/>
          </a:solidFill>
          <a:ln/>
        </p:spPr>
      </p:sp>
      <p:sp>
        <p:nvSpPr>
          <p:cNvPr id="21" name="Shape 18"/>
          <p:cNvSpPr/>
          <p:nvPr/>
        </p:nvSpPr>
        <p:spPr>
          <a:xfrm>
            <a:off x="9505950" y="4697730"/>
            <a:ext cx="571500" cy="571500"/>
          </a:xfrm>
          <a:prstGeom prst="ellipse">
            <a:avLst/>
          </a:prstGeom>
          <a:solidFill>
            <a:srgbClr val="74121D"/>
          </a:solidFill>
          <a:ln/>
        </p:spPr>
      </p:sp>
      <p:sp>
        <p:nvSpPr>
          <p:cNvPr id="22" name="Text 19"/>
          <p:cNvSpPr/>
          <p:nvPr/>
        </p:nvSpPr>
        <p:spPr>
          <a:xfrm>
            <a:off x="9467850" y="4697730"/>
            <a:ext cx="647700" cy="6096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FFFFF"/>
                </a:solidFill>
                <a:latin typeface="Arial" pitchFamily="34" charset="0"/>
                <a:ea typeface="Arial" pitchFamily="34" charset="-122"/>
                <a:cs typeface="Arial" pitchFamily="34" charset="-120"/>
              </a:rPr>
              <a:t>03</a:t>
            </a:r>
            <a:endParaRPr lang="en-US" sz="1950" dirty="0"/>
          </a:p>
        </p:txBody>
      </p:sp>
      <p:sp>
        <p:nvSpPr>
          <p:cNvPr id="23" name="Text 20"/>
          <p:cNvSpPr/>
          <p:nvPr/>
        </p:nvSpPr>
        <p:spPr>
          <a:xfrm>
            <a:off x="9525000" y="5440680"/>
            <a:ext cx="374046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13" dirty="0">
                <a:solidFill>
                  <a:srgbClr val="74121D"/>
                </a:solidFill>
                <a:latin typeface="Arial" pitchFamily="34" charset="0"/>
                <a:ea typeface="Arial" pitchFamily="34" charset="-122"/>
                <a:cs typeface="Arial" pitchFamily="34" charset="-120"/>
              </a:rPr>
              <a:t>DEVSECOPS PIPELINE</a:t>
            </a:r>
            <a:endParaRPr lang="en-US" sz="1650" dirty="0"/>
          </a:p>
        </p:txBody>
      </p:sp>
      <p:sp>
        <p:nvSpPr>
          <p:cNvPr id="24" name="Text 21"/>
          <p:cNvSpPr/>
          <p:nvPr/>
        </p:nvSpPr>
        <p:spPr>
          <a:xfrm>
            <a:off x="9525000" y="5798820"/>
            <a:ext cx="3502438" cy="103251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3A3A3A"/>
                </a:solidFill>
                <a:latin typeface="Arial" pitchFamily="34" charset="0"/>
                <a:ea typeface="Arial" pitchFamily="34" charset="-122"/>
                <a:cs typeface="Arial" pitchFamily="34" charset="-120"/>
              </a:rPr>
              <a:t>SonarQube SAST · Trivy image scan · Checkov IaC · gates block on failure</a:t>
            </a:r>
            <a:endParaRPr lang="en-US" sz="1800" dirty="0"/>
          </a:p>
        </p:txBody>
      </p:sp>
      <p:sp>
        <p:nvSpPr>
          <p:cNvPr id="25" name="Shape 22"/>
          <p:cNvSpPr/>
          <p:nvPr/>
        </p:nvSpPr>
        <p:spPr>
          <a:xfrm>
            <a:off x="13439775" y="4907280"/>
            <a:ext cx="3895725" cy="3276600"/>
          </a:xfrm>
          <a:prstGeom prst="rect">
            <a:avLst/>
          </a:prstGeom>
          <a:solidFill>
            <a:srgbClr val="FBF6EE"/>
          </a:solidFill>
          <a:ln/>
        </p:spPr>
      </p:sp>
      <p:sp>
        <p:nvSpPr>
          <p:cNvPr id="26" name="Shape 23"/>
          <p:cNvSpPr/>
          <p:nvPr/>
        </p:nvSpPr>
        <p:spPr>
          <a:xfrm>
            <a:off x="13668375" y="4697730"/>
            <a:ext cx="571500" cy="571500"/>
          </a:xfrm>
          <a:prstGeom prst="ellipse">
            <a:avLst/>
          </a:prstGeom>
          <a:solidFill>
            <a:srgbClr val="74121D"/>
          </a:solidFill>
          <a:ln/>
        </p:spPr>
      </p:sp>
      <p:sp>
        <p:nvSpPr>
          <p:cNvPr id="27" name="Text 24"/>
          <p:cNvSpPr/>
          <p:nvPr/>
        </p:nvSpPr>
        <p:spPr>
          <a:xfrm>
            <a:off x="13630275" y="4697730"/>
            <a:ext cx="647700" cy="609600"/>
          </a:xfrm>
          <a:prstGeom prst="rect">
            <a:avLst/>
          </a:prstGeom>
          <a:noFill/>
          <a:ln/>
        </p:spPr>
        <p:txBody>
          <a:bodyPr wrap="square" lIns="25400" tIns="25400" rIns="25400" bIns="25400" rtlCol="0" anchor="ctr">
            <a:normAutofit/>
          </a:bodyPr>
          <a:lstStyle/>
          <a:p>
            <a:pPr marL="0" indent="0" algn="ctr">
              <a:buNone/>
            </a:pPr>
            <a:r>
              <a:rPr lang="en-US" sz="1950" b="1" dirty="0">
                <a:solidFill>
                  <a:srgbClr val="FFFFFF"/>
                </a:solidFill>
                <a:latin typeface="Arial" pitchFamily="34" charset="0"/>
                <a:ea typeface="Arial" pitchFamily="34" charset="-122"/>
                <a:cs typeface="Arial" pitchFamily="34" charset="-120"/>
              </a:rPr>
              <a:t>04</a:t>
            </a:r>
            <a:endParaRPr lang="en-US" sz="1950" dirty="0"/>
          </a:p>
        </p:txBody>
      </p:sp>
      <p:sp>
        <p:nvSpPr>
          <p:cNvPr id="28" name="Text 25"/>
          <p:cNvSpPr/>
          <p:nvPr/>
        </p:nvSpPr>
        <p:spPr>
          <a:xfrm>
            <a:off x="13687425" y="5440680"/>
            <a:ext cx="374046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13" dirty="0">
                <a:solidFill>
                  <a:srgbClr val="74121D"/>
                </a:solidFill>
                <a:latin typeface="Arial" pitchFamily="34" charset="0"/>
                <a:ea typeface="Arial" pitchFamily="34" charset="-122"/>
                <a:cs typeface="Arial" pitchFamily="34" charset="-120"/>
              </a:rPr>
              <a:t>RTO &lt; 15 MIN</a:t>
            </a:r>
            <a:endParaRPr lang="en-US" sz="1650" dirty="0"/>
          </a:p>
        </p:txBody>
      </p:sp>
      <p:sp>
        <p:nvSpPr>
          <p:cNvPr id="29" name="Text 26"/>
          <p:cNvSpPr/>
          <p:nvPr/>
        </p:nvSpPr>
        <p:spPr>
          <a:xfrm>
            <a:off x="13687425" y="5798820"/>
            <a:ext cx="3502438" cy="103251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3A3A3A"/>
                </a:solidFill>
                <a:latin typeface="Arial" pitchFamily="34" charset="0"/>
                <a:ea typeface="Arial" pitchFamily="34" charset="-122"/>
                <a:cs typeface="Arial" pitchFamily="34" charset="-120"/>
              </a:rPr>
              <a:t>Terraform IaC — full rebuild from clean state vs. 5-day recovery at Alamin Clinic.</a:t>
            </a:r>
            <a:endParaRPr lang="en-US" sz="1800" dirty="0"/>
          </a:p>
        </p:txBody>
      </p:sp>
      <p:sp>
        <p:nvSpPr>
          <p:cNvPr id="30" name="Text 27"/>
          <p:cNvSpPr/>
          <p:nvPr/>
        </p:nvSpPr>
        <p:spPr>
          <a:xfrm>
            <a:off x="952500" y="9742170"/>
            <a:ext cx="553604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Secure AWS Patient Data System · PSM 1 Viva</a:t>
            </a:r>
            <a:endParaRPr lang="en-US" sz="1800" dirty="0"/>
          </a:p>
        </p:txBody>
      </p:sp>
      <p:sp>
        <p:nvSpPr>
          <p:cNvPr id="31" name="Text 28"/>
          <p:cNvSpPr/>
          <p:nvPr/>
        </p:nvSpPr>
        <p:spPr>
          <a:xfrm>
            <a:off x="16603027" y="9742170"/>
            <a:ext cx="80867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04 / 14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icPr>
            <a:picLocks noChangeAspect="1"/>
          </p:cNvPicPr>
          <p:nvPr/>
        </p:nvPicPr>
        <p:blipFill>
          <a:blip r:embed="rId3"/>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B19C7D"/>
                </a:solidFill>
                <a:latin typeface="Arial" pitchFamily="34" charset="0"/>
                <a:ea typeface="Arial" pitchFamily="34" charset="-122"/>
                <a:cs typeface="Arial" pitchFamily="34" charset="-120"/>
              </a:rPr>
              <a:t>CHAPTER 1.5</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37" dirty="0">
                <a:solidFill>
                  <a:srgbClr val="74121D"/>
                </a:solidFill>
                <a:latin typeface="Arial" pitchFamily="34" charset="0"/>
                <a:ea typeface="Arial" pitchFamily="34" charset="-122"/>
                <a:cs typeface="Arial" pitchFamily="34" charset="-120"/>
              </a:rPr>
              <a:t>Project Scope</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Text 4"/>
          <p:cNvSpPr/>
          <p:nvPr/>
        </p:nvSpPr>
        <p:spPr>
          <a:xfrm>
            <a:off x="952500" y="2868930"/>
            <a:ext cx="9601188" cy="320040"/>
          </a:xfrm>
          <a:prstGeom prst="rect">
            <a:avLst/>
          </a:prstGeom>
          <a:noFill/>
          <a:ln/>
        </p:spPr>
        <p:txBody>
          <a:bodyPr wrap="square" lIns="25400" tIns="25400" rIns="25400" bIns="25400" rtlCol="0" anchor="t">
            <a:normAutofit lnSpcReduction="10000"/>
          </a:bodyPr>
          <a:lstStyle/>
          <a:p>
            <a:pPr marL="0" indent="0" algn="l">
              <a:buNone/>
            </a:pPr>
            <a:r>
              <a:rPr lang="en-US" sz="1950" b="1" kern="0" spc="150" dirty="0">
                <a:solidFill>
                  <a:srgbClr val="74121D"/>
                </a:solidFill>
                <a:latin typeface="Arial" pitchFamily="34" charset="0"/>
                <a:ea typeface="Arial" pitchFamily="34" charset="-122"/>
                <a:cs typeface="Arial" pitchFamily="34" charset="-120"/>
              </a:rPr>
              <a:t>USER ROLES</a:t>
            </a:r>
            <a:endParaRPr lang="en-US" sz="1950" dirty="0"/>
          </a:p>
        </p:txBody>
      </p:sp>
      <p:sp>
        <p:nvSpPr>
          <p:cNvPr id="8" name="Shape 5"/>
          <p:cNvSpPr/>
          <p:nvPr/>
        </p:nvSpPr>
        <p:spPr>
          <a:xfrm>
            <a:off x="952500" y="3322320"/>
            <a:ext cx="8728353" cy="3025140"/>
          </a:xfrm>
          <a:prstGeom prst="rect">
            <a:avLst/>
          </a:prstGeom>
          <a:ln w="15240">
            <a:solidFill>
              <a:srgbClr val="EFE6DA"/>
            </a:solidFill>
            <a:prstDash val="solid"/>
          </a:ln>
        </p:spPr>
      </p:sp>
      <p:sp>
        <p:nvSpPr>
          <p:cNvPr id="9" name="Shape 6"/>
          <p:cNvSpPr/>
          <p:nvPr/>
        </p:nvSpPr>
        <p:spPr>
          <a:xfrm>
            <a:off x="967740" y="3337560"/>
            <a:ext cx="8697873" cy="563880"/>
          </a:xfrm>
          <a:prstGeom prst="rect">
            <a:avLst/>
          </a:prstGeom>
          <a:solidFill>
            <a:srgbClr val="74121D"/>
          </a:solidFill>
          <a:ln/>
        </p:spPr>
      </p:sp>
      <p:sp>
        <p:nvSpPr>
          <p:cNvPr id="10" name="Text 7"/>
          <p:cNvSpPr/>
          <p:nvPr/>
        </p:nvSpPr>
        <p:spPr>
          <a:xfrm>
            <a:off x="1177290" y="3489960"/>
            <a:ext cx="57161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FFFFFF"/>
                </a:solidFill>
                <a:latin typeface="Arial" pitchFamily="34" charset="0"/>
                <a:ea typeface="Arial" pitchFamily="34" charset="-122"/>
                <a:cs typeface="Arial" pitchFamily="34" charset="-120"/>
              </a:rPr>
              <a:t>Role</a:t>
            </a:r>
            <a:endParaRPr lang="en-US" sz="1800" dirty="0"/>
          </a:p>
        </p:txBody>
      </p:sp>
      <p:sp>
        <p:nvSpPr>
          <p:cNvPr id="11" name="Text 8"/>
          <p:cNvSpPr/>
          <p:nvPr/>
        </p:nvSpPr>
        <p:spPr>
          <a:xfrm>
            <a:off x="1901309" y="3489960"/>
            <a:ext cx="831022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FFFFFF"/>
                </a:solidFill>
                <a:latin typeface="Arial" pitchFamily="34" charset="0"/>
                <a:ea typeface="Arial" pitchFamily="34" charset="-122"/>
                <a:cs typeface="Arial" pitchFamily="34" charset="-120"/>
              </a:rPr>
              <a:t>Permissions</a:t>
            </a:r>
            <a:endParaRPr lang="en-US" sz="1800" dirty="0"/>
          </a:p>
        </p:txBody>
      </p:sp>
      <p:sp>
        <p:nvSpPr>
          <p:cNvPr id="12" name="Shape 9"/>
          <p:cNvSpPr/>
          <p:nvPr/>
        </p:nvSpPr>
        <p:spPr>
          <a:xfrm>
            <a:off x="967740" y="4591050"/>
            <a:ext cx="8697873" cy="9525"/>
          </a:xfrm>
          <a:prstGeom prst="rect">
            <a:avLst/>
          </a:prstGeom>
          <a:solidFill>
            <a:srgbClr val="EFE6DA"/>
          </a:solidFill>
          <a:ln/>
        </p:spPr>
      </p:sp>
      <p:sp>
        <p:nvSpPr>
          <p:cNvPr id="13" name="Text 10"/>
          <p:cNvSpPr/>
          <p:nvPr/>
        </p:nvSpPr>
        <p:spPr>
          <a:xfrm>
            <a:off x="1177290" y="4072890"/>
            <a:ext cx="874276" cy="384810"/>
          </a:xfrm>
          <a:prstGeom prst="rect">
            <a:avLst/>
          </a:prstGeom>
          <a:noFill/>
          <a:ln/>
        </p:spPr>
        <p:txBody>
          <a:bodyPr wrap="none" lIns="25400" tIns="25400" rIns="25400" bIns="25400" rtlCol="0" anchor="t">
            <a:normAutofit/>
          </a:bodyPr>
          <a:lstStyle/>
          <a:p>
            <a:pPr marL="0" indent="0" algn="l">
              <a:buNone/>
            </a:pPr>
            <a:r>
              <a:rPr lang="en-US" sz="1950" b="1" dirty="0">
                <a:solidFill>
                  <a:srgbClr val="74121D"/>
                </a:solidFill>
                <a:latin typeface="Arial" pitchFamily="34" charset="0"/>
                <a:ea typeface="Arial" pitchFamily="34" charset="-122"/>
                <a:cs typeface="Arial" pitchFamily="34" charset="-120"/>
              </a:rPr>
              <a:t>Doctor</a:t>
            </a:r>
            <a:endParaRPr lang="en-US" sz="1950" dirty="0"/>
          </a:p>
        </p:txBody>
      </p:sp>
      <p:sp>
        <p:nvSpPr>
          <p:cNvPr id="14" name="Text 11"/>
          <p:cNvSpPr/>
          <p:nvPr/>
        </p:nvSpPr>
        <p:spPr>
          <a:xfrm>
            <a:off x="2203966" y="4072890"/>
            <a:ext cx="7977307"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3A3A"/>
                </a:solidFill>
                <a:latin typeface="Arial" pitchFamily="34" charset="0"/>
                <a:ea typeface="Arial" pitchFamily="34" charset="-122"/>
                <a:cs typeface="Arial" pitchFamily="34" charset="-120"/>
              </a:rPr>
              <a:t>View and create medical records for assigned patients only</a:t>
            </a:r>
            <a:endParaRPr lang="en-US" sz="1950" dirty="0"/>
          </a:p>
        </p:txBody>
      </p:sp>
      <p:sp>
        <p:nvSpPr>
          <p:cNvPr id="15" name="Shape 12"/>
          <p:cNvSpPr/>
          <p:nvPr/>
        </p:nvSpPr>
        <p:spPr>
          <a:xfrm>
            <a:off x="967740" y="4598670"/>
            <a:ext cx="8697873" cy="1043940"/>
          </a:xfrm>
          <a:prstGeom prst="rect">
            <a:avLst/>
          </a:prstGeom>
          <a:solidFill>
            <a:srgbClr val="FBF6EE"/>
          </a:solidFill>
          <a:ln/>
        </p:spPr>
      </p:sp>
      <p:sp>
        <p:nvSpPr>
          <p:cNvPr id="16" name="Shape 13"/>
          <p:cNvSpPr/>
          <p:nvPr/>
        </p:nvSpPr>
        <p:spPr>
          <a:xfrm>
            <a:off x="967740" y="5634990"/>
            <a:ext cx="8697873" cy="9525"/>
          </a:xfrm>
          <a:prstGeom prst="rect">
            <a:avLst/>
          </a:prstGeom>
          <a:solidFill>
            <a:srgbClr val="EFE6DA"/>
          </a:solidFill>
          <a:ln/>
        </p:spPr>
      </p:sp>
      <p:sp>
        <p:nvSpPr>
          <p:cNvPr id="17" name="Text 14"/>
          <p:cNvSpPr/>
          <p:nvPr/>
        </p:nvSpPr>
        <p:spPr>
          <a:xfrm>
            <a:off x="1177290" y="4770120"/>
            <a:ext cx="846653" cy="731520"/>
          </a:xfrm>
          <a:prstGeom prst="rect">
            <a:avLst/>
          </a:prstGeom>
          <a:noFill/>
          <a:ln/>
        </p:spPr>
        <p:txBody>
          <a:bodyPr wrap="none" lIns="25400" tIns="25400" rIns="25400" bIns="25400" rtlCol="0" anchor="t">
            <a:normAutofit/>
          </a:bodyPr>
          <a:lstStyle/>
          <a:p>
            <a:pPr marL="0" indent="0" algn="l">
              <a:buNone/>
            </a:pPr>
            <a:r>
              <a:rPr lang="en-US" sz="1950" b="1" dirty="0">
                <a:solidFill>
                  <a:srgbClr val="74121D"/>
                </a:solidFill>
                <a:latin typeface="Arial" pitchFamily="34" charset="0"/>
                <a:ea typeface="Arial" pitchFamily="34" charset="-122"/>
                <a:cs typeface="Arial" pitchFamily="34" charset="-120"/>
              </a:rPr>
              <a:t>Admin</a:t>
            </a:r>
            <a:endParaRPr lang="en-US" sz="1950" dirty="0"/>
          </a:p>
        </p:txBody>
      </p:sp>
      <p:sp>
        <p:nvSpPr>
          <p:cNvPr id="18" name="Text 15"/>
          <p:cNvSpPr/>
          <p:nvPr/>
        </p:nvSpPr>
        <p:spPr>
          <a:xfrm>
            <a:off x="2176343" y="4770120"/>
            <a:ext cx="7498111" cy="73152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dirty="0">
                <a:solidFill>
                  <a:srgbClr val="3A3A3A"/>
                </a:solidFill>
                <a:latin typeface="Arial" pitchFamily="34" charset="0"/>
                <a:ea typeface="Arial" pitchFamily="34" charset="-122"/>
                <a:cs typeface="Arial" pitchFamily="34" charset="-120"/>
              </a:rPr>
              <a:t>Register patients, manage appointments, manage users (no clinical data)</a:t>
            </a:r>
            <a:endParaRPr lang="en-US" sz="1950" dirty="0"/>
          </a:p>
        </p:txBody>
      </p:sp>
      <p:sp>
        <p:nvSpPr>
          <p:cNvPr id="19" name="Text 16"/>
          <p:cNvSpPr/>
          <p:nvPr/>
        </p:nvSpPr>
        <p:spPr>
          <a:xfrm>
            <a:off x="1177290" y="5814060"/>
            <a:ext cx="901898" cy="384810"/>
          </a:xfrm>
          <a:prstGeom prst="rect">
            <a:avLst/>
          </a:prstGeom>
          <a:noFill/>
          <a:ln/>
        </p:spPr>
        <p:txBody>
          <a:bodyPr wrap="none" lIns="25400" tIns="25400" rIns="25400" bIns="25400" rtlCol="0" anchor="t">
            <a:normAutofit/>
          </a:bodyPr>
          <a:lstStyle/>
          <a:p>
            <a:pPr marL="0" indent="0" algn="l">
              <a:buNone/>
            </a:pPr>
            <a:r>
              <a:rPr lang="en-US" sz="1950" b="1" dirty="0">
                <a:solidFill>
                  <a:srgbClr val="74121D"/>
                </a:solidFill>
                <a:latin typeface="Arial" pitchFamily="34" charset="0"/>
                <a:ea typeface="Arial" pitchFamily="34" charset="-122"/>
                <a:cs typeface="Arial" pitchFamily="34" charset="-120"/>
              </a:rPr>
              <a:t>Patient</a:t>
            </a:r>
            <a:endParaRPr lang="en-US" sz="1950" dirty="0"/>
          </a:p>
        </p:txBody>
      </p:sp>
      <p:sp>
        <p:nvSpPr>
          <p:cNvPr id="20" name="Text 17"/>
          <p:cNvSpPr/>
          <p:nvPr/>
        </p:nvSpPr>
        <p:spPr>
          <a:xfrm>
            <a:off x="2231588" y="5814060"/>
            <a:ext cx="7946922"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3A3A"/>
                </a:solidFill>
                <a:latin typeface="Arial" pitchFamily="34" charset="0"/>
                <a:ea typeface="Arial" pitchFamily="34" charset="-122"/>
                <a:cs typeface="Arial" pitchFamily="34" charset="-120"/>
              </a:rPr>
              <a:t>View own records and appointments — read-only</a:t>
            </a:r>
            <a:endParaRPr lang="en-US" sz="1950" dirty="0"/>
          </a:p>
        </p:txBody>
      </p:sp>
      <p:sp>
        <p:nvSpPr>
          <p:cNvPr id="21" name="Shape 18"/>
          <p:cNvSpPr/>
          <p:nvPr/>
        </p:nvSpPr>
        <p:spPr>
          <a:xfrm>
            <a:off x="10061853" y="2868930"/>
            <a:ext cx="7273647" cy="1630680"/>
          </a:xfrm>
          <a:prstGeom prst="rect">
            <a:avLst/>
          </a:prstGeom>
          <a:solidFill>
            <a:srgbClr val="FBF6EE"/>
          </a:solidFill>
          <a:ln/>
        </p:spPr>
      </p:sp>
      <p:sp>
        <p:nvSpPr>
          <p:cNvPr id="22" name="Text 19"/>
          <p:cNvSpPr/>
          <p:nvPr/>
        </p:nvSpPr>
        <p:spPr>
          <a:xfrm>
            <a:off x="10347603" y="3135630"/>
            <a:ext cx="7372362"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50" dirty="0">
                <a:solidFill>
                  <a:srgbClr val="74121D"/>
                </a:solidFill>
                <a:latin typeface="Arial" pitchFamily="34" charset="0"/>
                <a:ea typeface="Arial" pitchFamily="34" charset="-122"/>
                <a:cs typeface="Arial" pitchFamily="34" charset="-120"/>
              </a:rPr>
              <a:t>TECHNOLOGY STACK</a:t>
            </a:r>
            <a:endParaRPr lang="en-US" sz="1800" dirty="0"/>
          </a:p>
        </p:txBody>
      </p:sp>
      <p:sp>
        <p:nvSpPr>
          <p:cNvPr id="23" name="Text 20"/>
          <p:cNvSpPr/>
          <p:nvPr/>
        </p:nvSpPr>
        <p:spPr>
          <a:xfrm>
            <a:off x="10347603" y="3470910"/>
            <a:ext cx="6903212" cy="800100"/>
          </a:xfrm>
          <a:prstGeom prst="rect">
            <a:avLst/>
          </a:prstGeom>
          <a:noFill/>
          <a:ln/>
        </p:spPr>
        <p:txBody>
          <a:bodyPr wrap="square" lIns="25400" tIns="25400" rIns="25400" bIns="25400" rtlCol="0" anchor="t">
            <a:normAutofit fontScale="92500" lnSpcReduction="10000"/>
          </a:bodyPr>
          <a:lstStyle/>
          <a:p>
            <a:pPr marL="0" indent="0" algn="l">
              <a:lnSpc>
                <a:spcPct val="160000"/>
              </a:lnSpc>
              <a:buNone/>
            </a:pPr>
            <a:r>
              <a:rPr lang="en-US" sz="1875" dirty="0">
                <a:solidFill>
                  <a:srgbClr val="3A3A3A"/>
                </a:solidFill>
                <a:latin typeface="Arial" pitchFamily="34" charset="0"/>
                <a:ea typeface="Arial" pitchFamily="34" charset="-122"/>
                <a:cs typeface="Arial" pitchFamily="34" charset="-120"/>
              </a:rPr>
              <a:t>AWS ap-southeast-1 · Node.js / Express · React (S3 + CloudFront) · Amazon RDS PostgreSQL · Terraform</a:t>
            </a:r>
            <a:endParaRPr lang="en-US" sz="1875" dirty="0"/>
          </a:p>
        </p:txBody>
      </p:sp>
      <p:sp>
        <p:nvSpPr>
          <p:cNvPr id="24" name="Shape 21"/>
          <p:cNvSpPr/>
          <p:nvPr/>
        </p:nvSpPr>
        <p:spPr>
          <a:xfrm>
            <a:off x="10061853" y="4728210"/>
            <a:ext cx="7273647" cy="1630680"/>
          </a:xfrm>
          <a:prstGeom prst="rect">
            <a:avLst/>
          </a:prstGeom>
          <a:solidFill>
            <a:srgbClr val="FBF6EE"/>
          </a:solidFill>
          <a:ln/>
        </p:spPr>
      </p:sp>
      <p:sp>
        <p:nvSpPr>
          <p:cNvPr id="25" name="Text 22"/>
          <p:cNvSpPr/>
          <p:nvPr/>
        </p:nvSpPr>
        <p:spPr>
          <a:xfrm>
            <a:off x="10347603" y="4994910"/>
            <a:ext cx="7372362"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50" dirty="0">
                <a:solidFill>
                  <a:srgbClr val="74121D"/>
                </a:solidFill>
                <a:latin typeface="Arial" pitchFamily="34" charset="0"/>
                <a:ea typeface="Arial" pitchFamily="34" charset="-122"/>
                <a:cs typeface="Arial" pitchFamily="34" charset="-120"/>
              </a:rPr>
              <a:t>PSM STAGES</a:t>
            </a:r>
            <a:endParaRPr lang="en-US" sz="1800" dirty="0"/>
          </a:p>
        </p:txBody>
      </p:sp>
      <p:sp>
        <p:nvSpPr>
          <p:cNvPr id="26" name="Text 23"/>
          <p:cNvSpPr/>
          <p:nvPr/>
        </p:nvSpPr>
        <p:spPr>
          <a:xfrm>
            <a:off x="10347603" y="5330190"/>
            <a:ext cx="6903212" cy="800100"/>
          </a:xfrm>
          <a:prstGeom prst="rect">
            <a:avLst/>
          </a:prstGeom>
          <a:noFill/>
          <a:ln/>
        </p:spPr>
        <p:txBody>
          <a:bodyPr wrap="square" lIns="25400" tIns="25400" rIns="25400" bIns="25400" rtlCol="0" anchor="t">
            <a:normAutofit fontScale="92500"/>
          </a:bodyPr>
          <a:lstStyle/>
          <a:p>
            <a:pPr marL="0" indent="0" algn="l">
              <a:lnSpc>
                <a:spcPct val="160000"/>
              </a:lnSpc>
              <a:buNone/>
            </a:pPr>
            <a:r>
              <a:rPr lang="en-US" sz="1875" b="1" dirty="0">
                <a:solidFill>
                  <a:srgbClr val="74121D"/>
                </a:solidFill>
                <a:latin typeface="Arial" pitchFamily="34" charset="0"/>
                <a:ea typeface="Arial" pitchFamily="34" charset="-122"/>
                <a:cs typeface="Arial" pitchFamily="34" charset="-120"/>
              </a:rPr>
              <a:t>PSM 1 </a:t>
            </a:r>
            <a:r>
              <a:rPr lang="en-US" sz="1875" dirty="0">
                <a:solidFill>
                  <a:srgbClr val="3A3A3A"/>
                </a:solidFill>
                <a:latin typeface="Arial" pitchFamily="34" charset="0"/>
                <a:ea typeface="Arial" pitchFamily="34" charset="-122"/>
                <a:cs typeface="Arial" pitchFamily="34" charset="-120"/>
              </a:rPr>
              <a:t>— Analysis &amp; Design · </a:t>
            </a:r>
            <a:r>
              <a:rPr lang="en-US" sz="1875" b="1" dirty="0">
                <a:solidFill>
                  <a:srgbClr val="74121D"/>
                </a:solidFill>
                <a:latin typeface="Arial" pitchFamily="34" charset="0"/>
                <a:ea typeface="Arial" pitchFamily="34" charset="-122"/>
                <a:cs typeface="Arial" pitchFamily="34" charset="-120"/>
              </a:rPr>
              <a:t>PSM 2 </a:t>
            </a:r>
            <a:r>
              <a:rPr lang="en-US" sz="1875" dirty="0">
                <a:solidFill>
                  <a:srgbClr val="3A3A3A"/>
                </a:solidFill>
                <a:latin typeface="Arial" pitchFamily="34" charset="0"/>
                <a:ea typeface="Arial" pitchFamily="34" charset="-122"/>
                <a:cs typeface="Arial" pitchFamily="34" charset="-120"/>
              </a:rPr>
              <a:t>— Implementation &amp; Testing</a:t>
            </a:r>
            <a:endParaRPr lang="en-US" sz="1875" dirty="0"/>
          </a:p>
        </p:txBody>
      </p:sp>
      <p:sp>
        <p:nvSpPr>
          <p:cNvPr id="27" name="Shape 24"/>
          <p:cNvSpPr/>
          <p:nvPr/>
        </p:nvSpPr>
        <p:spPr>
          <a:xfrm>
            <a:off x="10061853" y="6587490"/>
            <a:ext cx="7273647" cy="1249680"/>
          </a:xfrm>
          <a:prstGeom prst="rect">
            <a:avLst/>
          </a:prstGeom>
          <a:solidFill>
            <a:srgbClr val="FBF6EE"/>
          </a:solidFill>
          <a:ln/>
        </p:spPr>
      </p:sp>
      <p:sp>
        <p:nvSpPr>
          <p:cNvPr id="28" name="Text 25"/>
          <p:cNvSpPr/>
          <p:nvPr/>
        </p:nvSpPr>
        <p:spPr>
          <a:xfrm>
            <a:off x="10347603" y="6854190"/>
            <a:ext cx="7372362"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50" dirty="0">
                <a:solidFill>
                  <a:srgbClr val="74121D"/>
                </a:solidFill>
                <a:latin typeface="Arial" pitchFamily="34" charset="0"/>
                <a:ea typeface="Arial" pitchFamily="34" charset="-122"/>
                <a:cs typeface="Arial" pitchFamily="34" charset="-120"/>
              </a:rPr>
              <a:t>OUT OF SCOPE</a:t>
            </a:r>
            <a:endParaRPr lang="en-US" sz="1800" dirty="0"/>
          </a:p>
        </p:txBody>
      </p:sp>
      <p:sp>
        <p:nvSpPr>
          <p:cNvPr id="29" name="Text 26"/>
          <p:cNvSpPr/>
          <p:nvPr/>
        </p:nvSpPr>
        <p:spPr>
          <a:xfrm>
            <a:off x="10347603" y="7189470"/>
            <a:ext cx="6903212" cy="419100"/>
          </a:xfrm>
          <a:prstGeom prst="rect">
            <a:avLst/>
          </a:prstGeom>
          <a:noFill/>
          <a:ln/>
        </p:spPr>
        <p:txBody>
          <a:bodyPr wrap="square" lIns="25400" tIns="25400" rIns="25400" bIns="25400" rtlCol="0" anchor="t">
            <a:normAutofit fontScale="92500"/>
          </a:bodyPr>
          <a:lstStyle/>
          <a:p>
            <a:pPr marL="0" indent="0" algn="l">
              <a:lnSpc>
                <a:spcPct val="160000"/>
              </a:lnSpc>
              <a:buNone/>
            </a:pPr>
            <a:r>
              <a:rPr lang="en-US" sz="1875" dirty="0">
                <a:solidFill>
                  <a:srgbClr val="3A3A3A"/>
                </a:solidFill>
                <a:latin typeface="Arial" pitchFamily="34" charset="0"/>
                <a:ea typeface="Arial" pitchFamily="34" charset="-122"/>
                <a:cs typeface="Arial" pitchFamily="34" charset="-120"/>
              </a:rPr>
              <a:t>Mobile app · Payment processing · Third-party EHR integration</a:t>
            </a:r>
            <a:endParaRPr lang="en-US" sz="1875" dirty="0"/>
          </a:p>
        </p:txBody>
      </p:sp>
      <p:sp>
        <p:nvSpPr>
          <p:cNvPr id="30" name="Text 27"/>
          <p:cNvSpPr/>
          <p:nvPr/>
        </p:nvSpPr>
        <p:spPr>
          <a:xfrm>
            <a:off x="952500" y="9742170"/>
            <a:ext cx="553604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Secure AWS Patient Data System · PSM 1 Viva</a:t>
            </a:r>
            <a:endParaRPr lang="en-US" sz="1800" dirty="0"/>
          </a:p>
        </p:txBody>
      </p:sp>
      <p:sp>
        <p:nvSpPr>
          <p:cNvPr id="31" name="Text 28"/>
          <p:cNvSpPr/>
          <p:nvPr/>
        </p:nvSpPr>
        <p:spPr>
          <a:xfrm>
            <a:off x="16603027" y="9742170"/>
            <a:ext cx="80867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05 / 14</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icPr>
            <a:picLocks noChangeAspect="1"/>
          </p:cNvPicPr>
          <p:nvPr/>
        </p:nvPicPr>
        <p:blipFill>
          <a:blip r:embed="rId3"/>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B19C7D"/>
                </a:solidFill>
                <a:latin typeface="Arial" pitchFamily="34" charset="0"/>
                <a:ea typeface="Arial" pitchFamily="34" charset="-122"/>
                <a:cs typeface="Arial" pitchFamily="34" charset="-120"/>
              </a:rPr>
              <a:t>CHAPTER 2</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37" dirty="0">
                <a:solidFill>
                  <a:srgbClr val="74121D"/>
                </a:solidFill>
                <a:latin typeface="Arial" pitchFamily="34" charset="0"/>
                <a:ea typeface="Arial" pitchFamily="34" charset="-122"/>
                <a:cs typeface="Arial" pitchFamily="34" charset="-120"/>
              </a:rPr>
              <a:t>Literature Review and Existing Systems</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Text 4"/>
          <p:cNvSpPr/>
          <p:nvPr/>
        </p:nvSpPr>
        <p:spPr>
          <a:xfrm>
            <a:off x="952500" y="2868930"/>
            <a:ext cx="16764000"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3A3A"/>
                </a:solidFill>
                <a:latin typeface="Arial" pitchFamily="34" charset="0"/>
                <a:ea typeface="Arial" pitchFamily="34" charset="-122"/>
                <a:cs typeface="Arial" pitchFamily="34" charset="-120"/>
              </a:rPr>
              <a:t>Three healthcare systems compared against the proposed system across five critical dimensions.</a:t>
            </a:r>
            <a:endParaRPr lang="en-US" sz="1950" dirty="0"/>
          </a:p>
        </p:txBody>
      </p:sp>
      <p:sp>
        <p:nvSpPr>
          <p:cNvPr id="8" name="Shape 5"/>
          <p:cNvSpPr/>
          <p:nvPr/>
        </p:nvSpPr>
        <p:spPr>
          <a:xfrm>
            <a:off x="952500" y="3482340"/>
            <a:ext cx="16383000" cy="3429000"/>
          </a:xfrm>
          <a:prstGeom prst="rect">
            <a:avLst/>
          </a:prstGeom>
          <a:ln w="7620">
            <a:solidFill>
              <a:srgbClr val="E0D6C7"/>
            </a:solidFill>
            <a:prstDash val="solid"/>
          </a:ln>
        </p:spPr>
      </p:sp>
      <p:sp>
        <p:nvSpPr>
          <p:cNvPr id="9" name="Shape 6"/>
          <p:cNvSpPr/>
          <p:nvPr/>
        </p:nvSpPr>
        <p:spPr>
          <a:xfrm>
            <a:off x="960120" y="3489960"/>
            <a:ext cx="16367760" cy="601980"/>
          </a:xfrm>
          <a:prstGeom prst="rect">
            <a:avLst/>
          </a:prstGeom>
          <a:solidFill>
            <a:srgbClr val="74121D"/>
          </a:solidFill>
          <a:ln/>
        </p:spPr>
      </p:sp>
      <p:sp>
        <p:nvSpPr>
          <p:cNvPr id="10" name="Text 7"/>
          <p:cNvSpPr/>
          <p:nvPr/>
        </p:nvSpPr>
        <p:spPr>
          <a:xfrm>
            <a:off x="1169670" y="3661410"/>
            <a:ext cx="4017321"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FFFFFF"/>
                </a:solidFill>
                <a:latin typeface="Arial" pitchFamily="34" charset="0"/>
                <a:ea typeface="Arial" pitchFamily="34" charset="-122"/>
                <a:cs typeface="Arial" pitchFamily="34" charset="-120"/>
              </a:rPr>
              <a:t>Feature</a:t>
            </a:r>
            <a:endParaRPr lang="en-US" sz="1800" dirty="0"/>
          </a:p>
        </p:txBody>
      </p:sp>
      <p:sp>
        <p:nvSpPr>
          <p:cNvPr id="11" name="Text 8"/>
          <p:cNvSpPr/>
          <p:nvPr/>
        </p:nvSpPr>
        <p:spPr>
          <a:xfrm>
            <a:off x="5433802" y="3661410"/>
            <a:ext cx="2538596" cy="297180"/>
          </a:xfrm>
          <a:prstGeom prst="rect">
            <a:avLst/>
          </a:prstGeom>
          <a:noFill/>
          <a:ln/>
        </p:spPr>
        <p:txBody>
          <a:bodyPr wrap="square" lIns="25400" tIns="25400" rIns="25400" bIns="25400" rtlCol="0" anchor="t">
            <a:normAutofit fontScale="92500" lnSpcReduction="10000"/>
          </a:bodyPr>
          <a:lstStyle/>
          <a:p>
            <a:pPr marL="0" indent="0" algn="ctr">
              <a:buNone/>
            </a:pPr>
            <a:r>
              <a:rPr lang="en-US" sz="1800" b="1" dirty="0">
                <a:solidFill>
                  <a:srgbClr val="FFFFFF"/>
                </a:solidFill>
                <a:latin typeface="Arial" pitchFamily="34" charset="0"/>
                <a:ea typeface="Arial" pitchFamily="34" charset="-122"/>
                <a:cs typeface="Arial" pitchFamily="34" charset="-120"/>
              </a:rPr>
              <a:t>OpenEMR</a:t>
            </a:r>
            <a:endParaRPr lang="en-US" sz="1800" dirty="0"/>
          </a:p>
        </p:txBody>
      </p:sp>
      <p:sp>
        <p:nvSpPr>
          <p:cNvPr id="12" name="Text 9"/>
          <p:cNvSpPr/>
          <p:nvPr/>
        </p:nvSpPr>
        <p:spPr>
          <a:xfrm>
            <a:off x="8305351" y="3661410"/>
            <a:ext cx="2538596" cy="297180"/>
          </a:xfrm>
          <a:prstGeom prst="rect">
            <a:avLst/>
          </a:prstGeom>
          <a:noFill/>
          <a:ln/>
        </p:spPr>
        <p:txBody>
          <a:bodyPr wrap="square" lIns="25400" tIns="25400" rIns="25400" bIns="25400" rtlCol="0" anchor="t">
            <a:normAutofit fontScale="92500" lnSpcReduction="10000"/>
          </a:bodyPr>
          <a:lstStyle/>
          <a:p>
            <a:pPr marL="0" indent="0" algn="ctr">
              <a:buNone/>
            </a:pPr>
            <a:r>
              <a:rPr lang="en-US" sz="1800" b="1" dirty="0">
                <a:solidFill>
                  <a:srgbClr val="FFFFFF"/>
                </a:solidFill>
                <a:latin typeface="Arial" pitchFamily="34" charset="0"/>
                <a:ea typeface="Arial" pitchFamily="34" charset="-122"/>
                <a:cs typeface="Arial" pitchFamily="34" charset="-120"/>
              </a:rPr>
              <a:t>Epic Systems</a:t>
            </a:r>
            <a:endParaRPr lang="en-US" sz="1800" dirty="0"/>
          </a:p>
        </p:txBody>
      </p:sp>
      <p:sp>
        <p:nvSpPr>
          <p:cNvPr id="13" name="Text 10"/>
          <p:cNvSpPr/>
          <p:nvPr/>
        </p:nvSpPr>
        <p:spPr>
          <a:xfrm>
            <a:off x="11176901" y="3661410"/>
            <a:ext cx="2538596" cy="297180"/>
          </a:xfrm>
          <a:prstGeom prst="rect">
            <a:avLst/>
          </a:prstGeom>
          <a:noFill/>
          <a:ln/>
        </p:spPr>
        <p:txBody>
          <a:bodyPr wrap="square" lIns="25400" tIns="25400" rIns="25400" bIns="25400" rtlCol="0" anchor="t">
            <a:normAutofit fontScale="92500" lnSpcReduction="10000"/>
          </a:bodyPr>
          <a:lstStyle/>
          <a:p>
            <a:pPr marL="0" indent="0" algn="ctr">
              <a:buNone/>
            </a:pPr>
            <a:r>
              <a:rPr lang="en-US" sz="1800" b="1" dirty="0">
                <a:solidFill>
                  <a:srgbClr val="FFFFFF"/>
                </a:solidFill>
                <a:latin typeface="Arial" pitchFamily="34" charset="0"/>
                <a:ea typeface="Arial" pitchFamily="34" charset="-122"/>
                <a:cs typeface="Arial" pitchFamily="34" charset="-120"/>
              </a:rPr>
              <a:t>AWS Well-Arch.</a:t>
            </a:r>
            <a:endParaRPr lang="en-US" sz="1800" dirty="0"/>
          </a:p>
        </p:txBody>
      </p:sp>
      <p:sp>
        <p:nvSpPr>
          <p:cNvPr id="14" name="Shape 11"/>
          <p:cNvSpPr/>
          <p:nvPr/>
        </p:nvSpPr>
        <p:spPr>
          <a:xfrm>
            <a:off x="13881974" y="3489960"/>
            <a:ext cx="3445907" cy="601980"/>
          </a:xfrm>
          <a:prstGeom prst="rect">
            <a:avLst/>
          </a:prstGeom>
          <a:solidFill>
            <a:srgbClr val="5A0D17"/>
          </a:solidFill>
          <a:ln/>
        </p:spPr>
      </p:sp>
      <p:sp>
        <p:nvSpPr>
          <p:cNvPr id="15" name="Text 12"/>
          <p:cNvSpPr/>
          <p:nvPr/>
        </p:nvSpPr>
        <p:spPr>
          <a:xfrm>
            <a:off x="14039835" y="3661410"/>
            <a:ext cx="3130184" cy="297180"/>
          </a:xfrm>
          <a:prstGeom prst="rect">
            <a:avLst/>
          </a:prstGeom>
          <a:noFill/>
          <a:ln/>
        </p:spPr>
        <p:txBody>
          <a:bodyPr wrap="square" lIns="25400" tIns="25400" rIns="25400" bIns="25400" rtlCol="0" anchor="t">
            <a:normAutofit fontScale="92500" lnSpcReduction="10000"/>
          </a:bodyPr>
          <a:lstStyle/>
          <a:p>
            <a:pPr marL="0" indent="0" algn="ctr">
              <a:buNone/>
            </a:pPr>
            <a:r>
              <a:rPr lang="en-US" sz="1800" b="1" dirty="0">
                <a:solidFill>
                  <a:srgbClr val="FFFFFF"/>
                </a:solidFill>
                <a:latin typeface="Arial" pitchFamily="34" charset="0"/>
                <a:ea typeface="Arial" pitchFamily="34" charset="-122"/>
                <a:cs typeface="Arial" pitchFamily="34" charset="-120"/>
              </a:rPr>
              <a:t>Proposed</a:t>
            </a:r>
            <a:endParaRPr lang="en-US" sz="1800" dirty="0"/>
          </a:p>
        </p:txBody>
      </p:sp>
      <p:sp>
        <p:nvSpPr>
          <p:cNvPr id="16" name="Shape 13"/>
          <p:cNvSpPr/>
          <p:nvPr/>
        </p:nvSpPr>
        <p:spPr>
          <a:xfrm>
            <a:off x="960120" y="4091940"/>
            <a:ext cx="16367760" cy="525780"/>
          </a:xfrm>
          <a:prstGeom prst="rect">
            <a:avLst/>
          </a:prstGeom>
          <a:solidFill>
            <a:srgbClr val="FFFFFF"/>
          </a:solidFill>
          <a:ln/>
        </p:spPr>
      </p:sp>
      <p:sp>
        <p:nvSpPr>
          <p:cNvPr id="17" name="Text 14"/>
          <p:cNvSpPr/>
          <p:nvPr/>
        </p:nvSpPr>
        <p:spPr>
          <a:xfrm>
            <a:off x="1169670" y="4225290"/>
            <a:ext cx="4017321"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3A3A3A"/>
                </a:solidFill>
                <a:latin typeface="Arial" pitchFamily="34" charset="0"/>
                <a:ea typeface="Arial" pitchFamily="34" charset="-122"/>
                <a:cs typeface="Arial" pitchFamily="34" charset="-120"/>
              </a:rPr>
              <a:t>RBAC</a:t>
            </a:r>
            <a:endParaRPr lang="en-US" sz="1800" dirty="0"/>
          </a:p>
        </p:txBody>
      </p:sp>
      <p:sp>
        <p:nvSpPr>
          <p:cNvPr id="18" name="Text 15"/>
          <p:cNvSpPr/>
          <p:nvPr/>
        </p:nvSpPr>
        <p:spPr>
          <a:xfrm>
            <a:off x="5433802" y="4225290"/>
            <a:ext cx="2538596" cy="297180"/>
          </a:xfrm>
          <a:prstGeom prst="rect">
            <a:avLst/>
          </a:prstGeom>
          <a:noFill/>
          <a:ln/>
        </p:spPr>
        <p:txBody>
          <a:bodyPr wrap="square" lIns="25400" tIns="25400" rIns="25400" bIns="25400" rtlCol="0" anchor="t">
            <a:normAutofit fontScale="92500" lnSpcReduction="10000"/>
          </a:bodyPr>
          <a:lstStyle/>
          <a:p>
            <a:pPr marL="0" indent="0" algn="ctr">
              <a:buNone/>
            </a:pPr>
            <a:r>
              <a:rPr lang="en-US" sz="1800" dirty="0">
                <a:solidFill>
                  <a:srgbClr val="B19C7D"/>
                </a:solidFill>
                <a:latin typeface="Arial" pitchFamily="34" charset="0"/>
                <a:ea typeface="Arial" pitchFamily="34" charset="-122"/>
                <a:cs typeface="Arial" pitchFamily="34" charset="-120"/>
              </a:rPr>
              <a:t>Basic</a:t>
            </a:r>
            <a:endParaRPr lang="en-US" sz="1800" dirty="0"/>
          </a:p>
        </p:txBody>
      </p:sp>
      <p:sp>
        <p:nvSpPr>
          <p:cNvPr id="19" name="Text 16"/>
          <p:cNvSpPr/>
          <p:nvPr/>
        </p:nvSpPr>
        <p:spPr>
          <a:xfrm>
            <a:off x="8305351" y="4225290"/>
            <a:ext cx="2538596" cy="297180"/>
          </a:xfrm>
          <a:prstGeom prst="rect">
            <a:avLst/>
          </a:prstGeom>
          <a:noFill/>
          <a:ln/>
        </p:spPr>
        <p:txBody>
          <a:bodyPr wrap="square" lIns="25400" tIns="25400" rIns="25400" bIns="25400" rtlCol="0" anchor="t">
            <a:normAutofit fontScale="92500" lnSpcReduction="10000"/>
          </a:bodyPr>
          <a:lstStyle/>
          <a:p>
            <a:pPr marL="0" indent="0" algn="ctr">
              <a:buNone/>
            </a:pPr>
            <a:r>
              <a:rPr lang="en-US" sz="1800" dirty="0">
                <a:solidFill>
                  <a:srgbClr val="2A6F4D"/>
                </a:solidFill>
                <a:latin typeface="Arial" pitchFamily="34" charset="0"/>
                <a:ea typeface="Arial" pitchFamily="34" charset="-122"/>
                <a:cs typeface="Arial" pitchFamily="34" charset="-120"/>
              </a:rPr>
              <a:t>Enterprise</a:t>
            </a:r>
            <a:endParaRPr lang="en-US" sz="1800" dirty="0"/>
          </a:p>
        </p:txBody>
      </p:sp>
      <p:sp>
        <p:nvSpPr>
          <p:cNvPr id="20" name="Text 17"/>
          <p:cNvSpPr/>
          <p:nvPr/>
        </p:nvSpPr>
        <p:spPr>
          <a:xfrm>
            <a:off x="11176901" y="4225290"/>
            <a:ext cx="2538596" cy="297180"/>
          </a:xfrm>
          <a:prstGeom prst="rect">
            <a:avLst/>
          </a:prstGeom>
          <a:noFill/>
          <a:ln/>
        </p:spPr>
        <p:txBody>
          <a:bodyPr wrap="square" lIns="25400" tIns="25400" rIns="25400" bIns="25400" rtlCol="0" anchor="t">
            <a:normAutofit fontScale="92500" lnSpcReduction="10000"/>
          </a:bodyPr>
          <a:lstStyle/>
          <a:p>
            <a:pPr marL="0" indent="0" algn="ctr">
              <a:buNone/>
            </a:pPr>
            <a:r>
              <a:rPr lang="en-US" sz="1800" dirty="0">
                <a:solidFill>
                  <a:srgbClr val="A7333F"/>
                </a:solidFill>
                <a:latin typeface="Arial" pitchFamily="34" charset="0"/>
                <a:ea typeface="Arial" pitchFamily="34" charset="-122"/>
                <a:cs typeface="Arial" pitchFamily="34" charset="-120"/>
              </a:rPr>
              <a:t>None (app)</a:t>
            </a:r>
            <a:endParaRPr lang="en-US" sz="1800" dirty="0"/>
          </a:p>
        </p:txBody>
      </p:sp>
      <p:sp>
        <p:nvSpPr>
          <p:cNvPr id="21" name="Shape 18"/>
          <p:cNvSpPr/>
          <p:nvPr/>
        </p:nvSpPr>
        <p:spPr>
          <a:xfrm>
            <a:off x="13881974" y="4091940"/>
            <a:ext cx="3445907" cy="525780"/>
          </a:xfrm>
          <a:prstGeom prst="rect">
            <a:avLst/>
          </a:prstGeom>
          <a:solidFill>
            <a:srgbClr val="FBF6EE"/>
          </a:solidFill>
          <a:ln/>
        </p:spPr>
      </p:sp>
      <p:sp>
        <p:nvSpPr>
          <p:cNvPr id="22" name="Text 19"/>
          <p:cNvSpPr/>
          <p:nvPr/>
        </p:nvSpPr>
        <p:spPr>
          <a:xfrm>
            <a:off x="14039835" y="4225290"/>
            <a:ext cx="3130184" cy="297180"/>
          </a:xfrm>
          <a:prstGeom prst="rect">
            <a:avLst/>
          </a:prstGeom>
          <a:noFill/>
          <a:ln/>
        </p:spPr>
        <p:txBody>
          <a:bodyPr wrap="square" lIns="25400" tIns="25400" rIns="25400" bIns="25400" rtlCol="0" anchor="t">
            <a:normAutofit fontScale="92500" lnSpcReduction="10000"/>
          </a:bodyPr>
          <a:lstStyle/>
          <a:p>
            <a:pPr marL="0" indent="0" algn="ctr">
              <a:buNone/>
            </a:pPr>
            <a:r>
              <a:rPr lang="en-US" sz="1800" b="1" dirty="0">
                <a:solidFill>
                  <a:srgbClr val="2A6F4D"/>
                </a:solidFill>
                <a:latin typeface="Arial" pitchFamily="34" charset="0"/>
                <a:ea typeface="Arial" pitchFamily="34" charset="-122"/>
                <a:cs typeface="Arial" pitchFamily="34" charset="-120"/>
              </a:rPr>
              <a:t>3-layer</a:t>
            </a:r>
            <a:endParaRPr lang="en-US" sz="1800" dirty="0"/>
          </a:p>
        </p:txBody>
      </p:sp>
      <p:sp>
        <p:nvSpPr>
          <p:cNvPr id="23" name="Shape 20"/>
          <p:cNvSpPr/>
          <p:nvPr/>
        </p:nvSpPr>
        <p:spPr>
          <a:xfrm>
            <a:off x="960120" y="4617720"/>
            <a:ext cx="16367760" cy="571500"/>
          </a:xfrm>
          <a:prstGeom prst="rect">
            <a:avLst/>
          </a:prstGeom>
          <a:solidFill>
            <a:srgbClr val="FAF6EF"/>
          </a:solidFill>
          <a:ln/>
        </p:spPr>
      </p:sp>
      <p:sp>
        <p:nvSpPr>
          <p:cNvPr id="24" name="Text 21"/>
          <p:cNvSpPr/>
          <p:nvPr/>
        </p:nvSpPr>
        <p:spPr>
          <a:xfrm>
            <a:off x="1169670" y="4751070"/>
            <a:ext cx="4017321"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3A3A3A"/>
                </a:solidFill>
                <a:latin typeface="Arial" pitchFamily="34" charset="0"/>
                <a:ea typeface="Arial" pitchFamily="34" charset="-122"/>
                <a:cs typeface="Arial" pitchFamily="34" charset="-120"/>
              </a:rPr>
              <a:t>Audit Trail</a:t>
            </a:r>
            <a:endParaRPr lang="en-US" sz="1800" dirty="0"/>
          </a:p>
        </p:txBody>
      </p:sp>
      <p:sp>
        <p:nvSpPr>
          <p:cNvPr id="25" name="Text 22"/>
          <p:cNvSpPr/>
          <p:nvPr/>
        </p:nvSpPr>
        <p:spPr>
          <a:xfrm>
            <a:off x="5433802" y="4751070"/>
            <a:ext cx="2538596"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26" name="Text 23"/>
          <p:cNvSpPr/>
          <p:nvPr/>
        </p:nvSpPr>
        <p:spPr>
          <a:xfrm>
            <a:off x="8305351" y="4751070"/>
            <a:ext cx="2538596"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A6F4D"/>
                </a:solidFill>
                <a:latin typeface="Arial" pitchFamily="34" charset="0"/>
                <a:ea typeface="Arial" pitchFamily="34" charset="-122"/>
                <a:cs typeface="Arial" pitchFamily="34" charset="-120"/>
              </a:rPr>
              <a:t>✓</a:t>
            </a:r>
            <a:endParaRPr lang="en-US" sz="1800" dirty="0"/>
          </a:p>
        </p:txBody>
      </p:sp>
      <p:sp>
        <p:nvSpPr>
          <p:cNvPr id="27" name="Text 24"/>
          <p:cNvSpPr/>
          <p:nvPr/>
        </p:nvSpPr>
        <p:spPr>
          <a:xfrm>
            <a:off x="11176901" y="4751070"/>
            <a:ext cx="2538596"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B19C7D"/>
                </a:solidFill>
                <a:latin typeface="Arial" pitchFamily="34" charset="0"/>
                <a:ea typeface="Arial" pitchFamily="34" charset="-122"/>
                <a:cs typeface="Arial" pitchFamily="34" charset="-120"/>
              </a:rPr>
              <a:t>API only</a:t>
            </a:r>
            <a:endParaRPr lang="en-US" sz="1800" dirty="0"/>
          </a:p>
        </p:txBody>
      </p:sp>
      <p:sp>
        <p:nvSpPr>
          <p:cNvPr id="28" name="Shape 25"/>
          <p:cNvSpPr/>
          <p:nvPr/>
        </p:nvSpPr>
        <p:spPr>
          <a:xfrm>
            <a:off x="13881974" y="4617720"/>
            <a:ext cx="3445907" cy="571500"/>
          </a:xfrm>
          <a:prstGeom prst="rect">
            <a:avLst/>
          </a:prstGeom>
          <a:solidFill>
            <a:srgbClr val="FBF6EE"/>
          </a:solidFill>
          <a:ln/>
        </p:spPr>
      </p:sp>
      <p:sp>
        <p:nvSpPr>
          <p:cNvPr id="29" name="Text 26"/>
          <p:cNvSpPr/>
          <p:nvPr/>
        </p:nvSpPr>
        <p:spPr>
          <a:xfrm>
            <a:off x="14039835" y="4751070"/>
            <a:ext cx="3130184" cy="342900"/>
          </a:xfrm>
          <a:prstGeom prst="rect">
            <a:avLst/>
          </a:prstGeom>
          <a:noFill/>
          <a:ln/>
        </p:spPr>
        <p:txBody>
          <a:bodyPr wrap="square" lIns="25400" tIns="25400" rIns="25400" bIns="25400" rtlCol="0" anchor="t">
            <a:normAutofit/>
          </a:bodyPr>
          <a:lstStyle/>
          <a:p>
            <a:pPr marL="0" indent="0" algn="ctr">
              <a:buNone/>
            </a:pPr>
            <a:r>
              <a:rPr lang="en-US" sz="1800" b="1" dirty="0">
                <a:solidFill>
                  <a:srgbClr val="2A6F4D"/>
                </a:solidFill>
                <a:latin typeface="Arial" pitchFamily="34" charset="0"/>
                <a:ea typeface="Arial" pitchFamily="34" charset="-122"/>
                <a:cs typeface="Arial" pitchFamily="34" charset="-120"/>
              </a:rPr>
              <a:t>CloudTrail + DB</a:t>
            </a:r>
            <a:endParaRPr lang="en-US" sz="1800" dirty="0"/>
          </a:p>
        </p:txBody>
      </p:sp>
      <p:sp>
        <p:nvSpPr>
          <p:cNvPr id="30" name="Shape 27"/>
          <p:cNvSpPr/>
          <p:nvPr/>
        </p:nvSpPr>
        <p:spPr>
          <a:xfrm>
            <a:off x="960120" y="5189220"/>
            <a:ext cx="16367760" cy="571500"/>
          </a:xfrm>
          <a:prstGeom prst="rect">
            <a:avLst/>
          </a:prstGeom>
          <a:solidFill>
            <a:srgbClr val="FFFFFF"/>
          </a:solidFill>
          <a:ln/>
        </p:spPr>
      </p:sp>
      <p:sp>
        <p:nvSpPr>
          <p:cNvPr id="31" name="Text 28"/>
          <p:cNvSpPr/>
          <p:nvPr/>
        </p:nvSpPr>
        <p:spPr>
          <a:xfrm>
            <a:off x="1169670" y="5322570"/>
            <a:ext cx="4017321"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3A3A3A"/>
                </a:solidFill>
                <a:latin typeface="Arial" pitchFamily="34" charset="0"/>
                <a:ea typeface="Arial" pitchFamily="34" charset="-122"/>
                <a:cs typeface="Arial" pitchFamily="34" charset="-120"/>
              </a:rPr>
              <a:t>IaC / DR</a:t>
            </a:r>
            <a:endParaRPr lang="en-US" sz="1800" dirty="0"/>
          </a:p>
        </p:txBody>
      </p:sp>
      <p:sp>
        <p:nvSpPr>
          <p:cNvPr id="32" name="Text 29"/>
          <p:cNvSpPr/>
          <p:nvPr/>
        </p:nvSpPr>
        <p:spPr>
          <a:xfrm>
            <a:off x="5433802" y="5322570"/>
            <a:ext cx="2538596"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33" name="Text 30"/>
          <p:cNvSpPr/>
          <p:nvPr/>
        </p:nvSpPr>
        <p:spPr>
          <a:xfrm>
            <a:off x="8305351" y="5322570"/>
            <a:ext cx="2538596"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B19C7D"/>
                </a:solidFill>
                <a:latin typeface="Arial" pitchFamily="34" charset="0"/>
                <a:ea typeface="Arial" pitchFamily="34" charset="-122"/>
                <a:cs typeface="Arial" pitchFamily="34" charset="-120"/>
              </a:rPr>
              <a:t>Proprietary</a:t>
            </a:r>
            <a:endParaRPr lang="en-US" sz="1800" dirty="0"/>
          </a:p>
        </p:txBody>
      </p:sp>
      <p:sp>
        <p:nvSpPr>
          <p:cNvPr id="34" name="Text 31"/>
          <p:cNvSpPr/>
          <p:nvPr/>
        </p:nvSpPr>
        <p:spPr>
          <a:xfrm>
            <a:off x="11176901" y="5322570"/>
            <a:ext cx="2538596"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B19C7D"/>
                </a:solidFill>
                <a:latin typeface="Arial" pitchFamily="34" charset="0"/>
                <a:ea typeface="Arial" pitchFamily="34" charset="-122"/>
                <a:cs typeface="Arial" pitchFamily="34" charset="-120"/>
              </a:rPr>
              <a:t>Partial</a:t>
            </a:r>
            <a:endParaRPr lang="en-US" sz="1800" dirty="0"/>
          </a:p>
        </p:txBody>
      </p:sp>
      <p:sp>
        <p:nvSpPr>
          <p:cNvPr id="35" name="Shape 32"/>
          <p:cNvSpPr/>
          <p:nvPr/>
        </p:nvSpPr>
        <p:spPr>
          <a:xfrm>
            <a:off x="13881974" y="5189220"/>
            <a:ext cx="3445907" cy="571500"/>
          </a:xfrm>
          <a:prstGeom prst="rect">
            <a:avLst/>
          </a:prstGeom>
          <a:solidFill>
            <a:srgbClr val="FBF6EE"/>
          </a:solidFill>
          <a:ln/>
        </p:spPr>
      </p:sp>
      <p:sp>
        <p:nvSpPr>
          <p:cNvPr id="36" name="Text 33"/>
          <p:cNvSpPr/>
          <p:nvPr/>
        </p:nvSpPr>
        <p:spPr>
          <a:xfrm>
            <a:off x="14039835" y="5322570"/>
            <a:ext cx="3130184" cy="342900"/>
          </a:xfrm>
          <a:prstGeom prst="rect">
            <a:avLst/>
          </a:prstGeom>
          <a:noFill/>
          <a:ln/>
        </p:spPr>
        <p:txBody>
          <a:bodyPr wrap="square" lIns="25400" tIns="25400" rIns="25400" bIns="25400" rtlCol="0" anchor="t">
            <a:normAutofit/>
          </a:bodyPr>
          <a:lstStyle/>
          <a:p>
            <a:pPr marL="0" indent="0" algn="ctr">
              <a:buNone/>
            </a:pPr>
            <a:r>
              <a:rPr lang="en-US" sz="1800" b="1" dirty="0">
                <a:solidFill>
                  <a:srgbClr val="2A6F4D"/>
                </a:solidFill>
                <a:latin typeface="Arial" pitchFamily="34" charset="0"/>
                <a:ea typeface="Arial" pitchFamily="34" charset="-122"/>
                <a:cs typeface="Arial" pitchFamily="34" charset="-120"/>
              </a:rPr>
              <a:t>Terraform RTO &lt;15 min</a:t>
            </a:r>
            <a:endParaRPr lang="en-US" sz="1800" dirty="0"/>
          </a:p>
        </p:txBody>
      </p:sp>
      <p:sp>
        <p:nvSpPr>
          <p:cNvPr id="37" name="Shape 34"/>
          <p:cNvSpPr/>
          <p:nvPr/>
        </p:nvSpPr>
        <p:spPr>
          <a:xfrm>
            <a:off x="960120" y="5760720"/>
            <a:ext cx="16367760" cy="571500"/>
          </a:xfrm>
          <a:prstGeom prst="rect">
            <a:avLst/>
          </a:prstGeom>
          <a:solidFill>
            <a:srgbClr val="FAF6EF"/>
          </a:solidFill>
          <a:ln/>
        </p:spPr>
      </p:sp>
      <p:sp>
        <p:nvSpPr>
          <p:cNvPr id="38" name="Text 35"/>
          <p:cNvSpPr/>
          <p:nvPr/>
        </p:nvSpPr>
        <p:spPr>
          <a:xfrm>
            <a:off x="1169670" y="5894070"/>
            <a:ext cx="4017321"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3A3A3A"/>
                </a:solidFill>
                <a:latin typeface="Arial" pitchFamily="34" charset="0"/>
                <a:ea typeface="Arial" pitchFamily="34" charset="-122"/>
                <a:cs typeface="Arial" pitchFamily="34" charset="-120"/>
              </a:rPr>
              <a:t>DevSecOps Pipeline</a:t>
            </a:r>
            <a:endParaRPr lang="en-US" sz="1800" dirty="0"/>
          </a:p>
        </p:txBody>
      </p:sp>
      <p:sp>
        <p:nvSpPr>
          <p:cNvPr id="39" name="Text 36"/>
          <p:cNvSpPr/>
          <p:nvPr/>
        </p:nvSpPr>
        <p:spPr>
          <a:xfrm>
            <a:off x="5433802" y="5894070"/>
            <a:ext cx="2538596"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40" name="Text 37"/>
          <p:cNvSpPr/>
          <p:nvPr/>
        </p:nvSpPr>
        <p:spPr>
          <a:xfrm>
            <a:off x="8305351" y="5894070"/>
            <a:ext cx="2538596"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41" name="Text 38"/>
          <p:cNvSpPr/>
          <p:nvPr/>
        </p:nvSpPr>
        <p:spPr>
          <a:xfrm>
            <a:off x="11176901" y="5894070"/>
            <a:ext cx="2538596"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42" name="Shape 39"/>
          <p:cNvSpPr/>
          <p:nvPr/>
        </p:nvSpPr>
        <p:spPr>
          <a:xfrm>
            <a:off x="13881974" y="5760720"/>
            <a:ext cx="3445907" cy="571500"/>
          </a:xfrm>
          <a:prstGeom prst="rect">
            <a:avLst/>
          </a:prstGeom>
          <a:solidFill>
            <a:srgbClr val="FBF6EE"/>
          </a:solidFill>
          <a:ln/>
        </p:spPr>
      </p:sp>
      <p:sp>
        <p:nvSpPr>
          <p:cNvPr id="43" name="Text 40"/>
          <p:cNvSpPr/>
          <p:nvPr/>
        </p:nvSpPr>
        <p:spPr>
          <a:xfrm>
            <a:off x="14039835" y="5894070"/>
            <a:ext cx="3130184" cy="342900"/>
          </a:xfrm>
          <a:prstGeom prst="rect">
            <a:avLst/>
          </a:prstGeom>
          <a:noFill/>
          <a:ln/>
        </p:spPr>
        <p:txBody>
          <a:bodyPr wrap="square" lIns="25400" tIns="25400" rIns="25400" bIns="25400" rtlCol="0" anchor="t">
            <a:normAutofit/>
          </a:bodyPr>
          <a:lstStyle/>
          <a:p>
            <a:pPr marL="0" indent="0" algn="ctr">
              <a:buNone/>
            </a:pPr>
            <a:r>
              <a:rPr lang="en-US" sz="1800" b="1" dirty="0">
                <a:solidFill>
                  <a:srgbClr val="2A6F4D"/>
                </a:solidFill>
                <a:latin typeface="Arial" pitchFamily="34" charset="0"/>
                <a:ea typeface="Arial" pitchFamily="34" charset="-122"/>
                <a:cs typeface="Arial" pitchFamily="34" charset="-120"/>
              </a:rPr>
              <a:t>6-stage automated</a:t>
            </a:r>
            <a:endParaRPr lang="en-US" sz="1800" dirty="0"/>
          </a:p>
        </p:txBody>
      </p:sp>
      <p:sp>
        <p:nvSpPr>
          <p:cNvPr id="44" name="Shape 41"/>
          <p:cNvSpPr/>
          <p:nvPr/>
        </p:nvSpPr>
        <p:spPr>
          <a:xfrm>
            <a:off x="960120" y="6332220"/>
            <a:ext cx="16367760" cy="571500"/>
          </a:xfrm>
          <a:prstGeom prst="rect">
            <a:avLst/>
          </a:prstGeom>
          <a:solidFill>
            <a:srgbClr val="FFFFFF"/>
          </a:solidFill>
          <a:ln/>
        </p:spPr>
      </p:sp>
      <p:sp>
        <p:nvSpPr>
          <p:cNvPr id="45" name="Text 42"/>
          <p:cNvSpPr/>
          <p:nvPr/>
        </p:nvSpPr>
        <p:spPr>
          <a:xfrm>
            <a:off x="1169670" y="6465570"/>
            <a:ext cx="4017321"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3A3A3A"/>
                </a:solidFill>
                <a:latin typeface="Arial" pitchFamily="34" charset="0"/>
                <a:ea typeface="Arial" pitchFamily="34" charset="-122"/>
                <a:cs typeface="Arial" pitchFamily="34" charset="-120"/>
              </a:rPr>
              <a:t>Open-source / SME fit</a:t>
            </a:r>
            <a:endParaRPr lang="en-US" sz="1800" dirty="0"/>
          </a:p>
        </p:txBody>
      </p:sp>
      <p:sp>
        <p:nvSpPr>
          <p:cNvPr id="46" name="Text 43"/>
          <p:cNvSpPr/>
          <p:nvPr/>
        </p:nvSpPr>
        <p:spPr>
          <a:xfrm>
            <a:off x="5433802" y="6465570"/>
            <a:ext cx="2538596"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2A6F4D"/>
                </a:solidFill>
                <a:latin typeface="Arial" pitchFamily="34" charset="0"/>
                <a:ea typeface="Arial" pitchFamily="34" charset="-122"/>
                <a:cs typeface="Arial" pitchFamily="34" charset="-120"/>
              </a:rPr>
              <a:t>✓</a:t>
            </a:r>
            <a:endParaRPr lang="en-US" sz="1800" dirty="0"/>
          </a:p>
        </p:txBody>
      </p:sp>
      <p:sp>
        <p:nvSpPr>
          <p:cNvPr id="47" name="Text 44"/>
          <p:cNvSpPr/>
          <p:nvPr/>
        </p:nvSpPr>
        <p:spPr>
          <a:xfrm>
            <a:off x="8305351" y="6465570"/>
            <a:ext cx="2538596"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A7333F"/>
                </a:solidFill>
                <a:latin typeface="Arial" pitchFamily="34" charset="0"/>
                <a:ea typeface="Arial" pitchFamily="34" charset="-122"/>
                <a:cs typeface="Arial" pitchFamily="34" charset="-120"/>
              </a:rPr>
              <a:t>✗</a:t>
            </a:r>
            <a:endParaRPr lang="en-US" sz="1800" dirty="0"/>
          </a:p>
        </p:txBody>
      </p:sp>
      <p:sp>
        <p:nvSpPr>
          <p:cNvPr id="48" name="Text 45"/>
          <p:cNvSpPr/>
          <p:nvPr/>
        </p:nvSpPr>
        <p:spPr>
          <a:xfrm>
            <a:off x="11176901" y="6465570"/>
            <a:ext cx="2538596" cy="342900"/>
          </a:xfrm>
          <a:prstGeom prst="rect">
            <a:avLst/>
          </a:prstGeom>
          <a:noFill/>
          <a:ln/>
        </p:spPr>
        <p:txBody>
          <a:bodyPr wrap="square" lIns="25400" tIns="25400" rIns="25400" bIns="25400" rtlCol="0" anchor="t">
            <a:normAutofit/>
          </a:bodyPr>
          <a:lstStyle/>
          <a:p>
            <a:pPr marL="0" indent="0" algn="ctr">
              <a:buNone/>
            </a:pPr>
            <a:r>
              <a:rPr lang="en-US" sz="1800" dirty="0">
                <a:solidFill>
                  <a:srgbClr val="B19C7D"/>
                </a:solidFill>
                <a:latin typeface="Arial" pitchFamily="34" charset="0"/>
                <a:ea typeface="Arial" pitchFamily="34" charset="-122"/>
                <a:cs typeface="Arial" pitchFamily="34" charset="-120"/>
              </a:rPr>
              <a:t>Partial</a:t>
            </a:r>
            <a:endParaRPr lang="en-US" sz="1800" dirty="0"/>
          </a:p>
        </p:txBody>
      </p:sp>
      <p:sp>
        <p:nvSpPr>
          <p:cNvPr id="49" name="Shape 46"/>
          <p:cNvSpPr/>
          <p:nvPr/>
        </p:nvSpPr>
        <p:spPr>
          <a:xfrm>
            <a:off x="13881974" y="6332220"/>
            <a:ext cx="3445907" cy="571500"/>
          </a:xfrm>
          <a:prstGeom prst="rect">
            <a:avLst/>
          </a:prstGeom>
          <a:solidFill>
            <a:srgbClr val="FBF6EE"/>
          </a:solidFill>
          <a:ln/>
        </p:spPr>
      </p:sp>
      <p:sp>
        <p:nvSpPr>
          <p:cNvPr id="50" name="Text 47"/>
          <p:cNvSpPr/>
          <p:nvPr/>
        </p:nvSpPr>
        <p:spPr>
          <a:xfrm>
            <a:off x="14039835" y="6465570"/>
            <a:ext cx="3130184" cy="342900"/>
          </a:xfrm>
          <a:prstGeom prst="rect">
            <a:avLst/>
          </a:prstGeom>
          <a:noFill/>
          <a:ln/>
        </p:spPr>
        <p:txBody>
          <a:bodyPr wrap="square" lIns="25400" tIns="25400" rIns="25400" bIns="25400" rtlCol="0" anchor="t">
            <a:normAutofit/>
          </a:bodyPr>
          <a:lstStyle/>
          <a:p>
            <a:pPr marL="0" indent="0" algn="ctr">
              <a:buNone/>
            </a:pPr>
            <a:r>
              <a:rPr lang="en-US" sz="1800" b="1" dirty="0">
                <a:solidFill>
                  <a:srgbClr val="2A6F4D"/>
                </a:solidFill>
                <a:latin typeface="Arial" pitchFamily="34" charset="0"/>
                <a:ea typeface="Arial" pitchFamily="34" charset="-122"/>
                <a:cs typeface="Arial" pitchFamily="34" charset="-120"/>
              </a:rPr>
              <a:t>✓</a:t>
            </a:r>
            <a:endParaRPr lang="en-US" sz="1800" dirty="0"/>
          </a:p>
        </p:txBody>
      </p:sp>
      <p:sp>
        <p:nvSpPr>
          <p:cNvPr id="51" name="Shape 48"/>
          <p:cNvSpPr/>
          <p:nvPr/>
        </p:nvSpPr>
        <p:spPr>
          <a:xfrm>
            <a:off x="952500" y="7216140"/>
            <a:ext cx="16383000" cy="1005840"/>
          </a:xfrm>
          <a:prstGeom prst="rect">
            <a:avLst/>
          </a:prstGeom>
          <a:solidFill>
            <a:srgbClr val="74121D"/>
          </a:solidFill>
          <a:ln/>
        </p:spPr>
      </p:sp>
      <p:sp>
        <p:nvSpPr>
          <p:cNvPr id="52" name="Text 49"/>
          <p:cNvSpPr/>
          <p:nvPr/>
        </p:nvSpPr>
        <p:spPr>
          <a:xfrm>
            <a:off x="1238250" y="7387590"/>
            <a:ext cx="16302990"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b="1" dirty="0">
                <a:solidFill>
                  <a:srgbClr val="E7D7C1"/>
                </a:solidFill>
                <a:latin typeface="Arial" pitchFamily="34" charset="0"/>
                <a:ea typeface="Arial" pitchFamily="34" charset="-122"/>
                <a:cs typeface="Arial" pitchFamily="34" charset="-120"/>
              </a:rPr>
              <a:t>Research Gap — </a:t>
            </a:r>
            <a:r>
              <a:rPr lang="en-US" sz="1800" dirty="0">
                <a:solidFill>
                  <a:srgbClr val="FFFFFF"/>
                </a:solidFill>
                <a:highlight>
                  <a:srgbClr val="74121D"/>
                </a:highlight>
                <a:latin typeface="Arial" pitchFamily="34" charset="0"/>
                <a:ea typeface="Arial" pitchFamily="34" charset="-122"/>
                <a:cs typeface="Arial" pitchFamily="34" charset="-120"/>
              </a:rPr>
              <a:t>No existing system combines 3-layer RBAC + a full DevSecOps pipeline + Terraform-based RTO &lt; 15 min in a single cloud-native deployment for Malaysian healthcare.</a:t>
            </a:r>
            <a:endParaRPr lang="en-US" sz="1800" dirty="0"/>
          </a:p>
        </p:txBody>
      </p:sp>
      <p:sp>
        <p:nvSpPr>
          <p:cNvPr id="53" name="Text 50"/>
          <p:cNvSpPr/>
          <p:nvPr/>
        </p:nvSpPr>
        <p:spPr>
          <a:xfrm>
            <a:off x="952500" y="9742170"/>
            <a:ext cx="553604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Secure AWS Patient Data System · PSM 1 Viva</a:t>
            </a:r>
            <a:endParaRPr lang="en-US" sz="1800" dirty="0"/>
          </a:p>
        </p:txBody>
      </p:sp>
      <p:sp>
        <p:nvSpPr>
          <p:cNvPr id="54" name="Text 51"/>
          <p:cNvSpPr/>
          <p:nvPr/>
        </p:nvSpPr>
        <p:spPr>
          <a:xfrm>
            <a:off x="16603027" y="9742170"/>
            <a:ext cx="80867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06 / 14</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icPr>
            <a:picLocks noChangeAspect="1"/>
          </p:cNvPicPr>
          <p:nvPr/>
        </p:nvPicPr>
        <p:blipFill>
          <a:blip r:embed="rId3"/>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B19C7D"/>
                </a:solidFill>
                <a:latin typeface="Arial" pitchFamily="34" charset="0"/>
                <a:ea typeface="Arial" pitchFamily="34" charset="-122"/>
                <a:cs typeface="Arial" pitchFamily="34" charset="-120"/>
              </a:rPr>
              <a:t>CHAPTER 3</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37" dirty="0">
                <a:solidFill>
                  <a:srgbClr val="74121D"/>
                </a:solidFill>
                <a:latin typeface="Arial" pitchFamily="34" charset="0"/>
                <a:ea typeface="Arial" pitchFamily="34" charset="-122"/>
                <a:cs typeface="Arial" pitchFamily="34" charset="-120"/>
              </a:rPr>
              <a:t>Methodology</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1039058" y="3059430"/>
            <a:ext cx="2752963" cy="373380"/>
          </a:xfrm>
          <a:prstGeom prst="rect">
            <a:avLst/>
          </a:prstGeom>
          <a:solidFill>
            <a:srgbClr val="74121D"/>
          </a:solidFill>
          <a:ln/>
        </p:spPr>
      </p:sp>
      <p:sp>
        <p:nvSpPr>
          <p:cNvPr id="8" name="Text 5"/>
          <p:cNvSpPr/>
          <p:nvPr/>
        </p:nvSpPr>
        <p:spPr>
          <a:xfrm>
            <a:off x="1131114" y="3116580"/>
            <a:ext cx="2568852" cy="297180"/>
          </a:xfrm>
          <a:prstGeom prst="rect">
            <a:avLst/>
          </a:prstGeom>
          <a:noFill/>
          <a:ln/>
        </p:spPr>
        <p:txBody>
          <a:bodyPr wrap="square" lIns="25400" tIns="25400" rIns="25400" bIns="25400" rtlCol="0" anchor="t">
            <a:normAutofit fontScale="92500" lnSpcReduction="10000"/>
          </a:bodyPr>
          <a:lstStyle/>
          <a:p>
            <a:pPr marL="0" indent="0" algn="ctr">
              <a:buNone/>
            </a:pPr>
            <a:r>
              <a:rPr lang="en-US" sz="1800" b="1" kern="0" spc="75" dirty="0">
                <a:solidFill>
                  <a:srgbClr val="FFFFFF"/>
                </a:solidFill>
                <a:latin typeface="Arial" pitchFamily="34" charset="0"/>
                <a:ea typeface="Arial" pitchFamily="34" charset="-122"/>
                <a:cs typeface="Arial" pitchFamily="34" charset="-120"/>
              </a:rPr>
              <a:t>COMPLETED · PSM 1</a:t>
            </a:r>
            <a:endParaRPr lang="en-US" sz="1800" dirty="0"/>
          </a:p>
        </p:txBody>
      </p:sp>
      <p:sp>
        <p:nvSpPr>
          <p:cNvPr id="9" name="Shape 6"/>
          <p:cNvSpPr/>
          <p:nvPr/>
        </p:nvSpPr>
        <p:spPr>
          <a:xfrm>
            <a:off x="1796415" y="3547110"/>
            <a:ext cx="1238250" cy="1238250"/>
          </a:xfrm>
          <a:prstGeom prst="ellipse">
            <a:avLst/>
          </a:prstGeom>
          <a:solidFill>
            <a:srgbClr val="74121D"/>
          </a:solidFill>
          <a:ln/>
        </p:spPr>
      </p:sp>
      <p:sp>
        <p:nvSpPr>
          <p:cNvPr id="10" name="Text 7"/>
          <p:cNvSpPr/>
          <p:nvPr/>
        </p:nvSpPr>
        <p:spPr>
          <a:xfrm>
            <a:off x="1758315" y="3547110"/>
            <a:ext cx="1314450" cy="1276350"/>
          </a:xfrm>
          <a:prstGeom prst="rect">
            <a:avLst/>
          </a:prstGeom>
          <a:noFill/>
          <a:ln/>
        </p:spPr>
        <p:txBody>
          <a:bodyPr wrap="square" lIns="25400" tIns="25400" rIns="25400" bIns="25400" rtlCol="0" anchor="ctr">
            <a:normAutofit/>
          </a:bodyPr>
          <a:lstStyle/>
          <a:p>
            <a:pPr marL="0" indent="0" algn="ctr">
              <a:buNone/>
            </a:pPr>
            <a:r>
              <a:rPr lang="en-US" sz="3150" b="1" dirty="0">
                <a:solidFill>
                  <a:srgbClr val="FFFFFF"/>
                </a:solidFill>
                <a:latin typeface="Arial" pitchFamily="34" charset="0"/>
                <a:ea typeface="Arial" pitchFamily="34" charset="-122"/>
                <a:cs typeface="Arial" pitchFamily="34" charset="-120"/>
              </a:rPr>
              <a:t>1</a:t>
            </a:r>
            <a:endParaRPr lang="en-US" sz="3150" dirty="0"/>
          </a:p>
        </p:txBody>
      </p:sp>
      <p:sp>
        <p:nvSpPr>
          <p:cNvPr id="11" name="Text 8"/>
          <p:cNvSpPr/>
          <p:nvPr/>
        </p:nvSpPr>
        <p:spPr>
          <a:xfrm>
            <a:off x="869061" y="4956810"/>
            <a:ext cx="3092958" cy="312420"/>
          </a:xfrm>
          <a:prstGeom prst="rect">
            <a:avLst/>
          </a:prstGeom>
          <a:noFill/>
          <a:ln/>
        </p:spPr>
        <p:txBody>
          <a:bodyPr wrap="square" lIns="25400" tIns="25400" rIns="25400" bIns="25400" rtlCol="0" anchor="t">
            <a:normAutofit lnSpcReduction="10000"/>
          </a:bodyPr>
          <a:lstStyle/>
          <a:p>
            <a:pPr marL="0" indent="0" algn="ctr">
              <a:buNone/>
            </a:pPr>
            <a:r>
              <a:rPr lang="en-US" sz="1875" b="1" kern="0" spc="75" dirty="0">
                <a:solidFill>
                  <a:srgbClr val="74121D"/>
                </a:solidFill>
                <a:latin typeface="Arial" pitchFamily="34" charset="0"/>
                <a:ea typeface="Arial" pitchFamily="34" charset="-122"/>
                <a:cs typeface="Arial" pitchFamily="34" charset="-120"/>
              </a:rPr>
              <a:t>Sprint 1</a:t>
            </a:r>
            <a:endParaRPr lang="en-US" sz="1875" dirty="0"/>
          </a:p>
        </p:txBody>
      </p:sp>
      <p:sp>
        <p:nvSpPr>
          <p:cNvPr id="12" name="Text 9"/>
          <p:cNvSpPr/>
          <p:nvPr/>
        </p:nvSpPr>
        <p:spPr>
          <a:xfrm>
            <a:off x="967473" y="5307330"/>
            <a:ext cx="2896134" cy="96393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5A5A5A"/>
                </a:solidFill>
                <a:latin typeface="Arial" pitchFamily="34" charset="0"/>
                <a:ea typeface="Arial" pitchFamily="34" charset="-122"/>
                <a:cs typeface="Arial" pitchFamily="34" charset="-120"/>
              </a:rPr>
              <a:t>Requirements &amp; Architecture · Stakeholder interviews · VPC blueprint</a:t>
            </a:r>
            <a:endParaRPr lang="en-US" sz="1800" dirty="0"/>
          </a:p>
        </p:txBody>
      </p:sp>
      <p:sp>
        <p:nvSpPr>
          <p:cNvPr id="13" name="Text 10"/>
          <p:cNvSpPr/>
          <p:nvPr/>
        </p:nvSpPr>
        <p:spPr>
          <a:xfrm>
            <a:off x="3878580" y="4775835"/>
            <a:ext cx="514350" cy="541020"/>
          </a:xfrm>
          <a:prstGeom prst="rect">
            <a:avLst/>
          </a:prstGeom>
          <a:noFill/>
          <a:ln/>
        </p:spPr>
        <p:txBody>
          <a:bodyPr wrap="square" lIns="25400" tIns="25400" rIns="25400" bIns="25400" rtlCol="0" anchor="t">
            <a:normAutofit lnSpcReduction="10000"/>
          </a:bodyPr>
          <a:lstStyle/>
          <a:p>
            <a:pPr marL="0" indent="0" algn="l">
              <a:buNone/>
            </a:pPr>
            <a:r>
              <a:rPr lang="en-US" sz="3450" dirty="0">
                <a:solidFill>
                  <a:srgbClr val="B19C7D"/>
                </a:solidFill>
                <a:latin typeface="Arial" pitchFamily="34" charset="0"/>
                <a:ea typeface="Arial" pitchFamily="34" charset="-122"/>
                <a:cs typeface="Arial" pitchFamily="34" charset="-120"/>
              </a:rPr>
              <a:t>→</a:t>
            </a:r>
            <a:endParaRPr lang="en-US" sz="3450" dirty="0"/>
          </a:p>
        </p:txBody>
      </p:sp>
      <p:sp>
        <p:nvSpPr>
          <p:cNvPr id="14" name="Shape 11"/>
          <p:cNvSpPr/>
          <p:nvPr/>
        </p:nvSpPr>
        <p:spPr>
          <a:xfrm>
            <a:off x="4577834" y="3059430"/>
            <a:ext cx="2403753" cy="373380"/>
          </a:xfrm>
          <a:prstGeom prst="rect">
            <a:avLst/>
          </a:prstGeom>
          <a:solidFill>
            <a:srgbClr val="EFE6DA"/>
          </a:solidFill>
          <a:ln/>
        </p:spPr>
      </p:sp>
      <p:sp>
        <p:nvSpPr>
          <p:cNvPr id="15" name="Text 12"/>
          <p:cNvSpPr/>
          <p:nvPr/>
        </p:nvSpPr>
        <p:spPr>
          <a:xfrm>
            <a:off x="4673084" y="3116580"/>
            <a:ext cx="2213253" cy="297180"/>
          </a:xfrm>
          <a:prstGeom prst="rect">
            <a:avLst/>
          </a:prstGeom>
          <a:noFill/>
          <a:ln/>
        </p:spPr>
        <p:txBody>
          <a:bodyPr wrap="square" lIns="25400" tIns="25400" rIns="25400" bIns="25400" rtlCol="0" anchor="t">
            <a:normAutofit fontScale="92500" lnSpcReduction="10000"/>
          </a:bodyPr>
          <a:lstStyle/>
          <a:p>
            <a:pPr marL="0" indent="0" algn="ctr">
              <a:buNone/>
            </a:pPr>
            <a:r>
              <a:rPr lang="en-US" sz="1800" b="1" kern="0" spc="75" dirty="0">
                <a:solidFill>
                  <a:srgbClr val="5A5A5A"/>
                </a:solidFill>
                <a:latin typeface="Arial" pitchFamily="34" charset="0"/>
                <a:ea typeface="Arial" pitchFamily="34" charset="-122"/>
                <a:cs typeface="Arial" pitchFamily="34" charset="-120"/>
              </a:rPr>
              <a:t>PLANNED · PSM 2</a:t>
            </a:r>
            <a:endParaRPr lang="en-US" sz="1800" dirty="0"/>
          </a:p>
        </p:txBody>
      </p:sp>
      <p:sp>
        <p:nvSpPr>
          <p:cNvPr id="16" name="Shape 13"/>
          <p:cNvSpPr/>
          <p:nvPr/>
        </p:nvSpPr>
        <p:spPr>
          <a:xfrm>
            <a:off x="5114925" y="3547110"/>
            <a:ext cx="1329690" cy="1329690"/>
          </a:xfrm>
          <a:prstGeom prst="ellipse">
            <a:avLst/>
          </a:prstGeom>
          <a:solidFill>
            <a:srgbClr val="FBF6EE"/>
          </a:solidFill>
          <a:ln w="45720">
            <a:solidFill>
              <a:srgbClr val="B19C7D"/>
            </a:solidFill>
            <a:prstDash val="dash"/>
          </a:ln>
        </p:spPr>
      </p:sp>
      <p:sp>
        <p:nvSpPr>
          <p:cNvPr id="17" name="Text 14"/>
          <p:cNvSpPr/>
          <p:nvPr/>
        </p:nvSpPr>
        <p:spPr>
          <a:xfrm>
            <a:off x="5122545" y="3592830"/>
            <a:ext cx="1314450" cy="1276350"/>
          </a:xfrm>
          <a:prstGeom prst="rect">
            <a:avLst/>
          </a:prstGeom>
          <a:noFill/>
          <a:ln/>
        </p:spPr>
        <p:txBody>
          <a:bodyPr wrap="square" lIns="25400" tIns="25400" rIns="25400" bIns="25400" rtlCol="0" anchor="ctr">
            <a:normAutofit/>
          </a:bodyPr>
          <a:lstStyle/>
          <a:p>
            <a:pPr marL="0" indent="0" algn="ctr">
              <a:buNone/>
            </a:pPr>
            <a:r>
              <a:rPr lang="en-US" sz="3150" b="1" dirty="0">
                <a:solidFill>
                  <a:srgbClr val="B19C7D"/>
                </a:solidFill>
                <a:latin typeface="Arial" pitchFamily="34" charset="0"/>
                <a:ea typeface="Arial" pitchFamily="34" charset="-122"/>
                <a:cs typeface="Arial" pitchFamily="34" charset="-120"/>
              </a:rPr>
              <a:t>2</a:t>
            </a:r>
            <a:endParaRPr lang="en-US" sz="3150" dirty="0"/>
          </a:p>
        </p:txBody>
      </p:sp>
      <p:sp>
        <p:nvSpPr>
          <p:cNvPr id="18" name="Text 15"/>
          <p:cNvSpPr/>
          <p:nvPr/>
        </p:nvSpPr>
        <p:spPr>
          <a:xfrm>
            <a:off x="4233291" y="5048250"/>
            <a:ext cx="3092958" cy="312420"/>
          </a:xfrm>
          <a:prstGeom prst="rect">
            <a:avLst/>
          </a:prstGeom>
          <a:noFill/>
          <a:ln/>
        </p:spPr>
        <p:txBody>
          <a:bodyPr wrap="square" lIns="25400" tIns="25400" rIns="25400" bIns="25400" rtlCol="0" anchor="t">
            <a:normAutofit lnSpcReduction="10000"/>
          </a:bodyPr>
          <a:lstStyle/>
          <a:p>
            <a:pPr marL="0" indent="0" algn="ctr">
              <a:buNone/>
            </a:pPr>
            <a:r>
              <a:rPr lang="en-US" sz="1875" b="1" kern="0" spc="75" dirty="0">
                <a:solidFill>
                  <a:srgbClr val="B19C7D"/>
                </a:solidFill>
                <a:latin typeface="Arial" pitchFamily="34" charset="0"/>
                <a:ea typeface="Arial" pitchFamily="34" charset="-122"/>
                <a:cs typeface="Arial" pitchFamily="34" charset="-120"/>
              </a:rPr>
              <a:t>Sprint 2</a:t>
            </a:r>
            <a:endParaRPr lang="en-US" sz="1875" dirty="0"/>
          </a:p>
        </p:txBody>
      </p:sp>
      <p:sp>
        <p:nvSpPr>
          <p:cNvPr id="19" name="Text 16"/>
          <p:cNvSpPr/>
          <p:nvPr/>
        </p:nvSpPr>
        <p:spPr>
          <a:xfrm>
            <a:off x="4331703" y="5398770"/>
            <a:ext cx="2896134" cy="65532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5A5A5A"/>
                </a:solidFill>
                <a:latin typeface="Arial" pitchFamily="34" charset="0"/>
                <a:ea typeface="Arial" pitchFamily="34" charset="-122"/>
                <a:cs typeface="Arial" pitchFamily="34" charset="-120"/>
              </a:rPr>
              <a:t>Network &amp; DB Layer · VPC · RDS PostgreSQL · IAM</a:t>
            </a:r>
            <a:endParaRPr lang="en-US" sz="1800" dirty="0"/>
          </a:p>
        </p:txBody>
      </p:sp>
      <p:sp>
        <p:nvSpPr>
          <p:cNvPr id="20" name="Text 17"/>
          <p:cNvSpPr/>
          <p:nvPr/>
        </p:nvSpPr>
        <p:spPr>
          <a:xfrm>
            <a:off x="7242810" y="4775835"/>
            <a:ext cx="514350" cy="541020"/>
          </a:xfrm>
          <a:prstGeom prst="rect">
            <a:avLst/>
          </a:prstGeom>
          <a:noFill/>
          <a:ln/>
        </p:spPr>
        <p:txBody>
          <a:bodyPr wrap="square" lIns="25400" tIns="25400" rIns="25400" bIns="25400" rtlCol="0" anchor="t">
            <a:normAutofit lnSpcReduction="10000"/>
          </a:bodyPr>
          <a:lstStyle/>
          <a:p>
            <a:pPr marL="0" indent="0" algn="l">
              <a:buNone/>
            </a:pPr>
            <a:r>
              <a:rPr lang="en-US" sz="3450" dirty="0">
                <a:solidFill>
                  <a:srgbClr val="B19C7D"/>
                </a:solidFill>
                <a:latin typeface="Arial" pitchFamily="34" charset="0"/>
                <a:ea typeface="Arial" pitchFamily="34" charset="-122"/>
                <a:cs typeface="Arial" pitchFamily="34" charset="-120"/>
              </a:rPr>
              <a:t>→</a:t>
            </a:r>
            <a:endParaRPr lang="en-US" sz="3450" dirty="0"/>
          </a:p>
        </p:txBody>
      </p:sp>
      <p:sp>
        <p:nvSpPr>
          <p:cNvPr id="21" name="Shape 18"/>
          <p:cNvSpPr/>
          <p:nvPr/>
        </p:nvSpPr>
        <p:spPr>
          <a:xfrm>
            <a:off x="8479155" y="3611880"/>
            <a:ext cx="1329690" cy="1329690"/>
          </a:xfrm>
          <a:prstGeom prst="ellipse">
            <a:avLst/>
          </a:prstGeom>
          <a:solidFill>
            <a:srgbClr val="FBF6EE"/>
          </a:solidFill>
          <a:ln w="45720">
            <a:solidFill>
              <a:srgbClr val="B19C7D"/>
            </a:solidFill>
            <a:prstDash val="dash"/>
          </a:ln>
        </p:spPr>
      </p:sp>
      <p:sp>
        <p:nvSpPr>
          <p:cNvPr id="22" name="Text 19"/>
          <p:cNvSpPr/>
          <p:nvPr/>
        </p:nvSpPr>
        <p:spPr>
          <a:xfrm>
            <a:off x="8486775" y="3657600"/>
            <a:ext cx="1314450" cy="1276350"/>
          </a:xfrm>
          <a:prstGeom prst="rect">
            <a:avLst/>
          </a:prstGeom>
          <a:noFill/>
          <a:ln/>
        </p:spPr>
        <p:txBody>
          <a:bodyPr wrap="square" lIns="25400" tIns="25400" rIns="25400" bIns="25400" rtlCol="0" anchor="ctr">
            <a:normAutofit/>
          </a:bodyPr>
          <a:lstStyle/>
          <a:p>
            <a:pPr marL="0" indent="0" algn="ctr">
              <a:buNone/>
            </a:pPr>
            <a:r>
              <a:rPr lang="en-US" sz="3150" b="1" dirty="0">
                <a:solidFill>
                  <a:srgbClr val="B19C7D"/>
                </a:solidFill>
                <a:latin typeface="Arial" pitchFamily="34" charset="0"/>
                <a:ea typeface="Arial" pitchFamily="34" charset="-122"/>
                <a:cs typeface="Arial" pitchFamily="34" charset="-120"/>
              </a:rPr>
              <a:t>3</a:t>
            </a:r>
            <a:endParaRPr lang="en-US" sz="3150" dirty="0"/>
          </a:p>
        </p:txBody>
      </p:sp>
      <p:sp>
        <p:nvSpPr>
          <p:cNvPr id="23" name="Text 20"/>
          <p:cNvSpPr/>
          <p:nvPr/>
        </p:nvSpPr>
        <p:spPr>
          <a:xfrm>
            <a:off x="7597521" y="5113020"/>
            <a:ext cx="3092958" cy="312420"/>
          </a:xfrm>
          <a:prstGeom prst="rect">
            <a:avLst/>
          </a:prstGeom>
          <a:noFill/>
          <a:ln/>
        </p:spPr>
        <p:txBody>
          <a:bodyPr wrap="square" lIns="25400" tIns="25400" rIns="25400" bIns="25400" rtlCol="0" anchor="t">
            <a:normAutofit lnSpcReduction="10000"/>
          </a:bodyPr>
          <a:lstStyle/>
          <a:p>
            <a:pPr marL="0" indent="0" algn="ctr">
              <a:buNone/>
            </a:pPr>
            <a:r>
              <a:rPr lang="en-US" sz="1875" b="1" kern="0" spc="75" dirty="0">
                <a:solidFill>
                  <a:srgbClr val="B19C7D"/>
                </a:solidFill>
                <a:latin typeface="Arial" pitchFamily="34" charset="0"/>
                <a:ea typeface="Arial" pitchFamily="34" charset="-122"/>
                <a:cs typeface="Arial" pitchFamily="34" charset="-120"/>
              </a:rPr>
              <a:t>Sprint 3</a:t>
            </a:r>
            <a:endParaRPr lang="en-US" sz="1875" dirty="0"/>
          </a:p>
        </p:txBody>
      </p:sp>
      <p:sp>
        <p:nvSpPr>
          <p:cNvPr id="24" name="Text 21"/>
          <p:cNvSpPr/>
          <p:nvPr/>
        </p:nvSpPr>
        <p:spPr>
          <a:xfrm>
            <a:off x="7695934" y="5463540"/>
            <a:ext cx="2896134" cy="65532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5A5A5A"/>
                </a:solidFill>
                <a:latin typeface="Arial" pitchFamily="34" charset="0"/>
                <a:ea typeface="Arial" pitchFamily="34" charset="-122"/>
                <a:cs typeface="Arial" pitchFamily="34" charset="-120"/>
              </a:rPr>
              <a:t>Application Layer · Node.js API · React · JWT auth</a:t>
            </a:r>
            <a:endParaRPr lang="en-US" sz="1800" dirty="0"/>
          </a:p>
        </p:txBody>
      </p:sp>
      <p:sp>
        <p:nvSpPr>
          <p:cNvPr id="25" name="Text 22"/>
          <p:cNvSpPr/>
          <p:nvPr/>
        </p:nvSpPr>
        <p:spPr>
          <a:xfrm>
            <a:off x="10607040" y="4775835"/>
            <a:ext cx="514350" cy="541020"/>
          </a:xfrm>
          <a:prstGeom prst="rect">
            <a:avLst/>
          </a:prstGeom>
          <a:noFill/>
          <a:ln/>
        </p:spPr>
        <p:txBody>
          <a:bodyPr wrap="square" lIns="25400" tIns="25400" rIns="25400" bIns="25400" rtlCol="0" anchor="t">
            <a:normAutofit lnSpcReduction="10000"/>
          </a:bodyPr>
          <a:lstStyle/>
          <a:p>
            <a:pPr marL="0" indent="0" algn="l">
              <a:buNone/>
            </a:pPr>
            <a:r>
              <a:rPr lang="en-US" sz="3450" dirty="0">
                <a:solidFill>
                  <a:srgbClr val="B19C7D"/>
                </a:solidFill>
                <a:latin typeface="Arial" pitchFamily="34" charset="0"/>
                <a:ea typeface="Arial" pitchFamily="34" charset="-122"/>
                <a:cs typeface="Arial" pitchFamily="34" charset="-120"/>
              </a:rPr>
              <a:t>→</a:t>
            </a:r>
            <a:endParaRPr lang="en-US" sz="3450" dirty="0"/>
          </a:p>
        </p:txBody>
      </p:sp>
      <p:sp>
        <p:nvSpPr>
          <p:cNvPr id="26" name="Shape 23"/>
          <p:cNvSpPr/>
          <p:nvPr/>
        </p:nvSpPr>
        <p:spPr>
          <a:xfrm>
            <a:off x="11843385" y="3611880"/>
            <a:ext cx="1329690" cy="1329690"/>
          </a:xfrm>
          <a:prstGeom prst="ellipse">
            <a:avLst/>
          </a:prstGeom>
          <a:solidFill>
            <a:srgbClr val="FBF6EE"/>
          </a:solidFill>
          <a:ln w="45720">
            <a:solidFill>
              <a:srgbClr val="B19C7D"/>
            </a:solidFill>
            <a:prstDash val="dash"/>
          </a:ln>
        </p:spPr>
      </p:sp>
      <p:sp>
        <p:nvSpPr>
          <p:cNvPr id="27" name="Text 24"/>
          <p:cNvSpPr/>
          <p:nvPr/>
        </p:nvSpPr>
        <p:spPr>
          <a:xfrm>
            <a:off x="11851005" y="3657600"/>
            <a:ext cx="1314450" cy="1276350"/>
          </a:xfrm>
          <a:prstGeom prst="rect">
            <a:avLst/>
          </a:prstGeom>
          <a:noFill/>
          <a:ln/>
        </p:spPr>
        <p:txBody>
          <a:bodyPr wrap="square" lIns="25400" tIns="25400" rIns="25400" bIns="25400" rtlCol="0" anchor="ctr">
            <a:normAutofit/>
          </a:bodyPr>
          <a:lstStyle/>
          <a:p>
            <a:pPr marL="0" indent="0" algn="ctr">
              <a:buNone/>
            </a:pPr>
            <a:r>
              <a:rPr lang="en-US" sz="3150" b="1" dirty="0">
                <a:solidFill>
                  <a:srgbClr val="B19C7D"/>
                </a:solidFill>
                <a:latin typeface="Arial" pitchFamily="34" charset="0"/>
                <a:ea typeface="Arial" pitchFamily="34" charset="-122"/>
                <a:cs typeface="Arial" pitchFamily="34" charset="-120"/>
              </a:rPr>
              <a:t>4</a:t>
            </a:r>
            <a:endParaRPr lang="en-US" sz="3150" dirty="0"/>
          </a:p>
        </p:txBody>
      </p:sp>
      <p:sp>
        <p:nvSpPr>
          <p:cNvPr id="28" name="Text 25"/>
          <p:cNvSpPr/>
          <p:nvPr/>
        </p:nvSpPr>
        <p:spPr>
          <a:xfrm>
            <a:off x="10961751" y="5113020"/>
            <a:ext cx="3092958" cy="312420"/>
          </a:xfrm>
          <a:prstGeom prst="rect">
            <a:avLst/>
          </a:prstGeom>
          <a:noFill/>
          <a:ln/>
        </p:spPr>
        <p:txBody>
          <a:bodyPr wrap="square" lIns="25400" tIns="25400" rIns="25400" bIns="25400" rtlCol="0" anchor="t">
            <a:normAutofit lnSpcReduction="10000"/>
          </a:bodyPr>
          <a:lstStyle/>
          <a:p>
            <a:pPr marL="0" indent="0" algn="ctr">
              <a:buNone/>
            </a:pPr>
            <a:r>
              <a:rPr lang="en-US" sz="1875" b="1" kern="0" spc="75" dirty="0">
                <a:solidFill>
                  <a:srgbClr val="B19C7D"/>
                </a:solidFill>
                <a:latin typeface="Arial" pitchFamily="34" charset="0"/>
                <a:ea typeface="Arial" pitchFamily="34" charset="-122"/>
                <a:cs typeface="Arial" pitchFamily="34" charset="-120"/>
              </a:rPr>
              <a:t>Sprint 4</a:t>
            </a:r>
            <a:endParaRPr lang="en-US" sz="1875" dirty="0"/>
          </a:p>
        </p:txBody>
      </p:sp>
      <p:sp>
        <p:nvSpPr>
          <p:cNvPr id="29" name="Text 26"/>
          <p:cNvSpPr/>
          <p:nvPr/>
        </p:nvSpPr>
        <p:spPr>
          <a:xfrm>
            <a:off x="11060163" y="5463540"/>
            <a:ext cx="2896134" cy="65532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5A5A5A"/>
                </a:solidFill>
                <a:latin typeface="Arial" pitchFamily="34" charset="0"/>
                <a:ea typeface="Arial" pitchFamily="34" charset="-122"/>
                <a:cs typeface="Arial" pitchFamily="34" charset="-120"/>
              </a:rPr>
              <a:t>Security Integration · Pipeline · RLS · RBAC</a:t>
            </a:r>
            <a:endParaRPr lang="en-US" sz="1800" dirty="0"/>
          </a:p>
        </p:txBody>
      </p:sp>
      <p:sp>
        <p:nvSpPr>
          <p:cNvPr id="30" name="Text 27"/>
          <p:cNvSpPr/>
          <p:nvPr/>
        </p:nvSpPr>
        <p:spPr>
          <a:xfrm>
            <a:off x="13971270" y="4775835"/>
            <a:ext cx="514350" cy="541020"/>
          </a:xfrm>
          <a:prstGeom prst="rect">
            <a:avLst/>
          </a:prstGeom>
          <a:noFill/>
          <a:ln/>
        </p:spPr>
        <p:txBody>
          <a:bodyPr wrap="square" lIns="25400" tIns="25400" rIns="25400" bIns="25400" rtlCol="0" anchor="t">
            <a:normAutofit lnSpcReduction="10000"/>
          </a:bodyPr>
          <a:lstStyle/>
          <a:p>
            <a:pPr marL="0" indent="0" algn="l">
              <a:buNone/>
            </a:pPr>
            <a:r>
              <a:rPr lang="en-US" sz="3450" dirty="0">
                <a:solidFill>
                  <a:srgbClr val="B19C7D"/>
                </a:solidFill>
                <a:latin typeface="Arial" pitchFamily="34" charset="0"/>
                <a:ea typeface="Arial" pitchFamily="34" charset="-122"/>
                <a:cs typeface="Arial" pitchFamily="34" charset="-120"/>
              </a:rPr>
              <a:t>→</a:t>
            </a:r>
            <a:endParaRPr lang="en-US" sz="3450" dirty="0"/>
          </a:p>
        </p:txBody>
      </p:sp>
      <p:sp>
        <p:nvSpPr>
          <p:cNvPr id="31" name="Shape 28"/>
          <p:cNvSpPr/>
          <p:nvPr/>
        </p:nvSpPr>
        <p:spPr>
          <a:xfrm>
            <a:off x="15207615" y="3611880"/>
            <a:ext cx="1329690" cy="1329690"/>
          </a:xfrm>
          <a:prstGeom prst="ellipse">
            <a:avLst/>
          </a:prstGeom>
          <a:solidFill>
            <a:srgbClr val="FBF6EE"/>
          </a:solidFill>
          <a:ln w="45720">
            <a:solidFill>
              <a:srgbClr val="B19C7D"/>
            </a:solidFill>
            <a:prstDash val="dash"/>
          </a:ln>
        </p:spPr>
      </p:sp>
      <p:sp>
        <p:nvSpPr>
          <p:cNvPr id="32" name="Text 29"/>
          <p:cNvSpPr/>
          <p:nvPr/>
        </p:nvSpPr>
        <p:spPr>
          <a:xfrm>
            <a:off x="15215235" y="3657600"/>
            <a:ext cx="1314450" cy="1276350"/>
          </a:xfrm>
          <a:prstGeom prst="rect">
            <a:avLst/>
          </a:prstGeom>
          <a:noFill/>
          <a:ln/>
        </p:spPr>
        <p:txBody>
          <a:bodyPr wrap="square" lIns="25400" tIns="25400" rIns="25400" bIns="25400" rtlCol="0" anchor="ctr">
            <a:normAutofit/>
          </a:bodyPr>
          <a:lstStyle/>
          <a:p>
            <a:pPr marL="0" indent="0" algn="ctr">
              <a:buNone/>
            </a:pPr>
            <a:r>
              <a:rPr lang="en-US" sz="3150" b="1" dirty="0">
                <a:solidFill>
                  <a:srgbClr val="B19C7D"/>
                </a:solidFill>
                <a:latin typeface="Arial" pitchFamily="34" charset="0"/>
                <a:ea typeface="Arial" pitchFamily="34" charset="-122"/>
                <a:cs typeface="Arial" pitchFamily="34" charset="-120"/>
              </a:rPr>
              <a:t>5</a:t>
            </a:r>
            <a:endParaRPr lang="en-US" sz="3150" dirty="0"/>
          </a:p>
        </p:txBody>
      </p:sp>
      <p:sp>
        <p:nvSpPr>
          <p:cNvPr id="33" name="Text 30"/>
          <p:cNvSpPr/>
          <p:nvPr/>
        </p:nvSpPr>
        <p:spPr>
          <a:xfrm>
            <a:off x="14325981" y="5113020"/>
            <a:ext cx="3092958" cy="312420"/>
          </a:xfrm>
          <a:prstGeom prst="rect">
            <a:avLst/>
          </a:prstGeom>
          <a:noFill/>
          <a:ln/>
        </p:spPr>
        <p:txBody>
          <a:bodyPr wrap="square" lIns="25400" tIns="25400" rIns="25400" bIns="25400" rtlCol="0" anchor="t">
            <a:normAutofit lnSpcReduction="10000"/>
          </a:bodyPr>
          <a:lstStyle/>
          <a:p>
            <a:pPr marL="0" indent="0" algn="ctr">
              <a:buNone/>
            </a:pPr>
            <a:r>
              <a:rPr lang="en-US" sz="1875" b="1" kern="0" spc="75" dirty="0">
                <a:solidFill>
                  <a:srgbClr val="B19C7D"/>
                </a:solidFill>
                <a:latin typeface="Arial" pitchFamily="34" charset="0"/>
                <a:ea typeface="Arial" pitchFamily="34" charset="-122"/>
                <a:cs typeface="Arial" pitchFamily="34" charset="-120"/>
              </a:rPr>
              <a:t>Sprint 5</a:t>
            </a:r>
            <a:endParaRPr lang="en-US" sz="1875" dirty="0"/>
          </a:p>
        </p:txBody>
      </p:sp>
      <p:sp>
        <p:nvSpPr>
          <p:cNvPr id="34" name="Text 31"/>
          <p:cNvSpPr/>
          <p:nvPr/>
        </p:nvSpPr>
        <p:spPr>
          <a:xfrm>
            <a:off x="14424394" y="5463540"/>
            <a:ext cx="2896134" cy="65532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5A5A5A"/>
                </a:solidFill>
                <a:latin typeface="Arial" pitchFamily="34" charset="0"/>
                <a:ea typeface="Arial" pitchFamily="34" charset="-122"/>
                <a:cs typeface="Arial" pitchFamily="34" charset="-120"/>
              </a:rPr>
              <a:t>Testing &amp; Documentation · PSM 2 report · Viva</a:t>
            </a:r>
            <a:endParaRPr lang="en-US" sz="1800" dirty="0"/>
          </a:p>
        </p:txBody>
      </p:sp>
      <p:sp>
        <p:nvSpPr>
          <p:cNvPr id="35" name="Shape 32"/>
          <p:cNvSpPr/>
          <p:nvPr/>
        </p:nvSpPr>
        <p:spPr>
          <a:xfrm>
            <a:off x="952500" y="6747510"/>
            <a:ext cx="16383000" cy="1398270"/>
          </a:xfrm>
          <a:prstGeom prst="rect">
            <a:avLst/>
          </a:prstGeom>
          <a:solidFill>
            <a:srgbClr val="FBF6EE"/>
          </a:solidFill>
          <a:ln/>
        </p:spPr>
      </p:sp>
      <p:sp>
        <p:nvSpPr>
          <p:cNvPr id="36" name="Shape 33"/>
          <p:cNvSpPr/>
          <p:nvPr/>
        </p:nvSpPr>
        <p:spPr>
          <a:xfrm>
            <a:off x="952500" y="6747510"/>
            <a:ext cx="76200" cy="1398270"/>
          </a:xfrm>
          <a:prstGeom prst="rect">
            <a:avLst/>
          </a:prstGeom>
          <a:solidFill>
            <a:srgbClr val="74121D"/>
          </a:solidFill>
          <a:ln/>
        </p:spPr>
      </p:sp>
      <p:sp>
        <p:nvSpPr>
          <p:cNvPr id="37" name="Text 34"/>
          <p:cNvSpPr/>
          <p:nvPr/>
        </p:nvSpPr>
        <p:spPr>
          <a:xfrm>
            <a:off x="1371600" y="6976110"/>
            <a:ext cx="820597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13" dirty="0">
                <a:solidFill>
                  <a:srgbClr val="74121D"/>
                </a:solidFill>
                <a:latin typeface="Arial" pitchFamily="34" charset="0"/>
                <a:ea typeface="Arial" pitchFamily="34" charset="-122"/>
                <a:cs typeface="Arial" pitchFamily="34" charset="-120"/>
              </a:rPr>
              <a:t>WHY AGILE + DEVSECOPS</a:t>
            </a:r>
            <a:endParaRPr lang="en-US" sz="1650" dirty="0"/>
          </a:p>
        </p:txBody>
      </p:sp>
      <p:sp>
        <p:nvSpPr>
          <p:cNvPr id="38" name="Text 35"/>
          <p:cNvSpPr/>
          <p:nvPr/>
        </p:nvSpPr>
        <p:spPr>
          <a:xfrm>
            <a:off x="1371600" y="7277100"/>
            <a:ext cx="7683780"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3A3A3A"/>
                </a:solidFill>
                <a:latin typeface="Arial" pitchFamily="34" charset="0"/>
                <a:ea typeface="Arial" pitchFamily="34" charset="-122"/>
                <a:cs typeface="Arial" pitchFamily="34" charset="-120"/>
              </a:rPr>
              <a:t>Security requirements evolved iteratively through 2 stakeholder interviews · security gates automated at every sprint.</a:t>
            </a:r>
            <a:endParaRPr lang="en-US" sz="1800" dirty="0"/>
          </a:p>
        </p:txBody>
      </p:sp>
      <p:sp>
        <p:nvSpPr>
          <p:cNvPr id="39" name="Shape 36"/>
          <p:cNvSpPr/>
          <p:nvPr/>
        </p:nvSpPr>
        <p:spPr>
          <a:xfrm>
            <a:off x="9174480" y="6976110"/>
            <a:ext cx="15240" cy="941070"/>
          </a:xfrm>
          <a:prstGeom prst="rect">
            <a:avLst/>
          </a:prstGeom>
          <a:solidFill>
            <a:srgbClr val="E0D6C7"/>
          </a:solidFill>
          <a:ln/>
        </p:spPr>
      </p:sp>
      <p:sp>
        <p:nvSpPr>
          <p:cNvPr id="40" name="Text 37"/>
          <p:cNvSpPr/>
          <p:nvPr/>
        </p:nvSpPr>
        <p:spPr>
          <a:xfrm>
            <a:off x="9532620" y="6976110"/>
            <a:ext cx="820597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13" dirty="0">
                <a:solidFill>
                  <a:srgbClr val="74121D"/>
                </a:solidFill>
                <a:latin typeface="Arial" pitchFamily="34" charset="0"/>
                <a:ea typeface="Arial" pitchFamily="34" charset="-122"/>
                <a:cs typeface="Arial" pitchFamily="34" charset="-120"/>
              </a:rPr>
              <a:t>REQUIREMENTS (PSM 1)</a:t>
            </a:r>
            <a:endParaRPr lang="en-US" sz="1650" dirty="0"/>
          </a:p>
        </p:txBody>
      </p:sp>
      <p:sp>
        <p:nvSpPr>
          <p:cNvPr id="41" name="Text 38"/>
          <p:cNvSpPr/>
          <p:nvPr/>
        </p:nvSpPr>
        <p:spPr>
          <a:xfrm>
            <a:off x="9532620" y="7277100"/>
            <a:ext cx="7683780"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74121D"/>
                </a:solidFill>
                <a:latin typeface="Arial" pitchFamily="34" charset="0"/>
                <a:ea typeface="Arial" pitchFamily="34" charset="-122"/>
                <a:cs typeface="Arial" pitchFamily="34" charset="-120"/>
              </a:rPr>
              <a:t>12 Functional </a:t>
            </a:r>
            <a:r>
              <a:rPr lang="en-US" sz="1800" dirty="0">
                <a:solidFill>
                  <a:srgbClr val="3A3A3A"/>
                </a:solidFill>
                <a:latin typeface="Arial" pitchFamily="34" charset="0"/>
                <a:ea typeface="Arial" pitchFamily="34" charset="-122"/>
                <a:cs typeface="Arial" pitchFamily="34" charset="-120"/>
              </a:rPr>
              <a:t>requirements · </a:t>
            </a:r>
            <a:r>
              <a:rPr lang="en-US" sz="1800" b="1" dirty="0">
                <a:solidFill>
                  <a:srgbClr val="74121D"/>
                </a:solidFill>
                <a:latin typeface="Arial" pitchFamily="34" charset="0"/>
                <a:ea typeface="Arial" pitchFamily="34" charset="-122"/>
                <a:cs typeface="Arial" pitchFamily="34" charset="-120"/>
              </a:rPr>
              <a:t>11 Non-Functional </a:t>
            </a:r>
            <a:r>
              <a:rPr lang="en-US" sz="1800" dirty="0">
                <a:solidFill>
                  <a:srgbClr val="3A3A3A"/>
                </a:solidFill>
                <a:latin typeface="Arial" pitchFamily="34" charset="0"/>
                <a:ea typeface="Arial" pitchFamily="34" charset="-122"/>
                <a:cs typeface="Arial" pitchFamily="34" charset="-120"/>
              </a:rPr>
              <a:t>requirements · 2 stakeholder interviews</a:t>
            </a:r>
            <a:endParaRPr lang="en-US" sz="1800" dirty="0"/>
          </a:p>
        </p:txBody>
      </p:sp>
      <p:sp>
        <p:nvSpPr>
          <p:cNvPr id="42" name="Text 39"/>
          <p:cNvSpPr/>
          <p:nvPr/>
        </p:nvSpPr>
        <p:spPr>
          <a:xfrm>
            <a:off x="952500" y="9742170"/>
            <a:ext cx="553604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Secure AWS Patient Data System · PSM 1 Viva</a:t>
            </a:r>
            <a:endParaRPr lang="en-US" sz="1800" dirty="0"/>
          </a:p>
        </p:txBody>
      </p:sp>
      <p:sp>
        <p:nvSpPr>
          <p:cNvPr id="43" name="Text 40"/>
          <p:cNvSpPr/>
          <p:nvPr/>
        </p:nvSpPr>
        <p:spPr>
          <a:xfrm>
            <a:off x="16603027" y="9742170"/>
            <a:ext cx="80867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07 / 14</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icPr>
            <a:picLocks noChangeAspect="1"/>
          </p:cNvPicPr>
          <p:nvPr/>
        </p:nvPicPr>
        <p:blipFill>
          <a:blip r:embed="rId3"/>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B19C7D"/>
                </a:solidFill>
                <a:latin typeface="Arial" pitchFamily="34" charset="0"/>
                <a:ea typeface="Arial" pitchFamily="34" charset="-122"/>
                <a:cs typeface="Arial" pitchFamily="34" charset="-120"/>
              </a:rPr>
              <a:t>CHAPTER 4.3.1</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37" dirty="0">
                <a:solidFill>
                  <a:srgbClr val="74121D"/>
                </a:solidFill>
                <a:latin typeface="Arial" pitchFamily="34" charset="0"/>
                <a:ea typeface="Arial" pitchFamily="34" charset="-122"/>
                <a:cs typeface="Arial" pitchFamily="34" charset="-120"/>
              </a:rPr>
              <a:t>System Architecture — Three-Tier AWS VPC</a:t>
            </a:r>
            <a:endParaRPr lang="en-US" sz="4500" dirty="0"/>
          </a:p>
        </p:txBody>
      </p:sp>
      <p:sp>
        <p:nvSpPr>
          <p:cNvPr id="6" name="Shape 3"/>
          <p:cNvSpPr/>
          <p:nvPr/>
        </p:nvSpPr>
        <p:spPr>
          <a:xfrm>
            <a:off x="952500" y="2821305"/>
            <a:ext cx="7574637" cy="1630680"/>
          </a:xfrm>
          <a:prstGeom prst="roundRect">
            <a:avLst>
              <a:gd name="adj" fmla="val 3505"/>
            </a:avLst>
          </a:prstGeom>
          <a:solidFill>
            <a:srgbClr val="74121D"/>
          </a:solidFill>
          <a:ln/>
        </p:spPr>
      </p:sp>
      <p:sp>
        <p:nvSpPr>
          <p:cNvPr id="7" name="Text 4"/>
          <p:cNvSpPr/>
          <p:nvPr/>
        </p:nvSpPr>
        <p:spPr>
          <a:xfrm>
            <a:off x="1257300" y="3088005"/>
            <a:ext cx="7661541"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E7D7C1"/>
                </a:solidFill>
                <a:latin typeface="Arial" pitchFamily="34" charset="0"/>
                <a:ea typeface="Arial" pitchFamily="34" charset="-122"/>
                <a:cs typeface="Arial" pitchFamily="34" charset="-120"/>
              </a:rPr>
              <a:t>PUBLIC TIER</a:t>
            </a:r>
            <a:endParaRPr lang="en-US" sz="1800" dirty="0"/>
          </a:p>
        </p:txBody>
      </p:sp>
      <p:sp>
        <p:nvSpPr>
          <p:cNvPr id="8" name="Text 5"/>
          <p:cNvSpPr/>
          <p:nvPr/>
        </p:nvSpPr>
        <p:spPr>
          <a:xfrm>
            <a:off x="1257300" y="3442335"/>
            <a:ext cx="7173988" cy="7810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FFFFFF"/>
                </a:solidFill>
                <a:latin typeface="Arial" pitchFamily="34" charset="0"/>
                <a:ea typeface="Arial" pitchFamily="34" charset="-122"/>
                <a:cs typeface="Arial" pitchFamily="34" charset="-120"/>
              </a:rPr>
              <a:t>Application Load Balancer (HTTPS · port 443 only) NAT Gateway (private subnet outbound)</a:t>
            </a:r>
            <a:endParaRPr lang="en-US" sz="1950" dirty="0"/>
          </a:p>
        </p:txBody>
      </p:sp>
      <p:sp>
        <p:nvSpPr>
          <p:cNvPr id="9" name="Shape 6"/>
          <p:cNvSpPr/>
          <p:nvPr/>
        </p:nvSpPr>
        <p:spPr>
          <a:xfrm>
            <a:off x="952500" y="4680585"/>
            <a:ext cx="7574637" cy="1661160"/>
          </a:xfrm>
          <a:prstGeom prst="rect">
            <a:avLst/>
          </a:prstGeom>
          <a:solidFill>
            <a:srgbClr val="FBF6EE"/>
          </a:solidFill>
          <a:ln/>
        </p:spPr>
      </p:sp>
      <p:sp>
        <p:nvSpPr>
          <p:cNvPr id="10" name="Shape 7"/>
          <p:cNvSpPr/>
          <p:nvPr/>
        </p:nvSpPr>
        <p:spPr>
          <a:xfrm>
            <a:off x="952500" y="6326505"/>
            <a:ext cx="7574637" cy="15240"/>
          </a:xfrm>
          <a:prstGeom prst="rect">
            <a:avLst/>
          </a:prstGeom>
          <a:solidFill>
            <a:srgbClr val="E0D6C7"/>
          </a:solidFill>
          <a:ln/>
        </p:spPr>
      </p:sp>
      <p:sp>
        <p:nvSpPr>
          <p:cNvPr id="11" name="Shape 8"/>
          <p:cNvSpPr/>
          <p:nvPr/>
        </p:nvSpPr>
        <p:spPr>
          <a:xfrm>
            <a:off x="952500" y="4680585"/>
            <a:ext cx="7574637" cy="15240"/>
          </a:xfrm>
          <a:prstGeom prst="rect">
            <a:avLst/>
          </a:prstGeom>
          <a:solidFill>
            <a:srgbClr val="E0D6C7"/>
          </a:solidFill>
          <a:ln/>
        </p:spPr>
      </p:sp>
      <p:sp>
        <p:nvSpPr>
          <p:cNvPr id="12" name="Shape 9"/>
          <p:cNvSpPr/>
          <p:nvPr/>
        </p:nvSpPr>
        <p:spPr>
          <a:xfrm>
            <a:off x="952500" y="4680585"/>
            <a:ext cx="76200" cy="1661160"/>
          </a:xfrm>
          <a:prstGeom prst="rect">
            <a:avLst/>
          </a:prstGeom>
          <a:solidFill>
            <a:srgbClr val="74121D"/>
          </a:solidFill>
          <a:ln/>
        </p:spPr>
      </p:sp>
      <p:sp>
        <p:nvSpPr>
          <p:cNvPr id="13" name="Shape 10"/>
          <p:cNvSpPr/>
          <p:nvPr/>
        </p:nvSpPr>
        <p:spPr>
          <a:xfrm>
            <a:off x="8511897" y="4680585"/>
            <a:ext cx="15240" cy="1661160"/>
          </a:xfrm>
          <a:prstGeom prst="rect">
            <a:avLst/>
          </a:prstGeom>
          <a:solidFill>
            <a:srgbClr val="E0D6C7"/>
          </a:solidFill>
          <a:ln/>
        </p:spPr>
      </p:sp>
      <p:sp>
        <p:nvSpPr>
          <p:cNvPr id="14" name="Text 11"/>
          <p:cNvSpPr/>
          <p:nvPr/>
        </p:nvSpPr>
        <p:spPr>
          <a:xfrm>
            <a:off x="1333500" y="4962525"/>
            <a:ext cx="7560957"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74121D"/>
                </a:solidFill>
                <a:latin typeface="Arial" pitchFamily="34" charset="0"/>
                <a:ea typeface="Arial" pitchFamily="34" charset="-122"/>
                <a:cs typeface="Arial" pitchFamily="34" charset="-120"/>
              </a:rPr>
              <a:t>PRIVATE APPLICATION TIER</a:t>
            </a:r>
            <a:endParaRPr lang="en-US" sz="1800" dirty="0"/>
          </a:p>
        </p:txBody>
      </p:sp>
      <p:sp>
        <p:nvSpPr>
          <p:cNvPr id="15" name="Text 12"/>
          <p:cNvSpPr/>
          <p:nvPr/>
        </p:nvSpPr>
        <p:spPr>
          <a:xfrm>
            <a:off x="1333500" y="5316855"/>
            <a:ext cx="7079805" cy="7810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3A3A3A"/>
                </a:solidFill>
                <a:latin typeface="Arial" pitchFamily="34" charset="0"/>
                <a:ea typeface="Arial" pitchFamily="34" charset="-122"/>
                <a:cs typeface="Arial" pitchFamily="34" charset="-120"/>
              </a:rPr>
              <a:t>EC2 — Node.js / Express REST API S3 + CloudFront — React static frontend</a:t>
            </a:r>
            <a:endParaRPr lang="en-US" sz="1950" dirty="0"/>
          </a:p>
        </p:txBody>
      </p:sp>
      <p:sp>
        <p:nvSpPr>
          <p:cNvPr id="16" name="Shape 13"/>
          <p:cNvSpPr/>
          <p:nvPr/>
        </p:nvSpPr>
        <p:spPr>
          <a:xfrm>
            <a:off x="952500" y="6570345"/>
            <a:ext cx="7574637" cy="1661160"/>
          </a:xfrm>
          <a:prstGeom prst="rect">
            <a:avLst/>
          </a:prstGeom>
          <a:solidFill>
            <a:srgbClr val="FBF6EE"/>
          </a:solidFill>
          <a:ln/>
        </p:spPr>
      </p:sp>
      <p:sp>
        <p:nvSpPr>
          <p:cNvPr id="17" name="Shape 14"/>
          <p:cNvSpPr/>
          <p:nvPr/>
        </p:nvSpPr>
        <p:spPr>
          <a:xfrm>
            <a:off x="952500" y="8216265"/>
            <a:ext cx="7574637" cy="15240"/>
          </a:xfrm>
          <a:prstGeom prst="rect">
            <a:avLst/>
          </a:prstGeom>
          <a:solidFill>
            <a:srgbClr val="E0D6C7"/>
          </a:solidFill>
          <a:ln/>
        </p:spPr>
      </p:sp>
      <p:sp>
        <p:nvSpPr>
          <p:cNvPr id="18" name="Shape 15"/>
          <p:cNvSpPr/>
          <p:nvPr/>
        </p:nvSpPr>
        <p:spPr>
          <a:xfrm>
            <a:off x="952500" y="6570345"/>
            <a:ext cx="7574637" cy="15240"/>
          </a:xfrm>
          <a:prstGeom prst="rect">
            <a:avLst/>
          </a:prstGeom>
          <a:solidFill>
            <a:srgbClr val="E0D6C7"/>
          </a:solidFill>
          <a:ln/>
        </p:spPr>
      </p:sp>
      <p:sp>
        <p:nvSpPr>
          <p:cNvPr id="19" name="Shape 16"/>
          <p:cNvSpPr/>
          <p:nvPr/>
        </p:nvSpPr>
        <p:spPr>
          <a:xfrm>
            <a:off x="952500" y="6570345"/>
            <a:ext cx="76200" cy="1661160"/>
          </a:xfrm>
          <a:prstGeom prst="rect">
            <a:avLst/>
          </a:prstGeom>
          <a:solidFill>
            <a:srgbClr val="B19C7D"/>
          </a:solidFill>
          <a:ln/>
        </p:spPr>
      </p:sp>
      <p:sp>
        <p:nvSpPr>
          <p:cNvPr id="20" name="Shape 17"/>
          <p:cNvSpPr/>
          <p:nvPr/>
        </p:nvSpPr>
        <p:spPr>
          <a:xfrm>
            <a:off x="8511897" y="6570345"/>
            <a:ext cx="15240" cy="1661160"/>
          </a:xfrm>
          <a:prstGeom prst="rect">
            <a:avLst/>
          </a:prstGeom>
          <a:solidFill>
            <a:srgbClr val="E0D6C7"/>
          </a:solidFill>
          <a:ln/>
        </p:spPr>
      </p:sp>
      <p:sp>
        <p:nvSpPr>
          <p:cNvPr id="21" name="Text 18"/>
          <p:cNvSpPr/>
          <p:nvPr/>
        </p:nvSpPr>
        <p:spPr>
          <a:xfrm>
            <a:off x="1333500" y="6852285"/>
            <a:ext cx="7560957"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74121D"/>
                </a:solidFill>
                <a:latin typeface="Arial" pitchFamily="34" charset="0"/>
                <a:ea typeface="Arial" pitchFamily="34" charset="-122"/>
                <a:cs typeface="Arial" pitchFamily="34" charset="-120"/>
              </a:rPr>
              <a:t>PRIVATE DATABASE TIER</a:t>
            </a:r>
            <a:endParaRPr lang="en-US" sz="1800" dirty="0"/>
          </a:p>
        </p:txBody>
      </p:sp>
      <p:sp>
        <p:nvSpPr>
          <p:cNvPr id="22" name="Text 19"/>
          <p:cNvSpPr/>
          <p:nvPr/>
        </p:nvSpPr>
        <p:spPr>
          <a:xfrm>
            <a:off x="1333500" y="7206615"/>
            <a:ext cx="7079805" cy="7810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3A3A3A"/>
                </a:solidFill>
                <a:latin typeface="Arial" pitchFamily="34" charset="0"/>
                <a:ea typeface="Arial" pitchFamily="34" charset="-122"/>
                <a:cs typeface="Arial" pitchFamily="34" charset="-120"/>
              </a:rPr>
              <a:t>Amazon RDS PostgreSQL · Multi-AZ AES-256 encryption at rest · RLS active</a:t>
            </a:r>
            <a:endParaRPr lang="en-US" sz="1950" dirty="0"/>
          </a:p>
        </p:txBody>
      </p:sp>
      <p:sp>
        <p:nvSpPr>
          <p:cNvPr id="23" name="Shape 20"/>
          <p:cNvSpPr/>
          <p:nvPr/>
        </p:nvSpPr>
        <p:spPr>
          <a:xfrm>
            <a:off x="952500" y="8460105"/>
            <a:ext cx="7574637" cy="1306830"/>
          </a:xfrm>
          <a:prstGeom prst="roundRect">
            <a:avLst>
              <a:gd name="adj" fmla="val 2915"/>
            </a:avLst>
          </a:prstGeom>
          <a:solidFill>
            <a:srgbClr val="2A2A2A"/>
          </a:solidFill>
          <a:ln/>
        </p:spPr>
      </p:sp>
      <p:sp>
        <p:nvSpPr>
          <p:cNvPr id="24" name="Text 21"/>
          <p:cNvSpPr/>
          <p:nvPr/>
        </p:nvSpPr>
        <p:spPr>
          <a:xfrm>
            <a:off x="1181100" y="8631555"/>
            <a:ext cx="7829181"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50" dirty="0">
                <a:solidFill>
                  <a:srgbClr val="B19C7D"/>
                </a:solidFill>
                <a:latin typeface="Arial" pitchFamily="34" charset="0"/>
                <a:ea typeface="Arial" pitchFamily="34" charset="-122"/>
                <a:cs typeface="Arial" pitchFamily="34" charset="-120"/>
              </a:rPr>
              <a:t>CROSS-CUTTING SECURITY</a:t>
            </a:r>
            <a:endParaRPr lang="en-US" sz="1650" dirty="0"/>
          </a:p>
        </p:txBody>
      </p:sp>
      <p:sp>
        <p:nvSpPr>
          <p:cNvPr id="25" name="Text 22"/>
          <p:cNvSpPr/>
          <p:nvPr/>
        </p:nvSpPr>
        <p:spPr>
          <a:xfrm>
            <a:off x="1181100" y="8932545"/>
            <a:ext cx="7330960"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FFFFFF"/>
                </a:solidFill>
                <a:latin typeface="Arial" pitchFamily="34" charset="0"/>
                <a:ea typeface="Arial" pitchFamily="34" charset="-122"/>
                <a:cs typeface="Arial" pitchFamily="34" charset="-120"/>
              </a:rPr>
              <a:t>Security Groups · Network ACLs · IAM least-privilege · CloudTrail · Terraform IaC</a:t>
            </a:r>
            <a:endParaRPr lang="en-US" sz="1800" dirty="0"/>
          </a:p>
        </p:txBody>
      </p:sp>
      <p:pic>
        <p:nvPicPr>
          <p:cNvPr id="2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3387" y="2821305"/>
            <a:ext cx="762000" cy="762000"/>
          </a:xfrm>
          <a:prstGeom prst="rect">
            <a:avLst/>
          </a:prstGeom>
        </p:spPr>
      </p:pic>
      <p:sp>
        <p:nvSpPr>
          <p:cNvPr id="27" name="Text 23"/>
          <p:cNvSpPr/>
          <p:nvPr/>
        </p:nvSpPr>
        <p:spPr>
          <a:xfrm>
            <a:off x="9003387" y="3621405"/>
            <a:ext cx="9165324" cy="342900"/>
          </a:xfrm>
          <a:prstGeom prst="rect">
            <a:avLst/>
          </a:prstGeom>
          <a:noFill/>
          <a:ln/>
        </p:spPr>
        <p:txBody>
          <a:bodyPr wrap="square" lIns="25400" tIns="25400" rIns="25400" bIns="25400" rtlCol="0" anchor="t">
            <a:normAutofit lnSpcReduction="10000"/>
          </a:bodyPr>
          <a:lstStyle/>
          <a:p>
            <a:pPr marL="0" indent="0" algn="l">
              <a:buNone/>
            </a:pPr>
            <a:endParaRPr lang="en-US" sz="2100" dirty="0"/>
          </a:p>
        </p:txBody>
      </p:sp>
      <p:sp>
        <p:nvSpPr>
          <p:cNvPr id="28" name="Text 24"/>
          <p:cNvSpPr/>
          <p:nvPr/>
        </p:nvSpPr>
        <p:spPr>
          <a:xfrm>
            <a:off x="9003387" y="3926205"/>
            <a:ext cx="9165324" cy="297180"/>
          </a:xfrm>
          <a:prstGeom prst="rect">
            <a:avLst/>
          </a:prstGeom>
          <a:noFill/>
          <a:ln/>
        </p:spPr>
        <p:txBody>
          <a:bodyPr wrap="square" lIns="25400" tIns="25400" rIns="25400" bIns="25400" rtlCol="0" anchor="t">
            <a:normAutofit fontScale="92500" lnSpcReduction="10000"/>
          </a:bodyPr>
          <a:lstStyle/>
          <a:p>
            <a:pPr marL="0" indent="0" algn="l">
              <a:buNone/>
            </a:pPr>
            <a:endParaRPr lang="en-US" sz="1800" dirty="0"/>
          </a:p>
        </p:txBody>
      </p:sp>
      <p:sp>
        <p:nvSpPr>
          <p:cNvPr id="29" name="Text 25"/>
          <p:cNvSpPr/>
          <p:nvPr/>
        </p:nvSpPr>
        <p:spPr>
          <a:xfrm>
            <a:off x="952500" y="9742170"/>
            <a:ext cx="553604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Secure AWS Patient Data System · PSM 1 Viva</a:t>
            </a:r>
            <a:endParaRPr lang="en-US" sz="1800" dirty="0"/>
          </a:p>
        </p:txBody>
      </p:sp>
      <p:sp>
        <p:nvSpPr>
          <p:cNvPr id="30" name="Text 26"/>
          <p:cNvSpPr/>
          <p:nvPr/>
        </p:nvSpPr>
        <p:spPr>
          <a:xfrm>
            <a:off x="16603027" y="9742170"/>
            <a:ext cx="80867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08 / 14</a:t>
            </a:r>
            <a:endParaRPr lang="en-US" sz="1800" dirty="0"/>
          </a:p>
        </p:txBody>
      </p:sp>
      <p:pic>
        <p:nvPicPr>
          <p:cNvPr id="32" name="Picture 31">
            <a:extLst>
              <a:ext uri="{FF2B5EF4-FFF2-40B4-BE49-F238E27FC236}">
                <a16:creationId xmlns:a16="http://schemas.microsoft.com/office/drawing/2014/main" id="{5B5ACB1F-0495-882D-6E6F-BFCC8DFE4D97}"/>
              </a:ext>
            </a:extLst>
          </p:cNvPr>
          <p:cNvPicPr>
            <a:picLocks noChangeAspect="1"/>
          </p:cNvPicPr>
          <p:nvPr/>
        </p:nvPicPr>
        <p:blipFill>
          <a:blip r:embed="rId5"/>
          <a:stretch>
            <a:fillRect/>
          </a:stretch>
        </p:blipFill>
        <p:spPr>
          <a:xfrm>
            <a:off x="8918841" y="2546383"/>
            <a:ext cx="9042752" cy="716149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icPr>
            <a:picLocks noChangeAspect="1"/>
          </p:cNvPicPr>
          <p:nvPr/>
        </p:nvPicPr>
        <p:blipFill>
          <a:blip r:embed="rId3"/>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B19C7D"/>
                </a:solidFill>
                <a:latin typeface="Arial" pitchFamily="34" charset="0"/>
                <a:ea typeface="Arial" pitchFamily="34" charset="-122"/>
                <a:cs typeface="Arial" pitchFamily="34" charset="-120"/>
              </a:rPr>
              <a:t>CHAPTER 4.3 – 4.4</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37" dirty="0">
                <a:solidFill>
                  <a:srgbClr val="74121D"/>
                </a:solidFill>
                <a:latin typeface="Arial" pitchFamily="34" charset="0"/>
                <a:ea typeface="Arial" pitchFamily="34" charset="-122"/>
                <a:cs typeface="Arial" pitchFamily="34" charset="-120"/>
              </a:rPr>
              <a:t>System and Database Design</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Text 4"/>
          <p:cNvSpPr/>
          <p:nvPr/>
        </p:nvSpPr>
        <p:spPr>
          <a:xfrm>
            <a:off x="967859" y="2619288"/>
            <a:ext cx="8138267"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7A7A8A"/>
                </a:solidFill>
                <a:latin typeface="Arial" pitchFamily="34" charset="0"/>
                <a:ea typeface="Arial" pitchFamily="34" charset="-122"/>
                <a:cs typeface="Arial" pitchFamily="34" charset="-120"/>
              </a:rPr>
              <a:t>Use Case Diagram</a:t>
            </a:r>
            <a:endParaRPr lang="en-US" sz="1950" dirty="0"/>
          </a:p>
        </p:txBody>
      </p:sp>
      <p:sp>
        <p:nvSpPr>
          <p:cNvPr id="8" name="Text 5"/>
          <p:cNvSpPr/>
          <p:nvPr/>
        </p:nvSpPr>
        <p:spPr>
          <a:xfrm>
            <a:off x="952500" y="2988858"/>
            <a:ext cx="8138267"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9A9AA8"/>
                </a:solidFill>
                <a:latin typeface="Arial" pitchFamily="34" charset="0"/>
                <a:ea typeface="Arial" pitchFamily="34" charset="-122"/>
                <a:cs typeface="Arial" pitchFamily="34" charset="-120"/>
              </a:rPr>
              <a:t>3 actors · 18 use cases · 5 modules</a:t>
            </a:r>
            <a:endParaRPr lang="en-US" sz="1650" dirty="0"/>
          </a:p>
        </p:txBody>
      </p:sp>
      <p:sp>
        <p:nvSpPr>
          <p:cNvPr id="9" name="Shape 6"/>
          <p:cNvSpPr/>
          <p:nvPr/>
        </p:nvSpPr>
        <p:spPr>
          <a:xfrm>
            <a:off x="952500" y="7486650"/>
            <a:ext cx="7398425" cy="1752600"/>
          </a:xfrm>
          <a:prstGeom prst="roundRect">
            <a:avLst>
              <a:gd name="adj" fmla="val 2174"/>
            </a:avLst>
          </a:prstGeom>
          <a:ln w="15240">
            <a:solidFill>
              <a:srgbClr val="EFE6DA"/>
            </a:solidFill>
            <a:prstDash val="solid"/>
          </a:ln>
        </p:spPr>
      </p:sp>
      <p:sp>
        <p:nvSpPr>
          <p:cNvPr id="10" name="Text 7"/>
          <p:cNvSpPr/>
          <p:nvPr/>
        </p:nvSpPr>
        <p:spPr>
          <a:xfrm>
            <a:off x="1215390" y="7711440"/>
            <a:ext cx="755991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50" dirty="0">
                <a:solidFill>
                  <a:srgbClr val="74121D"/>
                </a:solidFill>
                <a:latin typeface="Arial" pitchFamily="34" charset="0"/>
                <a:ea typeface="Arial" pitchFamily="34" charset="-122"/>
                <a:cs typeface="Arial" pitchFamily="34" charset="-120"/>
              </a:rPr>
              <a:t>USE CASE SUMMARY</a:t>
            </a:r>
            <a:endParaRPr lang="en-US" sz="1800" dirty="0"/>
          </a:p>
        </p:txBody>
      </p:sp>
      <p:sp>
        <p:nvSpPr>
          <p:cNvPr id="11" name="Text 8"/>
          <p:cNvSpPr/>
          <p:nvPr/>
        </p:nvSpPr>
        <p:spPr>
          <a:xfrm>
            <a:off x="1215390" y="8084820"/>
            <a:ext cx="83843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74121D"/>
                </a:solidFill>
                <a:latin typeface="Arial" pitchFamily="34" charset="0"/>
                <a:ea typeface="Arial" pitchFamily="34" charset="-122"/>
                <a:cs typeface="Arial" pitchFamily="34" charset="-120"/>
              </a:rPr>
              <a:t>Doctor</a:t>
            </a:r>
            <a:endParaRPr lang="en-US" sz="1800" dirty="0"/>
          </a:p>
        </p:txBody>
      </p:sp>
      <p:sp>
        <p:nvSpPr>
          <p:cNvPr id="12" name="Text 9"/>
          <p:cNvSpPr/>
          <p:nvPr/>
        </p:nvSpPr>
        <p:spPr>
          <a:xfrm>
            <a:off x="2206228" y="8084820"/>
            <a:ext cx="6469987"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3A3A3A"/>
                </a:solidFill>
                <a:latin typeface="Arial" pitchFamily="34" charset="0"/>
                <a:ea typeface="Arial" pitchFamily="34" charset="-122"/>
                <a:cs typeface="Arial" pitchFamily="34" charset="-120"/>
              </a:rPr>
              <a:t>View / create medical records (assigned patients only)</a:t>
            </a:r>
            <a:endParaRPr lang="en-US" sz="1800" dirty="0"/>
          </a:p>
        </p:txBody>
      </p:sp>
      <p:sp>
        <p:nvSpPr>
          <p:cNvPr id="13" name="Text 10"/>
          <p:cNvSpPr/>
          <p:nvPr/>
        </p:nvSpPr>
        <p:spPr>
          <a:xfrm>
            <a:off x="1215390" y="8420100"/>
            <a:ext cx="83843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74121D"/>
                </a:solidFill>
                <a:latin typeface="Arial" pitchFamily="34" charset="0"/>
                <a:ea typeface="Arial" pitchFamily="34" charset="-122"/>
                <a:cs typeface="Arial" pitchFamily="34" charset="-120"/>
              </a:rPr>
              <a:t>Admin</a:t>
            </a:r>
            <a:endParaRPr lang="en-US" sz="1800" dirty="0"/>
          </a:p>
        </p:txBody>
      </p:sp>
      <p:sp>
        <p:nvSpPr>
          <p:cNvPr id="14" name="Text 11"/>
          <p:cNvSpPr/>
          <p:nvPr/>
        </p:nvSpPr>
        <p:spPr>
          <a:xfrm>
            <a:off x="2206228" y="8420100"/>
            <a:ext cx="6469987"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3A3A3A"/>
                </a:solidFill>
                <a:latin typeface="Arial" pitchFamily="34" charset="0"/>
                <a:ea typeface="Arial" pitchFamily="34" charset="-122"/>
                <a:cs typeface="Arial" pitchFamily="34" charset="-120"/>
              </a:rPr>
              <a:t>Register patients · appointments · user management</a:t>
            </a:r>
            <a:endParaRPr lang="en-US" sz="1800" dirty="0"/>
          </a:p>
        </p:txBody>
      </p:sp>
      <p:sp>
        <p:nvSpPr>
          <p:cNvPr id="15" name="Text 12"/>
          <p:cNvSpPr/>
          <p:nvPr/>
        </p:nvSpPr>
        <p:spPr>
          <a:xfrm>
            <a:off x="1215390" y="8755380"/>
            <a:ext cx="83843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74121D"/>
                </a:solidFill>
                <a:latin typeface="Arial" pitchFamily="34" charset="0"/>
                <a:ea typeface="Arial" pitchFamily="34" charset="-122"/>
                <a:cs typeface="Arial" pitchFamily="34" charset="-120"/>
              </a:rPr>
              <a:t>Patient</a:t>
            </a:r>
            <a:endParaRPr lang="en-US" sz="1800" dirty="0"/>
          </a:p>
        </p:txBody>
      </p:sp>
      <p:sp>
        <p:nvSpPr>
          <p:cNvPr id="16" name="Text 13"/>
          <p:cNvSpPr/>
          <p:nvPr/>
        </p:nvSpPr>
        <p:spPr>
          <a:xfrm>
            <a:off x="2206228" y="8755380"/>
            <a:ext cx="6469987"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3A3A3A"/>
                </a:solidFill>
                <a:latin typeface="Arial" pitchFamily="34" charset="0"/>
                <a:ea typeface="Arial" pitchFamily="34" charset="-122"/>
                <a:cs typeface="Arial" pitchFamily="34" charset="-120"/>
              </a:rPr>
              <a:t>View own records and appointments (read-only)</a:t>
            </a:r>
            <a:endParaRPr lang="en-US" sz="1800" dirty="0"/>
          </a:p>
        </p:txBody>
      </p:sp>
      <p:sp>
        <p:nvSpPr>
          <p:cNvPr id="17" name="Text 14"/>
          <p:cNvSpPr/>
          <p:nvPr/>
        </p:nvSpPr>
        <p:spPr>
          <a:xfrm>
            <a:off x="8827175" y="2868930"/>
            <a:ext cx="9359027"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50" dirty="0">
                <a:solidFill>
                  <a:srgbClr val="74121D"/>
                </a:solidFill>
                <a:latin typeface="Arial" pitchFamily="34" charset="0"/>
                <a:ea typeface="Arial" pitchFamily="34" charset="-122"/>
                <a:cs typeface="Arial" pitchFamily="34" charset="-120"/>
              </a:rPr>
              <a:t>DATABASE — 6 POSTGRESQL TABLES</a:t>
            </a:r>
            <a:endParaRPr lang="en-US" sz="1800" dirty="0"/>
          </a:p>
        </p:txBody>
      </p:sp>
      <p:sp>
        <p:nvSpPr>
          <p:cNvPr id="18" name="Shape 15"/>
          <p:cNvSpPr/>
          <p:nvPr/>
        </p:nvSpPr>
        <p:spPr>
          <a:xfrm>
            <a:off x="8827175" y="3318510"/>
            <a:ext cx="2747129" cy="1916430"/>
          </a:xfrm>
          <a:prstGeom prst="roundRect">
            <a:avLst>
              <a:gd name="adj" fmla="val 1988"/>
            </a:avLst>
          </a:prstGeom>
          <a:ln w="15240">
            <a:solidFill>
              <a:srgbClr val="74121D"/>
            </a:solidFill>
            <a:prstDash val="solid"/>
          </a:ln>
        </p:spPr>
      </p:sp>
      <p:sp>
        <p:nvSpPr>
          <p:cNvPr id="19" name="Shape 16"/>
          <p:cNvSpPr/>
          <p:nvPr/>
        </p:nvSpPr>
        <p:spPr>
          <a:xfrm>
            <a:off x="8842415" y="3333750"/>
            <a:ext cx="2716649" cy="396240"/>
          </a:xfrm>
          <a:prstGeom prst="rect">
            <a:avLst/>
          </a:prstGeom>
          <a:solidFill>
            <a:srgbClr val="74121D"/>
          </a:solidFill>
          <a:ln/>
        </p:spPr>
      </p:sp>
      <p:sp>
        <p:nvSpPr>
          <p:cNvPr id="20" name="Text 17"/>
          <p:cNvSpPr/>
          <p:nvPr/>
        </p:nvSpPr>
        <p:spPr>
          <a:xfrm>
            <a:off x="8975765" y="3409950"/>
            <a:ext cx="2531448"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FFFFFF"/>
                </a:solidFill>
                <a:latin typeface="Arial" pitchFamily="34" charset="0"/>
                <a:ea typeface="Arial" pitchFamily="34" charset="-122"/>
                <a:cs typeface="Arial" pitchFamily="34" charset="-120"/>
              </a:rPr>
              <a:t>users</a:t>
            </a:r>
            <a:endParaRPr lang="en-US" sz="1650" dirty="0"/>
          </a:p>
        </p:txBody>
      </p:sp>
      <p:sp>
        <p:nvSpPr>
          <p:cNvPr id="21" name="Text 18"/>
          <p:cNvSpPr/>
          <p:nvPr/>
        </p:nvSpPr>
        <p:spPr>
          <a:xfrm>
            <a:off x="8975765" y="3825240"/>
            <a:ext cx="2531448" cy="1337310"/>
          </a:xfrm>
          <a:prstGeom prst="rect">
            <a:avLst/>
          </a:prstGeom>
          <a:noFill/>
          <a:ln/>
        </p:spPr>
        <p:txBody>
          <a:bodyPr wrap="square" lIns="25400" tIns="25400" rIns="25400" bIns="25400" rtlCol="0" anchor="t">
            <a:normAutofit/>
          </a:bodyPr>
          <a:lstStyle/>
          <a:p>
            <a:pPr marL="0" indent="0" algn="l">
              <a:lnSpc>
                <a:spcPct val="155000"/>
              </a:lnSpc>
              <a:buNone/>
            </a:pPr>
            <a:r>
              <a:rPr lang="en-US" sz="1650" b="1" dirty="0">
                <a:solidFill>
                  <a:srgbClr val="74121D"/>
                </a:solidFill>
                <a:latin typeface="Arial" pitchFamily="34" charset="0"/>
                <a:ea typeface="Arial" pitchFamily="34" charset="-122"/>
                <a:cs typeface="Arial" pitchFamily="34" charset="-120"/>
              </a:rPr>
              <a:t>userId </a:t>
            </a:r>
            <a:r>
              <a:rPr lang="en-US" sz="1650" dirty="0">
                <a:solidFill>
                  <a:srgbClr val="3A3A3A"/>
                </a:solidFill>
                <a:latin typeface="Arial" pitchFamily="34" charset="0"/>
                <a:ea typeface="Arial" pitchFamily="34" charset="-122"/>
                <a:cs typeface="Arial" pitchFamily="34" charset="-120"/>
              </a:rPr>
              <a:t>· UUID PK email · role passwordHash createdAt</a:t>
            </a:r>
            <a:endParaRPr lang="en-US" sz="1650" dirty="0"/>
          </a:p>
        </p:txBody>
      </p:sp>
      <p:sp>
        <p:nvSpPr>
          <p:cNvPr id="22" name="Shape 19"/>
          <p:cNvSpPr/>
          <p:nvPr/>
        </p:nvSpPr>
        <p:spPr>
          <a:xfrm>
            <a:off x="11707654" y="3318510"/>
            <a:ext cx="2747129" cy="1916430"/>
          </a:xfrm>
          <a:prstGeom prst="roundRect">
            <a:avLst>
              <a:gd name="adj" fmla="val 1988"/>
            </a:avLst>
          </a:prstGeom>
          <a:ln w="15240">
            <a:solidFill>
              <a:srgbClr val="74121D"/>
            </a:solidFill>
            <a:prstDash val="solid"/>
          </a:ln>
        </p:spPr>
      </p:sp>
      <p:sp>
        <p:nvSpPr>
          <p:cNvPr id="23" name="Shape 20"/>
          <p:cNvSpPr/>
          <p:nvPr/>
        </p:nvSpPr>
        <p:spPr>
          <a:xfrm>
            <a:off x="11722894" y="3333750"/>
            <a:ext cx="2716649" cy="396240"/>
          </a:xfrm>
          <a:prstGeom prst="rect">
            <a:avLst/>
          </a:prstGeom>
          <a:solidFill>
            <a:srgbClr val="74121D"/>
          </a:solidFill>
          <a:ln/>
        </p:spPr>
      </p:sp>
      <p:sp>
        <p:nvSpPr>
          <p:cNvPr id="24" name="Text 21"/>
          <p:cNvSpPr/>
          <p:nvPr/>
        </p:nvSpPr>
        <p:spPr>
          <a:xfrm>
            <a:off x="11856244" y="3409950"/>
            <a:ext cx="2531448"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FFFFFF"/>
                </a:solidFill>
                <a:latin typeface="Arial" pitchFamily="34" charset="0"/>
                <a:ea typeface="Arial" pitchFamily="34" charset="-122"/>
                <a:cs typeface="Arial" pitchFamily="34" charset="-120"/>
              </a:rPr>
              <a:t>patients</a:t>
            </a:r>
            <a:endParaRPr lang="en-US" sz="1650" dirty="0"/>
          </a:p>
        </p:txBody>
      </p:sp>
      <p:sp>
        <p:nvSpPr>
          <p:cNvPr id="25" name="Text 22"/>
          <p:cNvSpPr/>
          <p:nvPr/>
        </p:nvSpPr>
        <p:spPr>
          <a:xfrm>
            <a:off x="11856244" y="3825240"/>
            <a:ext cx="2531448" cy="1337310"/>
          </a:xfrm>
          <a:prstGeom prst="rect">
            <a:avLst/>
          </a:prstGeom>
          <a:noFill/>
          <a:ln/>
        </p:spPr>
        <p:txBody>
          <a:bodyPr wrap="square" lIns="25400" tIns="25400" rIns="25400" bIns="25400" rtlCol="0" anchor="t">
            <a:normAutofit/>
          </a:bodyPr>
          <a:lstStyle/>
          <a:p>
            <a:pPr marL="0" indent="0" algn="l">
              <a:lnSpc>
                <a:spcPct val="155000"/>
              </a:lnSpc>
              <a:buNone/>
            </a:pPr>
            <a:r>
              <a:rPr lang="en-US" sz="1650" b="1" dirty="0">
                <a:solidFill>
                  <a:srgbClr val="74121D"/>
                </a:solidFill>
                <a:latin typeface="Arial" pitchFamily="34" charset="0"/>
                <a:ea typeface="Arial" pitchFamily="34" charset="-122"/>
                <a:cs typeface="Arial" pitchFamily="34" charset="-120"/>
              </a:rPr>
              <a:t>patientId </a:t>
            </a:r>
            <a:r>
              <a:rPr lang="en-US" sz="1650" dirty="0">
                <a:solidFill>
                  <a:srgbClr val="3A3A3A"/>
                </a:solidFill>
                <a:latin typeface="Arial" pitchFamily="34" charset="0"/>
                <a:ea typeface="Arial" pitchFamily="34" charset="-122"/>
                <a:cs typeface="Arial" pitchFamily="34" charset="-120"/>
              </a:rPr>
              <a:t>· UUID name · dob userId (FK) RLS active</a:t>
            </a:r>
            <a:endParaRPr lang="en-US" sz="1650" dirty="0"/>
          </a:p>
        </p:txBody>
      </p:sp>
      <p:sp>
        <p:nvSpPr>
          <p:cNvPr id="26" name="Shape 23"/>
          <p:cNvSpPr/>
          <p:nvPr/>
        </p:nvSpPr>
        <p:spPr>
          <a:xfrm>
            <a:off x="14588133" y="3318510"/>
            <a:ext cx="2747248" cy="1916430"/>
          </a:xfrm>
          <a:prstGeom prst="roundRect">
            <a:avLst>
              <a:gd name="adj" fmla="val 1988"/>
            </a:avLst>
          </a:prstGeom>
          <a:ln w="15240">
            <a:solidFill>
              <a:srgbClr val="74121D"/>
            </a:solidFill>
            <a:prstDash val="solid"/>
          </a:ln>
        </p:spPr>
      </p:sp>
      <p:sp>
        <p:nvSpPr>
          <p:cNvPr id="27" name="Shape 24"/>
          <p:cNvSpPr/>
          <p:nvPr/>
        </p:nvSpPr>
        <p:spPr>
          <a:xfrm>
            <a:off x="14603373" y="3333750"/>
            <a:ext cx="2716768" cy="396240"/>
          </a:xfrm>
          <a:prstGeom prst="rect">
            <a:avLst/>
          </a:prstGeom>
          <a:solidFill>
            <a:srgbClr val="74121D"/>
          </a:solidFill>
          <a:ln/>
        </p:spPr>
      </p:sp>
      <p:sp>
        <p:nvSpPr>
          <p:cNvPr id="28" name="Text 25"/>
          <p:cNvSpPr/>
          <p:nvPr/>
        </p:nvSpPr>
        <p:spPr>
          <a:xfrm>
            <a:off x="14736723" y="3409950"/>
            <a:ext cx="2531571"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FFFFFF"/>
                </a:solidFill>
                <a:latin typeface="Arial" pitchFamily="34" charset="0"/>
                <a:ea typeface="Arial" pitchFamily="34" charset="-122"/>
                <a:cs typeface="Arial" pitchFamily="34" charset="-120"/>
              </a:rPr>
              <a:t>doctors</a:t>
            </a:r>
            <a:endParaRPr lang="en-US" sz="1650" dirty="0"/>
          </a:p>
        </p:txBody>
      </p:sp>
      <p:sp>
        <p:nvSpPr>
          <p:cNvPr id="29" name="Text 26"/>
          <p:cNvSpPr/>
          <p:nvPr/>
        </p:nvSpPr>
        <p:spPr>
          <a:xfrm>
            <a:off x="14736723" y="3825240"/>
            <a:ext cx="2531571" cy="1337310"/>
          </a:xfrm>
          <a:prstGeom prst="rect">
            <a:avLst/>
          </a:prstGeom>
          <a:noFill/>
          <a:ln/>
        </p:spPr>
        <p:txBody>
          <a:bodyPr wrap="square" lIns="25400" tIns="25400" rIns="25400" bIns="25400" rtlCol="0" anchor="t">
            <a:normAutofit/>
          </a:bodyPr>
          <a:lstStyle/>
          <a:p>
            <a:pPr marL="0" indent="0" algn="l">
              <a:lnSpc>
                <a:spcPct val="155000"/>
              </a:lnSpc>
              <a:buNone/>
            </a:pPr>
            <a:r>
              <a:rPr lang="en-US" sz="1650" b="1" dirty="0">
                <a:solidFill>
                  <a:srgbClr val="74121D"/>
                </a:solidFill>
                <a:latin typeface="Arial" pitchFamily="34" charset="0"/>
                <a:ea typeface="Arial" pitchFamily="34" charset="-122"/>
                <a:cs typeface="Arial" pitchFamily="34" charset="-120"/>
              </a:rPr>
              <a:t>doctorId </a:t>
            </a:r>
            <a:r>
              <a:rPr lang="en-US" sz="1650" dirty="0">
                <a:solidFill>
                  <a:srgbClr val="3A3A3A"/>
                </a:solidFill>
                <a:latin typeface="Arial" pitchFamily="34" charset="0"/>
                <a:ea typeface="Arial" pitchFamily="34" charset="-122"/>
                <a:cs typeface="Arial" pitchFamily="34" charset="-120"/>
              </a:rPr>
              <a:t>· UUID userId (FK) specialisation assignedPatients</a:t>
            </a:r>
            <a:endParaRPr lang="en-US" sz="1650" dirty="0"/>
          </a:p>
        </p:txBody>
      </p:sp>
      <p:sp>
        <p:nvSpPr>
          <p:cNvPr id="30" name="Shape 27"/>
          <p:cNvSpPr/>
          <p:nvPr/>
        </p:nvSpPr>
        <p:spPr>
          <a:xfrm>
            <a:off x="8827175" y="5368290"/>
            <a:ext cx="2747129" cy="1916430"/>
          </a:xfrm>
          <a:prstGeom prst="roundRect">
            <a:avLst>
              <a:gd name="adj" fmla="val 1988"/>
            </a:avLst>
          </a:prstGeom>
          <a:ln w="15240">
            <a:solidFill>
              <a:srgbClr val="74121D"/>
            </a:solidFill>
            <a:prstDash val="solid"/>
          </a:ln>
        </p:spPr>
      </p:sp>
      <p:sp>
        <p:nvSpPr>
          <p:cNvPr id="31" name="Shape 28"/>
          <p:cNvSpPr/>
          <p:nvPr/>
        </p:nvSpPr>
        <p:spPr>
          <a:xfrm>
            <a:off x="8842415" y="5383530"/>
            <a:ext cx="2716649" cy="396240"/>
          </a:xfrm>
          <a:prstGeom prst="rect">
            <a:avLst/>
          </a:prstGeom>
          <a:solidFill>
            <a:srgbClr val="74121D"/>
          </a:solidFill>
          <a:ln/>
        </p:spPr>
      </p:sp>
      <p:sp>
        <p:nvSpPr>
          <p:cNvPr id="32" name="Text 29"/>
          <p:cNvSpPr/>
          <p:nvPr/>
        </p:nvSpPr>
        <p:spPr>
          <a:xfrm>
            <a:off x="8975765" y="5459730"/>
            <a:ext cx="2531448"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FFFFFF"/>
                </a:solidFill>
                <a:latin typeface="Arial" pitchFamily="34" charset="0"/>
                <a:ea typeface="Arial" pitchFamily="34" charset="-122"/>
                <a:cs typeface="Arial" pitchFamily="34" charset="-120"/>
              </a:rPr>
              <a:t>medical_records</a:t>
            </a:r>
            <a:endParaRPr lang="en-US" sz="1650" dirty="0"/>
          </a:p>
        </p:txBody>
      </p:sp>
      <p:sp>
        <p:nvSpPr>
          <p:cNvPr id="33" name="Text 30"/>
          <p:cNvSpPr/>
          <p:nvPr/>
        </p:nvSpPr>
        <p:spPr>
          <a:xfrm>
            <a:off x="8975765" y="5875020"/>
            <a:ext cx="2531448" cy="1337310"/>
          </a:xfrm>
          <a:prstGeom prst="rect">
            <a:avLst/>
          </a:prstGeom>
          <a:noFill/>
          <a:ln/>
        </p:spPr>
        <p:txBody>
          <a:bodyPr wrap="square" lIns="25400" tIns="25400" rIns="25400" bIns="25400" rtlCol="0" anchor="t">
            <a:normAutofit/>
          </a:bodyPr>
          <a:lstStyle/>
          <a:p>
            <a:pPr marL="0" indent="0" algn="l">
              <a:lnSpc>
                <a:spcPct val="155000"/>
              </a:lnSpc>
              <a:buNone/>
            </a:pPr>
            <a:r>
              <a:rPr lang="en-US" sz="1650" b="1" dirty="0">
                <a:solidFill>
                  <a:srgbClr val="74121D"/>
                </a:solidFill>
                <a:latin typeface="Arial" pitchFamily="34" charset="0"/>
                <a:ea typeface="Arial" pitchFamily="34" charset="-122"/>
                <a:cs typeface="Arial" pitchFamily="34" charset="-120"/>
              </a:rPr>
              <a:t>recordId </a:t>
            </a:r>
            <a:r>
              <a:rPr lang="en-US" sz="1650" dirty="0">
                <a:solidFill>
                  <a:srgbClr val="3A3A3A"/>
                </a:solidFill>
                <a:latin typeface="Arial" pitchFamily="34" charset="0"/>
                <a:ea typeface="Arial" pitchFamily="34" charset="-122"/>
                <a:cs typeface="Arial" pitchFamily="34" charset="-120"/>
              </a:rPr>
              <a:t>· UUID patientId · doctorId diagnosis · notes </a:t>
            </a:r>
            <a:r>
              <a:rPr lang="en-US" sz="1650" b="1" dirty="0">
                <a:solidFill>
                  <a:srgbClr val="A7333F"/>
                </a:solidFill>
                <a:latin typeface="Arial" pitchFamily="34" charset="0"/>
                <a:ea typeface="Arial" pitchFamily="34" charset="-122"/>
                <a:cs typeface="Arial" pitchFamily="34" charset="-120"/>
              </a:rPr>
              <a:t>RLS enforced</a:t>
            </a:r>
            <a:endParaRPr lang="en-US" sz="1650" dirty="0"/>
          </a:p>
        </p:txBody>
      </p:sp>
      <p:sp>
        <p:nvSpPr>
          <p:cNvPr id="34" name="Shape 31"/>
          <p:cNvSpPr/>
          <p:nvPr/>
        </p:nvSpPr>
        <p:spPr>
          <a:xfrm>
            <a:off x="11707654" y="5368290"/>
            <a:ext cx="2747129" cy="1916430"/>
          </a:xfrm>
          <a:prstGeom prst="roundRect">
            <a:avLst>
              <a:gd name="adj" fmla="val 1988"/>
            </a:avLst>
          </a:prstGeom>
          <a:ln w="15240">
            <a:solidFill>
              <a:srgbClr val="74121D"/>
            </a:solidFill>
            <a:prstDash val="solid"/>
          </a:ln>
        </p:spPr>
      </p:sp>
      <p:sp>
        <p:nvSpPr>
          <p:cNvPr id="35" name="Shape 32"/>
          <p:cNvSpPr/>
          <p:nvPr/>
        </p:nvSpPr>
        <p:spPr>
          <a:xfrm>
            <a:off x="11722894" y="5383530"/>
            <a:ext cx="2716649" cy="396240"/>
          </a:xfrm>
          <a:prstGeom prst="rect">
            <a:avLst/>
          </a:prstGeom>
          <a:solidFill>
            <a:srgbClr val="74121D"/>
          </a:solidFill>
          <a:ln/>
        </p:spPr>
      </p:sp>
      <p:sp>
        <p:nvSpPr>
          <p:cNvPr id="36" name="Text 33"/>
          <p:cNvSpPr/>
          <p:nvPr/>
        </p:nvSpPr>
        <p:spPr>
          <a:xfrm>
            <a:off x="11856244" y="5459730"/>
            <a:ext cx="2531448"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FFFFFF"/>
                </a:solidFill>
                <a:latin typeface="Arial" pitchFamily="34" charset="0"/>
                <a:ea typeface="Arial" pitchFamily="34" charset="-122"/>
                <a:cs typeface="Arial" pitchFamily="34" charset="-120"/>
              </a:rPr>
              <a:t>appointments</a:t>
            </a:r>
            <a:endParaRPr lang="en-US" sz="1650" dirty="0"/>
          </a:p>
        </p:txBody>
      </p:sp>
      <p:sp>
        <p:nvSpPr>
          <p:cNvPr id="37" name="Text 34"/>
          <p:cNvSpPr/>
          <p:nvPr/>
        </p:nvSpPr>
        <p:spPr>
          <a:xfrm>
            <a:off x="11856244" y="5875020"/>
            <a:ext cx="2531448" cy="1012508"/>
          </a:xfrm>
          <a:prstGeom prst="rect">
            <a:avLst/>
          </a:prstGeom>
          <a:noFill/>
          <a:ln/>
        </p:spPr>
        <p:txBody>
          <a:bodyPr wrap="square" lIns="25400" tIns="25400" rIns="25400" bIns="25400" rtlCol="0" anchor="t">
            <a:normAutofit/>
          </a:bodyPr>
          <a:lstStyle/>
          <a:p>
            <a:pPr marL="0" indent="0" algn="l">
              <a:lnSpc>
                <a:spcPct val="155000"/>
              </a:lnSpc>
              <a:buNone/>
            </a:pPr>
            <a:r>
              <a:rPr lang="en-US" sz="1650" b="1" dirty="0">
                <a:solidFill>
                  <a:srgbClr val="74121D"/>
                </a:solidFill>
                <a:latin typeface="Arial" pitchFamily="34" charset="0"/>
                <a:ea typeface="Arial" pitchFamily="34" charset="-122"/>
                <a:cs typeface="Arial" pitchFamily="34" charset="-120"/>
              </a:rPr>
              <a:t>apptId </a:t>
            </a:r>
            <a:r>
              <a:rPr lang="en-US" sz="1650" dirty="0">
                <a:solidFill>
                  <a:srgbClr val="3A3A3A"/>
                </a:solidFill>
                <a:latin typeface="Arial" pitchFamily="34" charset="0"/>
                <a:ea typeface="Arial" pitchFamily="34" charset="-122"/>
                <a:cs typeface="Arial" pitchFamily="34" charset="-120"/>
              </a:rPr>
              <a:t>· UUID patientId · doctorId datetime · status</a:t>
            </a:r>
            <a:endParaRPr lang="en-US" sz="1650" dirty="0"/>
          </a:p>
        </p:txBody>
      </p:sp>
      <p:sp>
        <p:nvSpPr>
          <p:cNvPr id="38" name="Shape 35"/>
          <p:cNvSpPr/>
          <p:nvPr/>
        </p:nvSpPr>
        <p:spPr>
          <a:xfrm>
            <a:off x="14588133" y="5368290"/>
            <a:ext cx="2747248" cy="1916430"/>
          </a:xfrm>
          <a:prstGeom prst="roundRect">
            <a:avLst>
              <a:gd name="adj" fmla="val 1988"/>
            </a:avLst>
          </a:prstGeom>
          <a:ln w="15240">
            <a:solidFill>
              <a:srgbClr val="A7333F"/>
            </a:solidFill>
            <a:prstDash val="solid"/>
          </a:ln>
        </p:spPr>
      </p:sp>
      <p:sp>
        <p:nvSpPr>
          <p:cNvPr id="39" name="Shape 36"/>
          <p:cNvSpPr/>
          <p:nvPr/>
        </p:nvSpPr>
        <p:spPr>
          <a:xfrm>
            <a:off x="14603373" y="5383530"/>
            <a:ext cx="2716768" cy="396240"/>
          </a:xfrm>
          <a:prstGeom prst="rect">
            <a:avLst/>
          </a:prstGeom>
          <a:solidFill>
            <a:srgbClr val="A7333F"/>
          </a:solidFill>
          <a:ln/>
        </p:spPr>
      </p:sp>
      <p:sp>
        <p:nvSpPr>
          <p:cNvPr id="40" name="Text 37"/>
          <p:cNvSpPr/>
          <p:nvPr/>
        </p:nvSpPr>
        <p:spPr>
          <a:xfrm>
            <a:off x="14736723" y="5459730"/>
            <a:ext cx="2531571" cy="28194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FFFFFF"/>
                </a:solidFill>
                <a:latin typeface="Arial" pitchFamily="34" charset="0"/>
                <a:ea typeface="Arial" pitchFamily="34" charset="-122"/>
                <a:cs typeface="Arial" pitchFamily="34" charset="-120"/>
              </a:rPr>
              <a:t>audit_log</a:t>
            </a:r>
            <a:endParaRPr lang="en-US" sz="1650" dirty="0"/>
          </a:p>
        </p:txBody>
      </p:sp>
      <p:sp>
        <p:nvSpPr>
          <p:cNvPr id="41" name="Text 38"/>
          <p:cNvSpPr/>
          <p:nvPr/>
        </p:nvSpPr>
        <p:spPr>
          <a:xfrm>
            <a:off x="14736723" y="5875020"/>
            <a:ext cx="2531571" cy="1337310"/>
          </a:xfrm>
          <a:prstGeom prst="rect">
            <a:avLst/>
          </a:prstGeom>
          <a:noFill/>
          <a:ln/>
        </p:spPr>
        <p:txBody>
          <a:bodyPr wrap="square" lIns="25400" tIns="25400" rIns="25400" bIns="25400" rtlCol="0" anchor="t">
            <a:normAutofit/>
          </a:bodyPr>
          <a:lstStyle/>
          <a:p>
            <a:pPr marL="0" indent="0" algn="l">
              <a:lnSpc>
                <a:spcPct val="155000"/>
              </a:lnSpc>
              <a:buNone/>
            </a:pPr>
            <a:r>
              <a:rPr lang="en-US" sz="1650" b="1" dirty="0">
                <a:solidFill>
                  <a:srgbClr val="A7333F"/>
                </a:solidFill>
                <a:latin typeface="Arial" pitchFamily="34" charset="0"/>
                <a:ea typeface="Arial" pitchFamily="34" charset="-122"/>
                <a:cs typeface="Arial" pitchFamily="34" charset="-120"/>
              </a:rPr>
              <a:t>logId </a:t>
            </a:r>
            <a:r>
              <a:rPr lang="en-US" sz="1650" dirty="0">
                <a:solidFill>
                  <a:srgbClr val="3A3A3A"/>
                </a:solidFill>
                <a:latin typeface="Arial" pitchFamily="34" charset="0"/>
                <a:ea typeface="Arial" pitchFamily="34" charset="-122"/>
                <a:cs typeface="Arial" pitchFamily="34" charset="-120"/>
              </a:rPr>
              <a:t>· UUID userId · action table · timestamp </a:t>
            </a:r>
            <a:r>
              <a:rPr lang="en-US" sz="1650" b="1" dirty="0">
                <a:solidFill>
                  <a:srgbClr val="A7333F"/>
                </a:solidFill>
                <a:latin typeface="Arial" pitchFamily="34" charset="0"/>
                <a:ea typeface="Arial" pitchFamily="34" charset="-122"/>
                <a:cs typeface="Arial" pitchFamily="34" charset="-120"/>
              </a:rPr>
              <a:t>INSERT ONLY</a:t>
            </a:r>
            <a:endParaRPr lang="en-US" sz="1650" dirty="0"/>
          </a:p>
        </p:txBody>
      </p:sp>
      <p:sp>
        <p:nvSpPr>
          <p:cNvPr id="42" name="Shape 39"/>
          <p:cNvSpPr/>
          <p:nvPr/>
        </p:nvSpPr>
        <p:spPr>
          <a:xfrm>
            <a:off x="8827175" y="7475220"/>
            <a:ext cx="8508206" cy="944880"/>
          </a:xfrm>
          <a:prstGeom prst="rect">
            <a:avLst/>
          </a:prstGeom>
          <a:solidFill>
            <a:srgbClr val="FBF6EE"/>
          </a:solidFill>
          <a:ln/>
        </p:spPr>
      </p:sp>
      <p:sp>
        <p:nvSpPr>
          <p:cNvPr id="43" name="Shape 40"/>
          <p:cNvSpPr/>
          <p:nvPr/>
        </p:nvSpPr>
        <p:spPr>
          <a:xfrm>
            <a:off x="8827175" y="7475220"/>
            <a:ext cx="53340" cy="944880"/>
          </a:xfrm>
          <a:prstGeom prst="rect">
            <a:avLst/>
          </a:prstGeom>
          <a:solidFill>
            <a:srgbClr val="B19C7D"/>
          </a:solidFill>
          <a:ln/>
        </p:spPr>
      </p:sp>
      <p:sp>
        <p:nvSpPr>
          <p:cNvPr id="44" name="Text 41"/>
          <p:cNvSpPr/>
          <p:nvPr/>
        </p:nvSpPr>
        <p:spPr>
          <a:xfrm>
            <a:off x="9090065" y="7627620"/>
            <a:ext cx="8291012"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dirty="0">
                <a:solidFill>
                  <a:srgbClr val="74121D"/>
                </a:solidFill>
                <a:latin typeface="Arial" pitchFamily="34" charset="0"/>
                <a:ea typeface="Arial" pitchFamily="34" charset="-122"/>
                <a:cs typeface="Arial" pitchFamily="34" charset="-120"/>
              </a:rPr>
              <a:t>RLS rules </a:t>
            </a:r>
            <a:r>
              <a:rPr lang="en-US" sz="1800" dirty="0">
                <a:solidFill>
                  <a:srgbClr val="3A3A3A"/>
                </a:solidFill>
                <a:highlight>
                  <a:srgbClr val="FBF6EE"/>
                </a:highlight>
                <a:latin typeface="Arial" pitchFamily="34" charset="0"/>
                <a:ea typeface="Arial" pitchFamily="34" charset="-122"/>
                <a:cs typeface="Arial" pitchFamily="34" charset="-120"/>
              </a:rPr>
              <a:t>— Doctors: own patients' records only · Patients: own profile only · audit_log: no UPDATE or DELETE</a:t>
            </a:r>
            <a:endParaRPr lang="en-US" sz="1800" dirty="0"/>
          </a:p>
        </p:txBody>
      </p:sp>
      <p:sp>
        <p:nvSpPr>
          <p:cNvPr id="45" name="Text 42"/>
          <p:cNvSpPr/>
          <p:nvPr/>
        </p:nvSpPr>
        <p:spPr>
          <a:xfrm>
            <a:off x="952500" y="9742170"/>
            <a:ext cx="553604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Secure AWS Patient Data System · PSM 1 Viva</a:t>
            </a:r>
            <a:endParaRPr lang="en-US" sz="1800" dirty="0"/>
          </a:p>
        </p:txBody>
      </p:sp>
      <p:sp>
        <p:nvSpPr>
          <p:cNvPr id="46" name="Text 43"/>
          <p:cNvSpPr/>
          <p:nvPr/>
        </p:nvSpPr>
        <p:spPr>
          <a:xfrm>
            <a:off x="16603027" y="9742170"/>
            <a:ext cx="80867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09 / 14</a:t>
            </a:r>
            <a:endParaRPr lang="en-US" sz="1800" dirty="0"/>
          </a:p>
        </p:txBody>
      </p:sp>
      <p:pic>
        <p:nvPicPr>
          <p:cNvPr id="48" name="Picture 47">
            <a:extLst>
              <a:ext uri="{FF2B5EF4-FFF2-40B4-BE49-F238E27FC236}">
                <a16:creationId xmlns:a16="http://schemas.microsoft.com/office/drawing/2014/main" id="{82A6AB7C-BA3F-07F4-3ADE-0A6258DCED4F}"/>
              </a:ext>
            </a:extLst>
          </p:cNvPr>
          <p:cNvPicPr>
            <a:picLocks noChangeAspect="1"/>
          </p:cNvPicPr>
          <p:nvPr/>
        </p:nvPicPr>
        <p:blipFill>
          <a:blip r:embed="rId4"/>
          <a:stretch>
            <a:fillRect/>
          </a:stretch>
        </p:blipFill>
        <p:spPr>
          <a:xfrm>
            <a:off x="717176" y="3435798"/>
            <a:ext cx="7633749" cy="40061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icPr>
            <a:picLocks noChangeAspect="1"/>
          </p:cNvPicPr>
          <p:nvPr/>
        </p:nvPicPr>
        <p:blipFill>
          <a:blip r:embed="rId3"/>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B19C7D"/>
                </a:solidFill>
                <a:latin typeface="Arial" pitchFamily="34" charset="0"/>
                <a:ea typeface="Arial" pitchFamily="34" charset="-122"/>
                <a:cs typeface="Arial" pitchFamily="34" charset="-120"/>
              </a:rPr>
              <a:t>CHAPTER 4.2 · CHAPTER 4.5</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37" dirty="0">
                <a:solidFill>
                  <a:srgbClr val="74121D"/>
                </a:solidFill>
                <a:latin typeface="Arial" pitchFamily="34" charset="0"/>
                <a:ea typeface="Arial" pitchFamily="34" charset="-122"/>
                <a:cs typeface="Arial" pitchFamily="34" charset="-120"/>
              </a:rPr>
              <a:t>Security Design and DevSecOps Pipeline</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952500" y="2868930"/>
            <a:ext cx="5283161" cy="2303145"/>
          </a:xfrm>
          <a:prstGeom prst="rect">
            <a:avLst/>
          </a:prstGeom>
          <a:ln w="15240">
            <a:solidFill>
              <a:srgbClr val="EFE6DA"/>
            </a:solidFill>
            <a:prstDash val="solid"/>
          </a:ln>
        </p:spPr>
      </p:sp>
      <p:sp>
        <p:nvSpPr>
          <p:cNvPr id="8" name="Text 5"/>
          <p:cNvSpPr/>
          <p:nvPr/>
        </p:nvSpPr>
        <p:spPr>
          <a:xfrm>
            <a:off x="1215390" y="3131820"/>
            <a:ext cx="523311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50" dirty="0">
                <a:solidFill>
                  <a:srgbClr val="74121D"/>
                </a:solidFill>
                <a:latin typeface="Arial" pitchFamily="34" charset="0"/>
                <a:ea typeface="Arial" pitchFamily="34" charset="-122"/>
                <a:cs typeface="Arial" pitchFamily="34" charset="-120"/>
              </a:rPr>
              <a:t>LAYER 1 — JWT (APP)</a:t>
            </a:r>
            <a:endParaRPr lang="en-US" sz="1650" dirty="0"/>
          </a:p>
        </p:txBody>
      </p:sp>
      <p:sp>
        <p:nvSpPr>
          <p:cNvPr id="9" name="Text 6"/>
          <p:cNvSpPr/>
          <p:nvPr/>
        </p:nvSpPr>
        <p:spPr>
          <a:xfrm>
            <a:off x="1258253" y="3470910"/>
            <a:ext cx="4790718" cy="1514475"/>
          </a:xfrm>
          <a:prstGeom prst="rect">
            <a:avLst/>
          </a:prstGeom>
          <a:noFill/>
          <a:ln/>
        </p:spPr>
        <p:txBody>
          <a:bodyPr wrap="square" lIns="25400" tIns="25400" rIns="25400" bIns="25400" rtlCol="0" anchor="t">
            <a:normAutofit fontScale="92500" lnSpcReduction="20000"/>
          </a:bodyPr>
          <a:lstStyle/>
          <a:p>
            <a:pPr marL="166688" indent="-166688" algn="l">
              <a:lnSpc>
                <a:spcPct val="155000"/>
              </a:lnSpc>
              <a:buSzPct val="100000"/>
              <a:buChar char="•"/>
              <a:tabLst>
                <a:tab pos="166688" algn="l"/>
              </a:tabLst>
            </a:pPr>
            <a:r>
              <a:rPr lang="en-US" sz="1875" dirty="0">
                <a:solidFill>
                  <a:srgbClr val="3A3A3A"/>
                </a:solidFill>
                <a:latin typeface="Arial" pitchFamily="34" charset="0"/>
                <a:ea typeface="Arial" pitchFamily="34" charset="-122"/>
                <a:cs typeface="Arial" pitchFamily="34" charset="-120"/>
              </a:rPr>
              <a:t>httpOnly + Secure cookie</a:t>
            </a:r>
            <a:endParaRPr lang="en-US" sz="1875" dirty="0"/>
          </a:p>
          <a:p>
            <a:pPr marL="166688" indent="-166688" algn="l">
              <a:lnSpc>
                <a:spcPct val="155000"/>
              </a:lnSpc>
              <a:buSzPct val="100000"/>
              <a:buChar char="•"/>
              <a:tabLst>
                <a:tab pos="166688" algn="l"/>
              </a:tabLst>
            </a:pPr>
            <a:r>
              <a:rPr lang="en-US" sz="1875" dirty="0">
                <a:solidFill>
                  <a:srgbClr val="3A3A3A"/>
                </a:solidFill>
                <a:latin typeface="Arial" pitchFamily="34" charset="0"/>
                <a:ea typeface="Arial" pitchFamily="34" charset="-122"/>
                <a:cs typeface="Arial" pitchFamily="34" charset="-120"/>
              </a:rPr>
              <a:t>bcrypt cost factor 12</a:t>
            </a:r>
            <a:endParaRPr lang="en-US" sz="1875" dirty="0"/>
          </a:p>
          <a:p>
            <a:pPr marL="166688" indent="-166688" algn="l">
              <a:lnSpc>
                <a:spcPct val="155000"/>
              </a:lnSpc>
              <a:buSzPct val="100000"/>
              <a:buChar char="•"/>
              <a:tabLst>
                <a:tab pos="166688" algn="l"/>
              </a:tabLst>
            </a:pPr>
            <a:r>
              <a:rPr lang="en-US" sz="1875" dirty="0">
                <a:solidFill>
                  <a:srgbClr val="3A3A3A"/>
                </a:solidFill>
                <a:latin typeface="Arial" pitchFamily="34" charset="0"/>
                <a:ea typeface="Arial" pitchFamily="34" charset="-122"/>
                <a:cs typeface="Arial" pitchFamily="34" charset="-120"/>
              </a:rPr>
              <a:t>Role in token payload</a:t>
            </a:r>
            <a:endParaRPr lang="en-US" sz="1875" dirty="0"/>
          </a:p>
          <a:p>
            <a:pPr marL="166688" indent="-166688" algn="l">
              <a:lnSpc>
                <a:spcPct val="155000"/>
              </a:lnSpc>
              <a:buSzPct val="100000"/>
              <a:buChar char="•"/>
              <a:tabLst>
                <a:tab pos="166688" algn="l"/>
              </a:tabLst>
            </a:pPr>
            <a:r>
              <a:rPr lang="en-US" sz="1875" dirty="0">
                <a:solidFill>
                  <a:srgbClr val="3A3A3A"/>
                </a:solidFill>
                <a:latin typeface="Arial" pitchFamily="34" charset="0"/>
                <a:ea typeface="Arial" pitchFamily="34" charset="-122"/>
                <a:cs typeface="Arial" pitchFamily="34" charset="-120"/>
              </a:rPr>
              <a:t>SameSite=Strict</a:t>
            </a:r>
            <a:endParaRPr lang="en-US" sz="1875" dirty="0"/>
          </a:p>
        </p:txBody>
      </p:sp>
      <p:sp>
        <p:nvSpPr>
          <p:cNvPr id="10" name="Shape 7"/>
          <p:cNvSpPr/>
          <p:nvPr/>
        </p:nvSpPr>
        <p:spPr>
          <a:xfrm>
            <a:off x="6502361" y="2868930"/>
            <a:ext cx="5283161" cy="2303145"/>
          </a:xfrm>
          <a:prstGeom prst="rect">
            <a:avLst/>
          </a:prstGeom>
          <a:ln w="15240">
            <a:solidFill>
              <a:srgbClr val="EFE6DA"/>
            </a:solidFill>
            <a:prstDash val="solid"/>
          </a:ln>
        </p:spPr>
      </p:sp>
      <p:sp>
        <p:nvSpPr>
          <p:cNvPr id="11" name="Text 8"/>
          <p:cNvSpPr/>
          <p:nvPr/>
        </p:nvSpPr>
        <p:spPr>
          <a:xfrm>
            <a:off x="6765250" y="3131820"/>
            <a:ext cx="523311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50" dirty="0">
                <a:solidFill>
                  <a:srgbClr val="74121D"/>
                </a:solidFill>
                <a:latin typeface="Arial" pitchFamily="34" charset="0"/>
                <a:ea typeface="Arial" pitchFamily="34" charset="-122"/>
                <a:cs typeface="Arial" pitchFamily="34" charset="-120"/>
              </a:rPr>
              <a:t>LAYER 2 — AWS IAM (INFRA)</a:t>
            </a:r>
            <a:endParaRPr lang="en-US" sz="1650" dirty="0"/>
          </a:p>
        </p:txBody>
      </p:sp>
      <p:sp>
        <p:nvSpPr>
          <p:cNvPr id="12" name="Text 9"/>
          <p:cNvSpPr/>
          <p:nvPr/>
        </p:nvSpPr>
        <p:spPr>
          <a:xfrm>
            <a:off x="6808113" y="3470910"/>
            <a:ext cx="4790718" cy="1514475"/>
          </a:xfrm>
          <a:prstGeom prst="rect">
            <a:avLst/>
          </a:prstGeom>
          <a:noFill/>
          <a:ln/>
        </p:spPr>
        <p:txBody>
          <a:bodyPr wrap="square" lIns="25400" tIns="25400" rIns="25400" bIns="25400" rtlCol="0" anchor="t">
            <a:normAutofit fontScale="92500" lnSpcReduction="20000"/>
          </a:bodyPr>
          <a:lstStyle/>
          <a:p>
            <a:pPr marL="166688" indent="-166688" algn="l">
              <a:lnSpc>
                <a:spcPct val="155000"/>
              </a:lnSpc>
              <a:buSzPct val="100000"/>
              <a:buChar char="•"/>
              <a:tabLst>
                <a:tab pos="166688" algn="l"/>
              </a:tabLst>
            </a:pPr>
            <a:r>
              <a:rPr lang="en-US" sz="1875" dirty="0">
                <a:solidFill>
                  <a:srgbClr val="3A3A3A"/>
                </a:solidFill>
                <a:latin typeface="Arial" pitchFamily="34" charset="0"/>
                <a:ea typeface="Arial" pitchFamily="34" charset="-122"/>
                <a:cs typeface="Arial" pitchFamily="34" charset="-120"/>
              </a:rPr>
              <a:t>Least-privilege per service</a:t>
            </a:r>
            <a:endParaRPr lang="en-US" sz="1875" dirty="0"/>
          </a:p>
          <a:p>
            <a:pPr marL="166688" indent="-166688" algn="l">
              <a:lnSpc>
                <a:spcPct val="155000"/>
              </a:lnSpc>
              <a:buSzPct val="100000"/>
              <a:buChar char="•"/>
              <a:tabLst>
                <a:tab pos="166688" algn="l"/>
              </a:tabLst>
            </a:pPr>
            <a:r>
              <a:rPr lang="en-US" sz="1875" dirty="0">
                <a:solidFill>
                  <a:srgbClr val="3A3A3A"/>
                </a:solidFill>
                <a:latin typeface="Arial" pitchFamily="34" charset="0"/>
                <a:ea typeface="Arial" pitchFamily="34" charset="-122"/>
                <a:cs typeface="Arial" pitchFamily="34" charset="-120"/>
              </a:rPr>
              <a:t>EC2 cannot reach RDS directly</a:t>
            </a:r>
            <a:endParaRPr lang="en-US" sz="1875" dirty="0"/>
          </a:p>
          <a:p>
            <a:pPr marL="166688" indent="-166688" algn="l">
              <a:lnSpc>
                <a:spcPct val="155000"/>
              </a:lnSpc>
              <a:buSzPct val="100000"/>
              <a:buChar char="•"/>
              <a:tabLst>
                <a:tab pos="166688" algn="l"/>
              </a:tabLst>
            </a:pPr>
            <a:r>
              <a:rPr lang="en-US" sz="1875" dirty="0">
                <a:solidFill>
                  <a:srgbClr val="3A3A3A"/>
                </a:solidFill>
                <a:latin typeface="Arial" pitchFamily="34" charset="0"/>
                <a:ea typeface="Arial" pitchFamily="34" charset="-122"/>
                <a:cs typeface="Arial" pitchFamily="34" charset="-120"/>
              </a:rPr>
              <a:t>S3 blocks public access</a:t>
            </a:r>
            <a:endParaRPr lang="en-US" sz="1875" dirty="0"/>
          </a:p>
          <a:p>
            <a:pPr marL="166688" indent="-166688" algn="l">
              <a:lnSpc>
                <a:spcPct val="155000"/>
              </a:lnSpc>
              <a:buSzPct val="100000"/>
              <a:buChar char="•"/>
              <a:tabLst>
                <a:tab pos="166688" algn="l"/>
              </a:tabLst>
            </a:pPr>
            <a:r>
              <a:rPr lang="en-US" sz="1875" dirty="0">
                <a:solidFill>
                  <a:srgbClr val="3A3A3A"/>
                </a:solidFill>
                <a:latin typeface="Arial" pitchFamily="34" charset="0"/>
                <a:ea typeface="Arial" pitchFamily="34" charset="-122"/>
                <a:cs typeface="Arial" pitchFamily="34" charset="-120"/>
              </a:rPr>
              <a:t>Policies enforced by Terraform</a:t>
            </a:r>
            <a:endParaRPr lang="en-US" sz="1875" dirty="0"/>
          </a:p>
        </p:txBody>
      </p:sp>
      <p:sp>
        <p:nvSpPr>
          <p:cNvPr id="13" name="Shape 10"/>
          <p:cNvSpPr/>
          <p:nvPr/>
        </p:nvSpPr>
        <p:spPr>
          <a:xfrm>
            <a:off x="12052221" y="2868930"/>
            <a:ext cx="5283161" cy="2303145"/>
          </a:xfrm>
          <a:prstGeom prst="rect">
            <a:avLst/>
          </a:prstGeom>
          <a:ln w="15240">
            <a:solidFill>
              <a:srgbClr val="EFE6DA"/>
            </a:solidFill>
            <a:prstDash val="solid"/>
          </a:ln>
        </p:spPr>
      </p:sp>
      <p:sp>
        <p:nvSpPr>
          <p:cNvPr id="14" name="Text 11"/>
          <p:cNvSpPr/>
          <p:nvPr/>
        </p:nvSpPr>
        <p:spPr>
          <a:xfrm>
            <a:off x="12315111" y="3131820"/>
            <a:ext cx="523311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50" dirty="0">
                <a:solidFill>
                  <a:srgbClr val="74121D"/>
                </a:solidFill>
                <a:latin typeface="Arial" pitchFamily="34" charset="0"/>
                <a:ea typeface="Arial" pitchFamily="34" charset="-122"/>
                <a:cs typeface="Arial" pitchFamily="34" charset="-120"/>
              </a:rPr>
              <a:t>LAYER 3 — POSTGRESQL RLS (DB)</a:t>
            </a:r>
            <a:endParaRPr lang="en-US" sz="1650" dirty="0"/>
          </a:p>
        </p:txBody>
      </p:sp>
      <p:sp>
        <p:nvSpPr>
          <p:cNvPr id="15" name="Text 12"/>
          <p:cNvSpPr/>
          <p:nvPr/>
        </p:nvSpPr>
        <p:spPr>
          <a:xfrm>
            <a:off x="12357974" y="3470910"/>
            <a:ext cx="4790718" cy="1514475"/>
          </a:xfrm>
          <a:prstGeom prst="rect">
            <a:avLst/>
          </a:prstGeom>
          <a:noFill/>
          <a:ln/>
        </p:spPr>
        <p:txBody>
          <a:bodyPr wrap="square" lIns="25400" tIns="25400" rIns="25400" bIns="25400" rtlCol="0" anchor="t">
            <a:normAutofit fontScale="92500" lnSpcReduction="20000"/>
          </a:bodyPr>
          <a:lstStyle/>
          <a:p>
            <a:pPr marL="166688" indent="-166688" algn="l">
              <a:lnSpc>
                <a:spcPct val="155000"/>
              </a:lnSpc>
              <a:buSzPct val="100000"/>
              <a:buChar char="•"/>
              <a:tabLst>
                <a:tab pos="166688" algn="l"/>
              </a:tabLst>
            </a:pPr>
            <a:r>
              <a:rPr lang="en-US" sz="1875" dirty="0">
                <a:solidFill>
                  <a:srgbClr val="3A3A3A"/>
                </a:solidFill>
                <a:latin typeface="Arial" pitchFamily="34" charset="0"/>
                <a:ea typeface="Arial" pitchFamily="34" charset="-122"/>
                <a:cs typeface="Arial" pitchFamily="34" charset="-120"/>
              </a:rPr>
              <a:t>Doctors: assigned records only</a:t>
            </a:r>
            <a:endParaRPr lang="en-US" sz="1875" dirty="0"/>
          </a:p>
          <a:p>
            <a:pPr marL="166688" indent="-166688" algn="l">
              <a:lnSpc>
                <a:spcPct val="155000"/>
              </a:lnSpc>
              <a:buSzPct val="100000"/>
              <a:buChar char="•"/>
              <a:tabLst>
                <a:tab pos="166688" algn="l"/>
              </a:tabLst>
            </a:pPr>
            <a:r>
              <a:rPr lang="en-US" sz="1875" dirty="0">
                <a:solidFill>
                  <a:srgbClr val="3A3A3A"/>
                </a:solidFill>
                <a:latin typeface="Arial" pitchFamily="34" charset="0"/>
                <a:ea typeface="Arial" pitchFamily="34" charset="-122"/>
                <a:cs typeface="Arial" pitchFamily="34" charset="-120"/>
              </a:rPr>
              <a:t>Patients: own profile only</a:t>
            </a:r>
            <a:endParaRPr lang="en-US" sz="1875" dirty="0"/>
          </a:p>
          <a:p>
            <a:pPr marL="166688" indent="-166688" algn="l">
              <a:lnSpc>
                <a:spcPct val="155000"/>
              </a:lnSpc>
              <a:buSzPct val="100000"/>
              <a:buChar char="•"/>
              <a:tabLst>
                <a:tab pos="166688" algn="l"/>
              </a:tabLst>
            </a:pPr>
            <a:r>
              <a:rPr lang="en-US" sz="1875" dirty="0">
                <a:solidFill>
                  <a:srgbClr val="3A3A3A"/>
                </a:solidFill>
                <a:latin typeface="Arial" pitchFamily="34" charset="0"/>
                <a:ea typeface="Arial" pitchFamily="34" charset="-122"/>
                <a:cs typeface="Arial" pitchFamily="34" charset="-120"/>
              </a:rPr>
              <a:t>Independent of application code</a:t>
            </a:r>
            <a:endParaRPr lang="en-US" sz="1875" dirty="0"/>
          </a:p>
          <a:p>
            <a:pPr marL="166688" indent="-166688" algn="l">
              <a:lnSpc>
                <a:spcPct val="155000"/>
              </a:lnSpc>
              <a:buSzPct val="100000"/>
              <a:buChar char="•"/>
              <a:tabLst>
                <a:tab pos="166688" algn="l"/>
              </a:tabLst>
            </a:pPr>
            <a:r>
              <a:rPr lang="en-US" sz="1875" dirty="0">
                <a:solidFill>
                  <a:srgbClr val="3A3A3A"/>
                </a:solidFill>
                <a:latin typeface="Arial" pitchFamily="34" charset="0"/>
                <a:ea typeface="Arial" pitchFamily="34" charset="-122"/>
                <a:cs typeface="Arial" pitchFamily="34" charset="-120"/>
              </a:rPr>
              <a:t>Bypass requires schema change</a:t>
            </a:r>
            <a:endParaRPr lang="en-US" sz="1875" dirty="0"/>
          </a:p>
        </p:txBody>
      </p:sp>
      <p:sp>
        <p:nvSpPr>
          <p:cNvPr id="16" name="Shape 13"/>
          <p:cNvSpPr/>
          <p:nvPr/>
        </p:nvSpPr>
        <p:spPr>
          <a:xfrm>
            <a:off x="952500" y="5476875"/>
            <a:ext cx="16383000" cy="2366010"/>
          </a:xfrm>
          <a:prstGeom prst="roundRect">
            <a:avLst>
              <a:gd name="adj" fmla="val 1610"/>
            </a:avLst>
          </a:prstGeom>
          <a:solidFill>
            <a:srgbClr val="74121D"/>
          </a:solidFill>
          <a:ln/>
        </p:spPr>
      </p:sp>
      <p:sp>
        <p:nvSpPr>
          <p:cNvPr id="17" name="Text 14"/>
          <p:cNvSpPr/>
          <p:nvPr/>
        </p:nvSpPr>
        <p:spPr>
          <a:xfrm>
            <a:off x="1295400" y="5743575"/>
            <a:ext cx="1726692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150" dirty="0">
                <a:solidFill>
                  <a:srgbClr val="E7D7C1"/>
                </a:solidFill>
                <a:latin typeface="Arial" pitchFamily="34" charset="0"/>
                <a:ea typeface="Arial" pitchFamily="34" charset="-122"/>
                <a:cs typeface="Arial" pitchFamily="34" charset="-120"/>
              </a:rPr>
              <a:t>DEVSECOPS CI/CD PIPELINE — 6 STAGES</a:t>
            </a:r>
            <a:endParaRPr lang="en-US" sz="1800" dirty="0"/>
          </a:p>
        </p:txBody>
      </p:sp>
      <p:sp>
        <p:nvSpPr>
          <p:cNvPr id="18" name="Shape 15"/>
          <p:cNvSpPr/>
          <p:nvPr/>
        </p:nvSpPr>
        <p:spPr>
          <a:xfrm>
            <a:off x="1295400" y="6469380"/>
            <a:ext cx="2250996" cy="811530"/>
          </a:xfrm>
          <a:prstGeom prst="rect">
            <a:avLst/>
          </a:prstGeom>
          <a:solidFill>
            <a:srgbClr val="FFFFFF"/>
          </a:solidFill>
          <a:ln/>
        </p:spPr>
      </p:sp>
      <p:sp>
        <p:nvSpPr>
          <p:cNvPr id="19" name="Text 16"/>
          <p:cNvSpPr/>
          <p:nvPr/>
        </p:nvSpPr>
        <p:spPr>
          <a:xfrm>
            <a:off x="1428750" y="6602730"/>
            <a:ext cx="1984296" cy="582930"/>
          </a:xfrm>
          <a:prstGeom prst="rect">
            <a:avLst/>
          </a:prstGeom>
          <a:noFill/>
          <a:ln/>
        </p:spPr>
        <p:txBody>
          <a:bodyPr wrap="square" lIns="25400" tIns="25400" rIns="25400" bIns="25400" rtlCol="0" anchor="t">
            <a:normAutofit/>
          </a:bodyPr>
          <a:lstStyle/>
          <a:p>
            <a:pPr marL="0" indent="0" algn="ctr">
              <a:lnSpc>
                <a:spcPct val="130000"/>
              </a:lnSpc>
              <a:buNone/>
            </a:pPr>
            <a:r>
              <a:rPr lang="en-US" sz="1650" b="1" dirty="0">
                <a:solidFill>
                  <a:srgbClr val="74121D"/>
                </a:solidFill>
                <a:highlight>
                  <a:srgbClr val="FFFFFF"/>
                </a:highlight>
                <a:latin typeface="Arial" pitchFamily="34" charset="0"/>
                <a:ea typeface="Arial" pitchFamily="34" charset="-122"/>
                <a:cs typeface="Arial" pitchFamily="34" charset="-120"/>
              </a:rPr>
              <a:t>1 </a:t>
            </a:r>
            <a:r>
              <a:rPr lang="en-US" sz="1500" dirty="0">
                <a:solidFill>
                  <a:srgbClr val="74121D"/>
                </a:solidFill>
                <a:latin typeface="Arial" pitchFamily="34" charset="0"/>
                <a:ea typeface="Arial" pitchFamily="34" charset="-122"/>
                <a:cs typeface="Arial" pitchFamily="34" charset="-120"/>
              </a:rPr>
              <a:t>Code Checkout</a:t>
            </a:r>
            <a:endParaRPr lang="en-US" sz="1650" dirty="0"/>
          </a:p>
        </p:txBody>
      </p:sp>
      <p:sp>
        <p:nvSpPr>
          <p:cNvPr id="20" name="Text 17"/>
          <p:cNvSpPr/>
          <p:nvPr/>
        </p:nvSpPr>
        <p:spPr>
          <a:xfrm>
            <a:off x="3622596" y="6711315"/>
            <a:ext cx="329565"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B19C7D"/>
                </a:solidFill>
                <a:latin typeface="Arial" pitchFamily="34" charset="0"/>
                <a:ea typeface="Arial" pitchFamily="34" charset="-122"/>
                <a:cs typeface="Arial" pitchFamily="34" charset="-120"/>
              </a:rPr>
              <a:t>→</a:t>
            </a:r>
            <a:endParaRPr lang="en-US" sz="2250" dirty="0"/>
          </a:p>
        </p:txBody>
      </p:sp>
      <p:sp>
        <p:nvSpPr>
          <p:cNvPr id="21" name="Shape 18"/>
          <p:cNvSpPr/>
          <p:nvPr/>
        </p:nvSpPr>
        <p:spPr>
          <a:xfrm>
            <a:off x="3984546" y="6310313"/>
            <a:ext cx="2251115" cy="1129665"/>
          </a:xfrm>
          <a:prstGeom prst="rect">
            <a:avLst/>
          </a:prstGeom>
          <a:solidFill>
            <a:srgbClr val="FFFFFF"/>
          </a:solidFill>
          <a:ln/>
        </p:spPr>
      </p:sp>
      <p:sp>
        <p:nvSpPr>
          <p:cNvPr id="22" name="Shape 19"/>
          <p:cNvSpPr/>
          <p:nvPr/>
        </p:nvSpPr>
        <p:spPr>
          <a:xfrm>
            <a:off x="3984546" y="6310313"/>
            <a:ext cx="2251115" cy="45720"/>
          </a:xfrm>
          <a:prstGeom prst="rect">
            <a:avLst/>
          </a:prstGeom>
          <a:solidFill>
            <a:srgbClr val="A7333F"/>
          </a:solidFill>
          <a:ln/>
        </p:spPr>
      </p:sp>
      <p:sp>
        <p:nvSpPr>
          <p:cNvPr id="23" name="Text 20"/>
          <p:cNvSpPr/>
          <p:nvPr/>
        </p:nvSpPr>
        <p:spPr>
          <a:xfrm>
            <a:off x="4117896" y="6489383"/>
            <a:ext cx="1984415" cy="855345"/>
          </a:xfrm>
          <a:prstGeom prst="rect">
            <a:avLst/>
          </a:prstGeom>
          <a:noFill/>
          <a:ln/>
        </p:spPr>
        <p:txBody>
          <a:bodyPr wrap="square" lIns="25400" tIns="25400" rIns="25400" bIns="25400" rtlCol="0" anchor="t">
            <a:normAutofit/>
          </a:bodyPr>
          <a:lstStyle/>
          <a:p>
            <a:pPr marL="0" indent="0" algn="ctr">
              <a:lnSpc>
                <a:spcPct val="130000"/>
              </a:lnSpc>
              <a:buNone/>
            </a:pPr>
            <a:r>
              <a:rPr lang="en-US" sz="1650" b="1" dirty="0">
                <a:solidFill>
                  <a:srgbClr val="74121D"/>
                </a:solidFill>
                <a:highlight>
                  <a:srgbClr val="FFFFFF"/>
                </a:highlight>
                <a:latin typeface="Arial" pitchFamily="34" charset="0"/>
                <a:ea typeface="Arial" pitchFamily="34" charset="-122"/>
                <a:cs typeface="Arial" pitchFamily="34" charset="-120"/>
              </a:rPr>
              <a:t>2 </a:t>
            </a:r>
            <a:r>
              <a:rPr lang="en-US" sz="1500" dirty="0">
                <a:solidFill>
                  <a:srgbClr val="74121D"/>
                </a:solidFill>
                <a:latin typeface="Arial" pitchFamily="34" charset="0"/>
                <a:ea typeface="Arial" pitchFamily="34" charset="-122"/>
                <a:cs typeface="Arial" pitchFamily="34" charset="-120"/>
              </a:rPr>
              <a:t>SonarQube SAST </a:t>
            </a:r>
            <a:r>
              <a:rPr lang="en-US" sz="1350" b="1" dirty="0">
                <a:solidFill>
                  <a:srgbClr val="A7333F"/>
                </a:solidFill>
                <a:latin typeface="Arial" pitchFamily="34" charset="0"/>
                <a:ea typeface="Arial" pitchFamily="34" charset="-122"/>
                <a:cs typeface="Arial" pitchFamily="34" charset="-120"/>
              </a:rPr>
              <a:t>BLOCKS on CRITICAL</a:t>
            </a:r>
            <a:endParaRPr lang="en-US" sz="1650" dirty="0"/>
          </a:p>
        </p:txBody>
      </p:sp>
      <p:sp>
        <p:nvSpPr>
          <p:cNvPr id="24" name="Text 21"/>
          <p:cNvSpPr/>
          <p:nvPr/>
        </p:nvSpPr>
        <p:spPr>
          <a:xfrm>
            <a:off x="6311861" y="6711315"/>
            <a:ext cx="329565"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B19C7D"/>
                </a:solidFill>
                <a:latin typeface="Arial" pitchFamily="34" charset="0"/>
                <a:ea typeface="Arial" pitchFamily="34" charset="-122"/>
                <a:cs typeface="Arial" pitchFamily="34" charset="-120"/>
              </a:rPr>
              <a:t>→</a:t>
            </a:r>
            <a:endParaRPr lang="en-US" sz="2250" dirty="0"/>
          </a:p>
        </p:txBody>
      </p:sp>
      <p:sp>
        <p:nvSpPr>
          <p:cNvPr id="25" name="Shape 22"/>
          <p:cNvSpPr/>
          <p:nvPr/>
        </p:nvSpPr>
        <p:spPr>
          <a:xfrm>
            <a:off x="6673811" y="6469380"/>
            <a:ext cx="2250996" cy="811530"/>
          </a:xfrm>
          <a:prstGeom prst="rect">
            <a:avLst/>
          </a:prstGeom>
          <a:solidFill>
            <a:srgbClr val="FFFFFF"/>
          </a:solidFill>
          <a:ln/>
        </p:spPr>
      </p:sp>
      <p:sp>
        <p:nvSpPr>
          <p:cNvPr id="26" name="Text 23"/>
          <p:cNvSpPr/>
          <p:nvPr/>
        </p:nvSpPr>
        <p:spPr>
          <a:xfrm>
            <a:off x="6807161" y="6602730"/>
            <a:ext cx="1984296" cy="582930"/>
          </a:xfrm>
          <a:prstGeom prst="rect">
            <a:avLst/>
          </a:prstGeom>
          <a:noFill/>
          <a:ln/>
        </p:spPr>
        <p:txBody>
          <a:bodyPr wrap="square" lIns="25400" tIns="25400" rIns="25400" bIns="25400" rtlCol="0" anchor="t">
            <a:normAutofit/>
          </a:bodyPr>
          <a:lstStyle/>
          <a:p>
            <a:pPr marL="0" indent="0" algn="ctr">
              <a:lnSpc>
                <a:spcPct val="130000"/>
              </a:lnSpc>
              <a:buNone/>
            </a:pPr>
            <a:r>
              <a:rPr lang="en-US" sz="1650" b="1" dirty="0">
                <a:solidFill>
                  <a:srgbClr val="74121D"/>
                </a:solidFill>
                <a:highlight>
                  <a:srgbClr val="FFFFFF"/>
                </a:highlight>
                <a:latin typeface="Arial" pitchFamily="34" charset="0"/>
                <a:ea typeface="Arial" pitchFamily="34" charset="-122"/>
                <a:cs typeface="Arial" pitchFamily="34" charset="-120"/>
              </a:rPr>
              <a:t>3 </a:t>
            </a:r>
            <a:r>
              <a:rPr lang="en-US" sz="1500" dirty="0">
                <a:solidFill>
                  <a:srgbClr val="74121D"/>
                </a:solidFill>
                <a:latin typeface="Arial" pitchFamily="34" charset="0"/>
                <a:ea typeface="Arial" pitchFamily="34" charset="-122"/>
                <a:cs typeface="Arial" pitchFamily="34" charset="-120"/>
              </a:rPr>
              <a:t>Docker Build</a:t>
            </a:r>
            <a:endParaRPr lang="en-US" sz="1650" dirty="0"/>
          </a:p>
        </p:txBody>
      </p:sp>
      <p:sp>
        <p:nvSpPr>
          <p:cNvPr id="27" name="Text 24"/>
          <p:cNvSpPr/>
          <p:nvPr/>
        </p:nvSpPr>
        <p:spPr>
          <a:xfrm>
            <a:off x="9001006" y="6711315"/>
            <a:ext cx="329565"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B19C7D"/>
                </a:solidFill>
                <a:latin typeface="Arial" pitchFamily="34" charset="0"/>
                <a:ea typeface="Arial" pitchFamily="34" charset="-122"/>
                <a:cs typeface="Arial" pitchFamily="34" charset="-120"/>
              </a:rPr>
              <a:t>→</a:t>
            </a:r>
            <a:endParaRPr lang="en-US" sz="2250" dirty="0"/>
          </a:p>
        </p:txBody>
      </p:sp>
      <p:sp>
        <p:nvSpPr>
          <p:cNvPr id="28" name="Shape 25"/>
          <p:cNvSpPr/>
          <p:nvPr/>
        </p:nvSpPr>
        <p:spPr>
          <a:xfrm>
            <a:off x="9362956" y="6174105"/>
            <a:ext cx="2251115" cy="1402080"/>
          </a:xfrm>
          <a:prstGeom prst="rect">
            <a:avLst/>
          </a:prstGeom>
          <a:solidFill>
            <a:srgbClr val="FFFFFF"/>
          </a:solidFill>
          <a:ln/>
        </p:spPr>
      </p:sp>
      <p:sp>
        <p:nvSpPr>
          <p:cNvPr id="29" name="Shape 26"/>
          <p:cNvSpPr/>
          <p:nvPr/>
        </p:nvSpPr>
        <p:spPr>
          <a:xfrm>
            <a:off x="9362956" y="6174105"/>
            <a:ext cx="2251115" cy="45720"/>
          </a:xfrm>
          <a:prstGeom prst="rect">
            <a:avLst/>
          </a:prstGeom>
          <a:solidFill>
            <a:srgbClr val="A7333F"/>
          </a:solidFill>
          <a:ln/>
        </p:spPr>
      </p:sp>
      <p:sp>
        <p:nvSpPr>
          <p:cNvPr id="30" name="Text 27"/>
          <p:cNvSpPr/>
          <p:nvPr/>
        </p:nvSpPr>
        <p:spPr>
          <a:xfrm>
            <a:off x="9496306" y="6353175"/>
            <a:ext cx="1984415" cy="1127760"/>
          </a:xfrm>
          <a:prstGeom prst="rect">
            <a:avLst/>
          </a:prstGeom>
          <a:noFill/>
          <a:ln/>
        </p:spPr>
        <p:txBody>
          <a:bodyPr wrap="square" lIns="25400" tIns="25400" rIns="25400" bIns="25400" rtlCol="0" anchor="t">
            <a:normAutofit/>
          </a:bodyPr>
          <a:lstStyle/>
          <a:p>
            <a:pPr marL="0" indent="0" algn="ctr">
              <a:lnSpc>
                <a:spcPct val="130000"/>
              </a:lnSpc>
              <a:buNone/>
            </a:pPr>
            <a:r>
              <a:rPr lang="en-US" sz="1650" b="1" dirty="0">
                <a:solidFill>
                  <a:srgbClr val="74121D"/>
                </a:solidFill>
                <a:highlight>
                  <a:srgbClr val="FFFFFF"/>
                </a:highlight>
                <a:latin typeface="Arial" pitchFamily="34" charset="0"/>
                <a:ea typeface="Arial" pitchFamily="34" charset="-122"/>
                <a:cs typeface="Arial" pitchFamily="34" charset="-120"/>
              </a:rPr>
              <a:t>4 </a:t>
            </a:r>
            <a:r>
              <a:rPr lang="en-US" sz="1500" dirty="0">
                <a:solidFill>
                  <a:srgbClr val="74121D"/>
                </a:solidFill>
                <a:latin typeface="Arial" pitchFamily="34" charset="0"/>
                <a:ea typeface="Arial" pitchFamily="34" charset="-122"/>
                <a:cs typeface="Arial" pitchFamily="34" charset="-120"/>
              </a:rPr>
              <a:t>Trivy Image Scan </a:t>
            </a:r>
            <a:r>
              <a:rPr lang="en-US" sz="1350" b="1" dirty="0">
                <a:solidFill>
                  <a:srgbClr val="A7333F"/>
                </a:solidFill>
                <a:latin typeface="Arial" pitchFamily="34" charset="0"/>
                <a:ea typeface="Arial" pitchFamily="34" charset="-122"/>
                <a:cs typeface="Arial" pitchFamily="34" charset="-120"/>
              </a:rPr>
              <a:t>BLOCKS on CRITICAL CVE</a:t>
            </a:r>
            <a:endParaRPr lang="en-US" sz="1650" dirty="0"/>
          </a:p>
        </p:txBody>
      </p:sp>
      <p:sp>
        <p:nvSpPr>
          <p:cNvPr id="31" name="Text 28"/>
          <p:cNvSpPr/>
          <p:nvPr/>
        </p:nvSpPr>
        <p:spPr>
          <a:xfrm>
            <a:off x="11690271" y="6711315"/>
            <a:ext cx="329565"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B19C7D"/>
                </a:solidFill>
                <a:latin typeface="Arial" pitchFamily="34" charset="0"/>
                <a:ea typeface="Arial" pitchFamily="34" charset="-122"/>
                <a:cs typeface="Arial" pitchFamily="34" charset="-120"/>
              </a:rPr>
              <a:t>→</a:t>
            </a:r>
            <a:endParaRPr lang="en-US" sz="2250" dirty="0"/>
          </a:p>
        </p:txBody>
      </p:sp>
      <p:sp>
        <p:nvSpPr>
          <p:cNvPr id="32" name="Shape 29"/>
          <p:cNvSpPr/>
          <p:nvPr/>
        </p:nvSpPr>
        <p:spPr>
          <a:xfrm>
            <a:off x="12052221" y="6174105"/>
            <a:ext cx="2251115" cy="1402080"/>
          </a:xfrm>
          <a:prstGeom prst="rect">
            <a:avLst/>
          </a:prstGeom>
          <a:solidFill>
            <a:srgbClr val="FFFFFF"/>
          </a:solidFill>
          <a:ln/>
        </p:spPr>
      </p:sp>
      <p:sp>
        <p:nvSpPr>
          <p:cNvPr id="33" name="Shape 30"/>
          <p:cNvSpPr/>
          <p:nvPr/>
        </p:nvSpPr>
        <p:spPr>
          <a:xfrm>
            <a:off x="12052221" y="6174105"/>
            <a:ext cx="2251115" cy="45720"/>
          </a:xfrm>
          <a:prstGeom prst="rect">
            <a:avLst/>
          </a:prstGeom>
          <a:solidFill>
            <a:srgbClr val="A7333F"/>
          </a:solidFill>
          <a:ln/>
        </p:spPr>
      </p:sp>
      <p:sp>
        <p:nvSpPr>
          <p:cNvPr id="34" name="Text 31"/>
          <p:cNvSpPr/>
          <p:nvPr/>
        </p:nvSpPr>
        <p:spPr>
          <a:xfrm>
            <a:off x="12185571" y="6353175"/>
            <a:ext cx="1984415" cy="1127760"/>
          </a:xfrm>
          <a:prstGeom prst="rect">
            <a:avLst/>
          </a:prstGeom>
          <a:noFill/>
          <a:ln/>
        </p:spPr>
        <p:txBody>
          <a:bodyPr wrap="square" lIns="25400" tIns="25400" rIns="25400" bIns="25400" rtlCol="0" anchor="t">
            <a:normAutofit/>
          </a:bodyPr>
          <a:lstStyle/>
          <a:p>
            <a:pPr marL="0" indent="0" algn="ctr">
              <a:lnSpc>
                <a:spcPct val="130000"/>
              </a:lnSpc>
              <a:buNone/>
            </a:pPr>
            <a:r>
              <a:rPr lang="en-US" sz="1650" b="1" dirty="0">
                <a:solidFill>
                  <a:srgbClr val="74121D"/>
                </a:solidFill>
                <a:highlight>
                  <a:srgbClr val="FFFFFF"/>
                </a:highlight>
                <a:latin typeface="Arial" pitchFamily="34" charset="0"/>
                <a:ea typeface="Arial" pitchFamily="34" charset="-122"/>
                <a:cs typeface="Arial" pitchFamily="34" charset="-120"/>
              </a:rPr>
              <a:t>5 </a:t>
            </a:r>
            <a:r>
              <a:rPr lang="en-US" sz="1500" dirty="0">
                <a:solidFill>
                  <a:srgbClr val="74121D"/>
                </a:solidFill>
                <a:latin typeface="Arial" pitchFamily="34" charset="0"/>
                <a:ea typeface="Arial" pitchFamily="34" charset="-122"/>
                <a:cs typeface="Arial" pitchFamily="34" charset="-120"/>
              </a:rPr>
              <a:t>Checkov IaC Scan </a:t>
            </a:r>
            <a:r>
              <a:rPr lang="en-US" sz="1350" b="1" dirty="0">
                <a:solidFill>
                  <a:srgbClr val="A7333F"/>
                </a:solidFill>
                <a:latin typeface="Arial" pitchFamily="34" charset="0"/>
                <a:ea typeface="Arial" pitchFamily="34" charset="-122"/>
                <a:cs typeface="Arial" pitchFamily="34" charset="-120"/>
              </a:rPr>
              <a:t>BLOCKS on HIGH/CRITICAL</a:t>
            </a:r>
            <a:endParaRPr lang="en-US" sz="1650" dirty="0"/>
          </a:p>
        </p:txBody>
      </p:sp>
      <p:sp>
        <p:nvSpPr>
          <p:cNvPr id="35" name="Text 32"/>
          <p:cNvSpPr/>
          <p:nvPr/>
        </p:nvSpPr>
        <p:spPr>
          <a:xfrm>
            <a:off x="14379535" y="6711315"/>
            <a:ext cx="329565"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B19C7D"/>
                </a:solidFill>
                <a:latin typeface="Arial" pitchFamily="34" charset="0"/>
                <a:ea typeface="Arial" pitchFamily="34" charset="-122"/>
                <a:cs typeface="Arial" pitchFamily="34" charset="-120"/>
              </a:rPr>
              <a:t>→</a:t>
            </a:r>
            <a:endParaRPr lang="en-US" sz="2250" dirty="0"/>
          </a:p>
        </p:txBody>
      </p:sp>
      <p:sp>
        <p:nvSpPr>
          <p:cNvPr id="36" name="Shape 33"/>
          <p:cNvSpPr/>
          <p:nvPr/>
        </p:nvSpPr>
        <p:spPr>
          <a:xfrm>
            <a:off x="14741485" y="6310313"/>
            <a:ext cx="2251115" cy="1129665"/>
          </a:xfrm>
          <a:prstGeom prst="rect">
            <a:avLst/>
          </a:prstGeom>
          <a:solidFill>
            <a:srgbClr val="FFFFFF"/>
          </a:solidFill>
          <a:ln/>
        </p:spPr>
      </p:sp>
      <p:sp>
        <p:nvSpPr>
          <p:cNvPr id="37" name="Shape 34"/>
          <p:cNvSpPr/>
          <p:nvPr/>
        </p:nvSpPr>
        <p:spPr>
          <a:xfrm>
            <a:off x="14741485" y="6310313"/>
            <a:ext cx="2251115" cy="45720"/>
          </a:xfrm>
          <a:prstGeom prst="rect">
            <a:avLst/>
          </a:prstGeom>
          <a:solidFill>
            <a:srgbClr val="2A6F4D"/>
          </a:solidFill>
          <a:ln/>
        </p:spPr>
      </p:sp>
      <p:sp>
        <p:nvSpPr>
          <p:cNvPr id="38" name="Text 35"/>
          <p:cNvSpPr/>
          <p:nvPr/>
        </p:nvSpPr>
        <p:spPr>
          <a:xfrm>
            <a:off x="14874835" y="6489383"/>
            <a:ext cx="1984415" cy="855345"/>
          </a:xfrm>
          <a:prstGeom prst="rect">
            <a:avLst/>
          </a:prstGeom>
          <a:noFill/>
          <a:ln/>
        </p:spPr>
        <p:txBody>
          <a:bodyPr wrap="square" lIns="25400" tIns="25400" rIns="25400" bIns="25400" rtlCol="0" anchor="t">
            <a:normAutofit/>
          </a:bodyPr>
          <a:lstStyle/>
          <a:p>
            <a:pPr marL="0" indent="0" algn="ctr">
              <a:lnSpc>
                <a:spcPct val="130000"/>
              </a:lnSpc>
              <a:buNone/>
            </a:pPr>
            <a:r>
              <a:rPr lang="en-US" sz="1650" b="1" dirty="0">
                <a:solidFill>
                  <a:srgbClr val="2A6F4D"/>
                </a:solidFill>
                <a:highlight>
                  <a:srgbClr val="FFFFFF"/>
                </a:highlight>
                <a:latin typeface="Arial" pitchFamily="34" charset="0"/>
                <a:ea typeface="Arial" pitchFamily="34" charset="-122"/>
                <a:cs typeface="Arial" pitchFamily="34" charset="-120"/>
              </a:rPr>
              <a:t>6 </a:t>
            </a:r>
            <a:r>
              <a:rPr lang="en-US" sz="1500" dirty="0">
                <a:solidFill>
                  <a:srgbClr val="2A6F4D"/>
                </a:solidFill>
                <a:latin typeface="Arial" pitchFamily="34" charset="0"/>
                <a:ea typeface="Arial" pitchFamily="34" charset="-122"/>
                <a:cs typeface="Arial" pitchFamily="34" charset="-120"/>
              </a:rPr>
              <a:t>Terraform Apply </a:t>
            </a:r>
            <a:r>
              <a:rPr lang="en-US" sz="1350" b="1" dirty="0">
                <a:solidFill>
                  <a:srgbClr val="2A6F4D"/>
                </a:solidFill>
                <a:latin typeface="Arial" pitchFamily="34" charset="0"/>
                <a:ea typeface="Arial" pitchFamily="34" charset="-122"/>
                <a:cs typeface="Arial" pitchFamily="34" charset="-120"/>
              </a:rPr>
              <a:t>ONLY if all 3 pass</a:t>
            </a:r>
            <a:endParaRPr lang="en-US" sz="1650" dirty="0"/>
          </a:p>
        </p:txBody>
      </p:sp>
      <p:sp>
        <p:nvSpPr>
          <p:cNvPr id="39" name="Text 36"/>
          <p:cNvSpPr/>
          <p:nvPr/>
        </p:nvSpPr>
        <p:spPr>
          <a:xfrm>
            <a:off x="952500" y="8052435"/>
            <a:ext cx="16874490" cy="556260"/>
          </a:xfrm>
          <a:prstGeom prst="rect">
            <a:avLst/>
          </a:prstGeom>
          <a:noFill/>
          <a:ln/>
        </p:spPr>
        <p:txBody>
          <a:bodyPr wrap="square" lIns="25400" tIns="25400" rIns="25400" bIns="25400" rtlCol="0" anchor="t">
            <a:normAutofit lnSpcReduction="10000"/>
          </a:bodyPr>
          <a:lstStyle/>
          <a:p>
            <a:pPr marL="0" indent="0" algn="l">
              <a:buNone/>
            </a:pPr>
            <a:r>
              <a:rPr lang="en-US" sz="1800" i="1" dirty="0">
                <a:solidFill>
                  <a:srgbClr val="74121D"/>
                </a:solidFill>
                <a:latin typeface="Arial" pitchFamily="34" charset="0"/>
                <a:ea typeface="Arial" pitchFamily="34" charset="-122"/>
                <a:cs typeface="Arial" pitchFamily="34" charset="-120"/>
              </a:rPr>
              <a:t>HIPAA mapping: §164.312(a)(1) → 3-layer RBAC · §164.312(b) → CloudTrail + audit_log · §164.312(e)(2) → TLS + AES-256 · §164.312(a)(2)(ii) → Terraform RTO &lt; 15 min</a:t>
            </a:r>
            <a:endParaRPr lang="en-US" sz="1800" dirty="0"/>
          </a:p>
        </p:txBody>
      </p:sp>
      <p:sp>
        <p:nvSpPr>
          <p:cNvPr id="40" name="Text 37"/>
          <p:cNvSpPr/>
          <p:nvPr/>
        </p:nvSpPr>
        <p:spPr>
          <a:xfrm>
            <a:off x="952500" y="9742170"/>
            <a:ext cx="553604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Secure AWS Patient Data System · PSM 1 Viva</a:t>
            </a:r>
            <a:endParaRPr lang="en-US" sz="1800" dirty="0"/>
          </a:p>
        </p:txBody>
      </p:sp>
      <p:sp>
        <p:nvSpPr>
          <p:cNvPr id="41" name="Text 38"/>
          <p:cNvSpPr/>
          <p:nvPr/>
        </p:nvSpPr>
        <p:spPr>
          <a:xfrm>
            <a:off x="16603027" y="9742170"/>
            <a:ext cx="80867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10 / 14</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icPr>
            <a:picLocks noChangeAspect="1"/>
          </p:cNvPicPr>
          <p:nvPr/>
        </p:nvPicPr>
        <p:blipFill>
          <a:blip r:embed="rId3"/>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B19C7D"/>
                </a:solidFill>
                <a:latin typeface="Arial" pitchFamily="34" charset="0"/>
                <a:ea typeface="Arial" pitchFamily="34" charset="-122"/>
                <a:cs typeface="Arial" pitchFamily="34" charset="-120"/>
              </a:rPr>
              <a:t>APPENDIX E</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37" dirty="0">
                <a:solidFill>
                  <a:srgbClr val="74121D"/>
                </a:solidFill>
                <a:latin typeface="Arial" pitchFamily="34" charset="0"/>
                <a:ea typeface="Arial" pitchFamily="34" charset="-122"/>
                <a:cs typeface="Arial" pitchFamily="34" charset="-120"/>
              </a:rPr>
              <a:t>Interface Wireframes — Role-Based Design</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952500" y="2868930"/>
            <a:ext cx="3895725" cy="525780"/>
          </a:xfrm>
          <a:prstGeom prst="rect">
            <a:avLst/>
          </a:prstGeom>
          <a:solidFill>
            <a:srgbClr val="74121D"/>
          </a:solidFill>
          <a:ln/>
        </p:spPr>
      </p:sp>
      <p:sp>
        <p:nvSpPr>
          <p:cNvPr id="8" name="Text 5"/>
          <p:cNvSpPr/>
          <p:nvPr/>
        </p:nvSpPr>
        <p:spPr>
          <a:xfrm>
            <a:off x="1123950" y="3002280"/>
            <a:ext cx="3669697"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FFFFFF"/>
                </a:solidFill>
                <a:latin typeface="Arial" pitchFamily="34" charset="0"/>
                <a:ea typeface="Arial" pitchFamily="34" charset="-122"/>
                <a:cs typeface="Arial" pitchFamily="34" charset="-120"/>
              </a:rPr>
              <a:t>Fig E.1 — Login</a:t>
            </a:r>
            <a:endParaRPr lang="en-US" sz="1800" dirty="0"/>
          </a:p>
        </p:txBody>
      </p:sp>
      <p:sp>
        <p:nvSpPr>
          <p:cNvPr id="9" name="Text 6"/>
          <p:cNvSpPr/>
          <p:nvPr/>
        </p:nvSpPr>
        <p:spPr>
          <a:xfrm>
            <a:off x="952500" y="3394710"/>
            <a:ext cx="4285298" cy="297180"/>
          </a:xfrm>
          <a:prstGeom prst="rect">
            <a:avLst/>
          </a:prstGeom>
          <a:noFill/>
          <a:ln/>
        </p:spPr>
        <p:txBody>
          <a:bodyPr wrap="square" lIns="25400" tIns="25400" rIns="25400" bIns="25400" rtlCol="0" anchor="t">
            <a:normAutofit fontScale="92500" lnSpcReduction="10000"/>
          </a:bodyPr>
          <a:lstStyle/>
          <a:p>
            <a:pPr marL="0" indent="0" algn="l">
              <a:buNone/>
            </a:pPr>
            <a:endParaRPr lang="en-US" sz="1800" dirty="0"/>
          </a:p>
        </p:txBody>
      </p:sp>
      <p:sp>
        <p:nvSpPr>
          <p:cNvPr id="10" name="Shape 7"/>
          <p:cNvSpPr/>
          <p:nvPr/>
        </p:nvSpPr>
        <p:spPr>
          <a:xfrm>
            <a:off x="952500" y="7395210"/>
            <a:ext cx="3895725" cy="1337310"/>
          </a:xfrm>
          <a:prstGeom prst="rect">
            <a:avLst/>
          </a:prstGeom>
          <a:solidFill>
            <a:srgbClr val="FBF6EE"/>
          </a:solidFill>
          <a:ln/>
        </p:spPr>
      </p:sp>
      <p:sp>
        <p:nvSpPr>
          <p:cNvPr id="11" name="Shape 8"/>
          <p:cNvSpPr/>
          <p:nvPr/>
        </p:nvSpPr>
        <p:spPr>
          <a:xfrm>
            <a:off x="952500" y="8724900"/>
            <a:ext cx="3895725" cy="9525"/>
          </a:xfrm>
          <a:prstGeom prst="rect">
            <a:avLst/>
          </a:prstGeom>
          <a:solidFill>
            <a:srgbClr val="EFE6DA"/>
          </a:solidFill>
          <a:ln/>
        </p:spPr>
      </p:sp>
      <p:sp>
        <p:nvSpPr>
          <p:cNvPr id="12" name="Shape 9"/>
          <p:cNvSpPr/>
          <p:nvPr/>
        </p:nvSpPr>
        <p:spPr>
          <a:xfrm>
            <a:off x="952500" y="7395210"/>
            <a:ext cx="9525" cy="1337310"/>
          </a:xfrm>
          <a:prstGeom prst="rect">
            <a:avLst/>
          </a:prstGeom>
          <a:solidFill>
            <a:srgbClr val="EFE6DA"/>
          </a:solidFill>
          <a:ln/>
        </p:spPr>
      </p:sp>
      <p:sp>
        <p:nvSpPr>
          <p:cNvPr id="13" name="Shape 10"/>
          <p:cNvSpPr/>
          <p:nvPr/>
        </p:nvSpPr>
        <p:spPr>
          <a:xfrm>
            <a:off x="4840605" y="7395210"/>
            <a:ext cx="9525" cy="1337310"/>
          </a:xfrm>
          <a:prstGeom prst="rect">
            <a:avLst/>
          </a:prstGeom>
          <a:solidFill>
            <a:srgbClr val="EFE6DA"/>
          </a:solidFill>
          <a:ln/>
        </p:spPr>
      </p:sp>
      <p:sp>
        <p:nvSpPr>
          <p:cNvPr id="14" name="Text 11"/>
          <p:cNvSpPr/>
          <p:nvPr/>
        </p:nvSpPr>
        <p:spPr>
          <a:xfrm>
            <a:off x="1143000" y="7528560"/>
            <a:ext cx="3621405" cy="1101090"/>
          </a:xfrm>
          <a:prstGeom prst="rect">
            <a:avLst/>
          </a:prstGeom>
          <a:noFill/>
          <a:ln/>
        </p:spPr>
        <p:txBody>
          <a:bodyPr wrap="square" lIns="25400" tIns="25400" rIns="25400" bIns="25400" rtlCol="0" anchor="t">
            <a:normAutofit fontScale="92500" lnSpcReduction="20000"/>
          </a:bodyPr>
          <a:lstStyle/>
          <a:p>
            <a:pPr marL="160020" indent="-160020" algn="l">
              <a:lnSpc>
                <a:spcPct val="155000"/>
              </a:lnSpc>
              <a:buSzPct val="100000"/>
              <a:buChar char="•"/>
              <a:tabLst>
                <a:tab pos="160020" algn="l"/>
              </a:tabLst>
            </a:pPr>
            <a:r>
              <a:rPr lang="en-US" sz="1800" dirty="0">
                <a:solidFill>
                  <a:srgbClr val="3A3A3A"/>
                </a:solidFill>
                <a:latin typeface="Arial" pitchFamily="34" charset="0"/>
                <a:ea typeface="Arial" pitchFamily="34" charset="-122"/>
                <a:cs typeface="Arial" pitchFamily="34" charset="-120"/>
              </a:rPr>
              <a:t>Single entry for all 3 roles</a:t>
            </a:r>
            <a:endParaRPr lang="en-US" sz="1800" dirty="0"/>
          </a:p>
          <a:p>
            <a:pPr marL="160020" indent="-160020" algn="l">
              <a:lnSpc>
                <a:spcPct val="155000"/>
              </a:lnSpc>
              <a:buSzPct val="100000"/>
              <a:buChar char="•"/>
              <a:tabLst>
                <a:tab pos="160020" algn="l"/>
              </a:tabLst>
            </a:pPr>
            <a:r>
              <a:rPr lang="en-US" sz="1800" dirty="0">
                <a:solidFill>
                  <a:srgbClr val="3A3A3A"/>
                </a:solidFill>
                <a:latin typeface="Arial" pitchFamily="34" charset="0"/>
                <a:ea typeface="Arial" pitchFamily="34" charset="-122"/>
                <a:cs typeface="Arial" pitchFamily="34" charset="-120"/>
              </a:rPr>
              <a:t>JWT redirects to role dashboard</a:t>
            </a:r>
            <a:endParaRPr lang="en-US" sz="1800" dirty="0"/>
          </a:p>
          <a:p>
            <a:pPr marL="160020" indent="-160020" algn="l">
              <a:lnSpc>
                <a:spcPct val="155000"/>
              </a:lnSpc>
              <a:buSzPct val="100000"/>
              <a:buChar char="•"/>
              <a:tabLst>
                <a:tab pos="160020" algn="l"/>
              </a:tabLst>
            </a:pPr>
            <a:r>
              <a:rPr lang="en-US" sz="1800" dirty="0">
                <a:solidFill>
                  <a:srgbClr val="3A3A3A"/>
                </a:solidFill>
                <a:latin typeface="Arial" pitchFamily="34" charset="0"/>
                <a:ea typeface="Arial" pitchFamily="34" charset="-122"/>
                <a:cs typeface="Arial" pitchFamily="34" charset="-120"/>
              </a:rPr>
              <a:t>No self-registration</a:t>
            </a:r>
          </a:p>
          <a:p>
            <a:pPr algn="l">
              <a:lnSpc>
                <a:spcPct val="155000"/>
              </a:lnSpc>
              <a:buSzPct val="100000"/>
              <a:tabLst>
                <a:tab pos="160020" algn="l"/>
              </a:tabLst>
            </a:pPr>
            <a:endParaRPr lang="en-US" sz="1800" dirty="0"/>
          </a:p>
        </p:txBody>
      </p:sp>
      <p:sp>
        <p:nvSpPr>
          <p:cNvPr id="15" name="Shape 12"/>
          <p:cNvSpPr/>
          <p:nvPr/>
        </p:nvSpPr>
        <p:spPr>
          <a:xfrm>
            <a:off x="5114925" y="2868930"/>
            <a:ext cx="3895725" cy="525780"/>
          </a:xfrm>
          <a:prstGeom prst="rect">
            <a:avLst/>
          </a:prstGeom>
          <a:solidFill>
            <a:srgbClr val="74121D"/>
          </a:solidFill>
          <a:ln/>
        </p:spPr>
      </p:sp>
      <p:sp>
        <p:nvSpPr>
          <p:cNvPr id="16" name="Text 13"/>
          <p:cNvSpPr/>
          <p:nvPr/>
        </p:nvSpPr>
        <p:spPr>
          <a:xfrm>
            <a:off x="5286375" y="3002280"/>
            <a:ext cx="3669697"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FFFFFF"/>
                </a:solidFill>
                <a:latin typeface="Arial" pitchFamily="34" charset="0"/>
                <a:ea typeface="Arial" pitchFamily="34" charset="-122"/>
                <a:cs typeface="Arial" pitchFamily="34" charset="-120"/>
              </a:rPr>
              <a:t>Fig E.2 — Doctor Dashboard</a:t>
            </a:r>
            <a:endParaRPr lang="en-US" sz="1800" dirty="0"/>
          </a:p>
        </p:txBody>
      </p:sp>
      <p:sp>
        <p:nvSpPr>
          <p:cNvPr id="17" name="Text 14"/>
          <p:cNvSpPr/>
          <p:nvPr/>
        </p:nvSpPr>
        <p:spPr>
          <a:xfrm>
            <a:off x="5114925" y="3394710"/>
            <a:ext cx="4285298" cy="297180"/>
          </a:xfrm>
          <a:prstGeom prst="rect">
            <a:avLst/>
          </a:prstGeom>
          <a:noFill/>
          <a:ln/>
        </p:spPr>
        <p:txBody>
          <a:bodyPr wrap="square" lIns="25400" tIns="25400" rIns="25400" bIns="25400" rtlCol="0" anchor="t">
            <a:normAutofit fontScale="92500" lnSpcReduction="10000"/>
          </a:bodyPr>
          <a:lstStyle/>
          <a:p>
            <a:pPr marL="0" indent="0" algn="l">
              <a:buNone/>
            </a:pPr>
            <a:endParaRPr lang="en-US" sz="1800" dirty="0"/>
          </a:p>
        </p:txBody>
      </p:sp>
      <p:sp>
        <p:nvSpPr>
          <p:cNvPr id="18" name="Shape 15"/>
          <p:cNvSpPr/>
          <p:nvPr/>
        </p:nvSpPr>
        <p:spPr>
          <a:xfrm>
            <a:off x="5114925" y="7395210"/>
            <a:ext cx="3895725" cy="1337310"/>
          </a:xfrm>
          <a:prstGeom prst="rect">
            <a:avLst/>
          </a:prstGeom>
          <a:solidFill>
            <a:srgbClr val="FBF6EE"/>
          </a:solidFill>
          <a:ln/>
        </p:spPr>
      </p:sp>
      <p:sp>
        <p:nvSpPr>
          <p:cNvPr id="19" name="Shape 16"/>
          <p:cNvSpPr/>
          <p:nvPr/>
        </p:nvSpPr>
        <p:spPr>
          <a:xfrm>
            <a:off x="5114925" y="8724900"/>
            <a:ext cx="3895725" cy="9525"/>
          </a:xfrm>
          <a:prstGeom prst="rect">
            <a:avLst/>
          </a:prstGeom>
          <a:solidFill>
            <a:srgbClr val="EFE6DA"/>
          </a:solidFill>
          <a:ln/>
        </p:spPr>
      </p:sp>
      <p:sp>
        <p:nvSpPr>
          <p:cNvPr id="20" name="Shape 17"/>
          <p:cNvSpPr/>
          <p:nvPr/>
        </p:nvSpPr>
        <p:spPr>
          <a:xfrm>
            <a:off x="5114925" y="7395210"/>
            <a:ext cx="9525" cy="1337310"/>
          </a:xfrm>
          <a:prstGeom prst="rect">
            <a:avLst/>
          </a:prstGeom>
          <a:solidFill>
            <a:srgbClr val="EFE6DA"/>
          </a:solidFill>
          <a:ln/>
        </p:spPr>
      </p:sp>
      <p:sp>
        <p:nvSpPr>
          <p:cNvPr id="21" name="Shape 18"/>
          <p:cNvSpPr/>
          <p:nvPr/>
        </p:nvSpPr>
        <p:spPr>
          <a:xfrm>
            <a:off x="9003030" y="7395210"/>
            <a:ext cx="9525" cy="1337310"/>
          </a:xfrm>
          <a:prstGeom prst="rect">
            <a:avLst/>
          </a:prstGeom>
          <a:solidFill>
            <a:srgbClr val="EFE6DA"/>
          </a:solidFill>
          <a:ln/>
        </p:spPr>
      </p:sp>
      <p:sp>
        <p:nvSpPr>
          <p:cNvPr id="22" name="Text 19"/>
          <p:cNvSpPr/>
          <p:nvPr/>
        </p:nvSpPr>
        <p:spPr>
          <a:xfrm>
            <a:off x="5305425" y="7528560"/>
            <a:ext cx="3621405" cy="1101090"/>
          </a:xfrm>
          <a:prstGeom prst="rect">
            <a:avLst/>
          </a:prstGeom>
          <a:noFill/>
          <a:ln/>
        </p:spPr>
        <p:txBody>
          <a:bodyPr wrap="square" lIns="25400" tIns="25400" rIns="25400" bIns="25400" rtlCol="0" anchor="t">
            <a:normAutofit fontScale="92500" lnSpcReduction="20000"/>
          </a:bodyPr>
          <a:lstStyle/>
          <a:p>
            <a:pPr marL="160020" indent="-160020" algn="l">
              <a:lnSpc>
                <a:spcPct val="155000"/>
              </a:lnSpc>
              <a:buSzPct val="100000"/>
              <a:buChar char="•"/>
              <a:tabLst>
                <a:tab pos="160020" algn="l"/>
              </a:tabLst>
            </a:pPr>
            <a:r>
              <a:rPr lang="en-US" sz="1800" dirty="0">
                <a:solidFill>
                  <a:srgbClr val="3A3A3A"/>
                </a:solidFill>
                <a:latin typeface="Arial" pitchFamily="34" charset="0"/>
                <a:ea typeface="Arial" pitchFamily="34" charset="-122"/>
                <a:cs typeface="Arial" pitchFamily="34" charset="-120"/>
              </a:rPr>
              <a:t>My Patients + Appointments</a:t>
            </a:r>
            <a:endParaRPr lang="en-US" sz="1800" dirty="0"/>
          </a:p>
          <a:p>
            <a:pPr marL="160020" indent="-160020" algn="l">
              <a:lnSpc>
                <a:spcPct val="155000"/>
              </a:lnSpc>
              <a:buSzPct val="100000"/>
              <a:buChar char="•"/>
              <a:tabLst>
                <a:tab pos="160020" algn="l"/>
              </a:tabLst>
            </a:pPr>
            <a:r>
              <a:rPr lang="en-US" sz="1800" dirty="0">
                <a:solidFill>
                  <a:srgbClr val="3A3A3A"/>
                </a:solidFill>
                <a:latin typeface="Arial" pitchFamily="34" charset="0"/>
                <a:ea typeface="Arial" pitchFamily="34" charset="-122"/>
                <a:cs typeface="Arial" pitchFamily="34" charset="-120"/>
              </a:rPr>
              <a:t>New Record — assigned only</a:t>
            </a:r>
            <a:endParaRPr lang="en-US" sz="1800" dirty="0"/>
          </a:p>
          <a:p>
            <a:pPr marL="160020" indent="-160020" algn="l">
              <a:lnSpc>
                <a:spcPct val="155000"/>
              </a:lnSpc>
              <a:buSzPct val="100000"/>
              <a:buChar char="•"/>
              <a:tabLst>
                <a:tab pos="160020" algn="l"/>
              </a:tabLst>
            </a:pPr>
            <a:r>
              <a:rPr lang="en-US" sz="1800" dirty="0">
                <a:solidFill>
                  <a:srgbClr val="3A3A3A"/>
                </a:solidFill>
                <a:latin typeface="Arial" pitchFamily="34" charset="0"/>
                <a:ea typeface="Arial" pitchFamily="34" charset="-122"/>
                <a:cs typeface="Arial" pitchFamily="34" charset="-120"/>
              </a:rPr>
              <a:t>No admin functions visible</a:t>
            </a:r>
          </a:p>
          <a:p>
            <a:pPr algn="l">
              <a:lnSpc>
                <a:spcPct val="155000"/>
              </a:lnSpc>
              <a:buSzPct val="100000"/>
              <a:tabLst>
                <a:tab pos="160020" algn="l"/>
              </a:tabLst>
            </a:pPr>
            <a:endParaRPr lang="en-US" sz="1800" dirty="0"/>
          </a:p>
        </p:txBody>
      </p:sp>
      <p:sp>
        <p:nvSpPr>
          <p:cNvPr id="23" name="Shape 20"/>
          <p:cNvSpPr/>
          <p:nvPr/>
        </p:nvSpPr>
        <p:spPr>
          <a:xfrm>
            <a:off x="9277350" y="2868930"/>
            <a:ext cx="3895725" cy="525780"/>
          </a:xfrm>
          <a:prstGeom prst="rect">
            <a:avLst/>
          </a:prstGeom>
          <a:solidFill>
            <a:srgbClr val="74121D"/>
          </a:solidFill>
          <a:ln/>
        </p:spPr>
      </p:sp>
      <p:sp>
        <p:nvSpPr>
          <p:cNvPr id="24" name="Text 21"/>
          <p:cNvSpPr/>
          <p:nvPr/>
        </p:nvSpPr>
        <p:spPr>
          <a:xfrm>
            <a:off x="9448800" y="3002280"/>
            <a:ext cx="3669697"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FFFFFF"/>
                </a:solidFill>
                <a:latin typeface="Arial" pitchFamily="34" charset="0"/>
                <a:ea typeface="Arial" pitchFamily="34" charset="-122"/>
                <a:cs typeface="Arial" pitchFamily="34" charset="-120"/>
              </a:rPr>
              <a:t>Fig E.3 — Admin Dashboard</a:t>
            </a:r>
            <a:endParaRPr lang="en-US" sz="1800" dirty="0"/>
          </a:p>
        </p:txBody>
      </p:sp>
      <p:sp>
        <p:nvSpPr>
          <p:cNvPr id="25" name="Text 22"/>
          <p:cNvSpPr/>
          <p:nvPr/>
        </p:nvSpPr>
        <p:spPr>
          <a:xfrm>
            <a:off x="9277350" y="3394710"/>
            <a:ext cx="4285298" cy="297180"/>
          </a:xfrm>
          <a:prstGeom prst="rect">
            <a:avLst/>
          </a:prstGeom>
          <a:noFill/>
          <a:ln/>
        </p:spPr>
        <p:txBody>
          <a:bodyPr wrap="square" lIns="25400" tIns="25400" rIns="25400" bIns="25400" rtlCol="0" anchor="t">
            <a:normAutofit fontScale="92500" lnSpcReduction="10000"/>
          </a:bodyPr>
          <a:lstStyle/>
          <a:p>
            <a:pPr marL="0" indent="0" algn="l">
              <a:buNone/>
            </a:pPr>
            <a:endParaRPr lang="en-US" sz="1800" dirty="0"/>
          </a:p>
        </p:txBody>
      </p:sp>
      <p:sp>
        <p:nvSpPr>
          <p:cNvPr id="26" name="Shape 23"/>
          <p:cNvSpPr/>
          <p:nvPr/>
        </p:nvSpPr>
        <p:spPr>
          <a:xfrm>
            <a:off x="9277350" y="7395210"/>
            <a:ext cx="3895725" cy="1337310"/>
          </a:xfrm>
          <a:prstGeom prst="rect">
            <a:avLst/>
          </a:prstGeom>
          <a:solidFill>
            <a:srgbClr val="FBF6EE"/>
          </a:solidFill>
          <a:ln/>
        </p:spPr>
      </p:sp>
      <p:sp>
        <p:nvSpPr>
          <p:cNvPr id="27" name="Shape 24"/>
          <p:cNvSpPr/>
          <p:nvPr/>
        </p:nvSpPr>
        <p:spPr>
          <a:xfrm>
            <a:off x="9277350" y="8724900"/>
            <a:ext cx="3895725" cy="9525"/>
          </a:xfrm>
          <a:prstGeom prst="rect">
            <a:avLst/>
          </a:prstGeom>
          <a:solidFill>
            <a:srgbClr val="EFE6DA"/>
          </a:solidFill>
          <a:ln/>
        </p:spPr>
      </p:sp>
      <p:sp>
        <p:nvSpPr>
          <p:cNvPr id="28" name="Shape 25"/>
          <p:cNvSpPr/>
          <p:nvPr/>
        </p:nvSpPr>
        <p:spPr>
          <a:xfrm>
            <a:off x="9277350" y="7395210"/>
            <a:ext cx="9525" cy="1337310"/>
          </a:xfrm>
          <a:prstGeom prst="rect">
            <a:avLst/>
          </a:prstGeom>
          <a:solidFill>
            <a:srgbClr val="EFE6DA"/>
          </a:solidFill>
          <a:ln/>
        </p:spPr>
      </p:sp>
      <p:sp>
        <p:nvSpPr>
          <p:cNvPr id="29" name="Shape 26"/>
          <p:cNvSpPr/>
          <p:nvPr/>
        </p:nvSpPr>
        <p:spPr>
          <a:xfrm>
            <a:off x="13165455" y="7395210"/>
            <a:ext cx="9525" cy="1337310"/>
          </a:xfrm>
          <a:prstGeom prst="rect">
            <a:avLst/>
          </a:prstGeom>
          <a:solidFill>
            <a:srgbClr val="EFE6DA"/>
          </a:solidFill>
          <a:ln/>
        </p:spPr>
      </p:sp>
      <p:sp>
        <p:nvSpPr>
          <p:cNvPr id="30" name="Text 27"/>
          <p:cNvSpPr/>
          <p:nvPr/>
        </p:nvSpPr>
        <p:spPr>
          <a:xfrm>
            <a:off x="9467850" y="7528560"/>
            <a:ext cx="3621405" cy="1101090"/>
          </a:xfrm>
          <a:prstGeom prst="rect">
            <a:avLst/>
          </a:prstGeom>
          <a:noFill/>
          <a:ln/>
        </p:spPr>
        <p:txBody>
          <a:bodyPr wrap="square" lIns="25400" tIns="25400" rIns="25400" bIns="25400" rtlCol="0" anchor="t">
            <a:normAutofit fontScale="92500" lnSpcReduction="20000"/>
          </a:bodyPr>
          <a:lstStyle/>
          <a:p>
            <a:pPr marL="160020" indent="-160020" algn="l">
              <a:lnSpc>
                <a:spcPct val="155000"/>
              </a:lnSpc>
              <a:buSzPct val="100000"/>
              <a:buChar char="•"/>
              <a:tabLst>
                <a:tab pos="160020" algn="l"/>
              </a:tabLst>
            </a:pPr>
            <a:r>
              <a:rPr lang="en-US" sz="1800" dirty="0">
                <a:solidFill>
                  <a:srgbClr val="3A3A3A"/>
                </a:solidFill>
                <a:latin typeface="Arial" pitchFamily="34" charset="0"/>
                <a:ea typeface="Arial" pitchFamily="34" charset="-122"/>
                <a:cs typeface="Arial" pitchFamily="34" charset="-120"/>
              </a:rPr>
              <a:t>Register Patient · Appointments</a:t>
            </a:r>
            <a:endParaRPr lang="en-US" sz="1800" dirty="0"/>
          </a:p>
          <a:p>
            <a:pPr marL="160020" indent="-160020" algn="l">
              <a:lnSpc>
                <a:spcPct val="155000"/>
              </a:lnSpc>
              <a:buSzPct val="100000"/>
              <a:buChar char="•"/>
              <a:tabLst>
                <a:tab pos="160020" algn="l"/>
              </a:tabLst>
            </a:pPr>
            <a:r>
              <a:rPr lang="en-US" sz="1800" dirty="0">
                <a:solidFill>
                  <a:srgbClr val="3A3A3A"/>
                </a:solidFill>
                <a:latin typeface="Arial" pitchFamily="34" charset="0"/>
                <a:ea typeface="Arial" pitchFamily="34" charset="-122"/>
                <a:cs typeface="Arial" pitchFamily="34" charset="-120"/>
              </a:rPr>
              <a:t>User Management</a:t>
            </a:r>
            <a:endParaRPr lang="en-US" sz="1800" dirty="0"/>
          </a:p>
          <a:p>
            <a:pPr marL="160020" indent="-160020" algn="l">
              <a:lnSpc>
                <a:spcPct val="155000"/>
              </a:lnSpc>
              <a:buSzPct val="100000"/>
              <a:buChar char="•"/>
              <a:tabLst>
                <a:tab pos="160020" algn="l"/>
              </a:tabLst>
            </a:pPr>
            <a:r>
              <a:rPr lang="en-US" sz="1800" dirty="0">
                <a:solidFill>
                  <a:srgbClr val="3A3A3A"/>
                </a:solidFill>
                <a:latin typeface="Arial" pitchFamily="34" charset="0"/>
                <a:ea typeface="Arial" pitchFamily="34" charset="-122"/>
                <a:cs typeface="Arial" pitchFamily="34" charset="-120"/>
              </a:rPr>
              <a:t>No clinical data visible</a:t>
            </a:r>
            <a:endParaRPr lang="en-US" sz="1800" dirty="0"/>
          </a:p>
        </p:txBody>
      </p:sp>
      <p:sp>
        <p:nvSpPr>
          <p:cNvPr id="31" name="Shape 28"/>
          <p:cNvSpPr/>
          <p:nvPr/>
        </p:nvSpPr>
        <p:spPr>
          <a:xfrm>
            <a:off x="13439775" y="2868930"/>
            <a:ext cx="3895725" cy="525780"/>
          </a:xfrm>
          <a:prstGeom prst="rect">
            <a:avLst/>
          </a:prstGeom>
          <a:solidFill>
            <a:srgbClr val="74121D"/>
          </a:solidFill>
          <a:ln/>
        </p:spPr>
      </p:sp>
      <p:sp>
        <p:nvSpPr>
          <p:cNvPr id="32" name="Text 29"/>
          <p:cNvSpPr/>
          <p:nvPr/>
        </p:nvSpPr>
        <p:spPr>
          <a:xfrm>
            <a:off x="13611225" y="3002280"/>
            <a:ext cx="3669697"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dirty="0">
                <a:solidFill>
                  <a:srgbClr val="FFFFFF"/>
                </a:solidFill>
                <a:latin typeface="Arial" pitchFamily="34" charset="0"/>
                <a:ea typeface="Arial" pitchFamily="34" charset="-122"/>
                <a:cs typeface="Arial" pitchFamily="34" charset="-120"/>
              </a:rPr>
              <a:t>Fig E.4 — Patient Portal</a:t>
            </a:r>
            <a:endParaRPr lang="en-US" sz="1800" dirty="0"/>
          </a:p>
        </p:txBody>
      </p:sp>
      <p:sp>
        <p:nvSpPr>
          <p:cNvPr id="33" name="Text 30"/>
          <p:cNvSpPr/>
          <p:nvPr/>
        </p:nvSpPr>
        <p:spPr>
          <a:xfrm>
            <a:off x="13439775" y="3394710"/>
            <a:ext cx="4285298" cy="297180"/>
          </a:xfrm>
          <a:prstGeom prst="rect">
            <a:avLst/>
          </a:prstGeom>
          <a:noFill/>
          <a:ln/>
        </p:spPr>
        <p:txBody>
          <a:bodyPr wrap="square" lIns="25400" tIns="25400" rIns="25400" bIns="25400" rtlCol="0" anchor="t">
            <a:normAutofit fontScale="92500" lnSpcReduction="10000"/>
          </a:bodyPr>
          <a:lstStyle/>
          <a:p>
            <a:pPr marL="0" indent="0" algn="l">
              <a:buNone/>
            </a:pPr>
            <a:endParaRPr lang="en-US" sz="1800" dirty="0"/>
          </a:p>
        </p:txBody>
      </p:sp>
      <p:sp>
        <p:nvSpPr>
          <p:cNvPr id="34" name="Shape 31"/>
          <p:cNvSpPr/>
          <p:nvPr/>
        </p:nvSpPr>
        <p:spPr>
          <a:xfrm>
            <a:off x="13439775" y="7395210"/>
            <a:ext cx="3895725" cy="1337310"/>
          </a:xfrm>
          <a:prstGeom prst="rect">
            <a:avLst/>
          </a:prstGeom>
          <a:solidFill>
            <a:srgbClr val="FBF6EE"/>
          </a:solidFill>
          <a:ln/>
        </p:spPr>
        <p:txBody>
          <a:bodyPr/>
          <a:lstStyle/>
          <a:p>
            <a:endParaRPr lang="en-MY" dirty="0"/>
          </a:p>
        </p:txBody>
      </p:sp>
      <p:sp>
        <p:nvSpPr>
          <p:cNvPr id="35" name="Shape 32"/>
          <p:cNvSpPr/>
          <p:nvPr/>
        </p:nvSpPr>
        <p:spPr>
          <a:xfrm>
            <a:off x="13439775" y="8724900"/>
            <a:ext cx="3895725" cy="9525"/>
          </a:xfrm>
          <a:prstGeom prst="rect">
            <a:avLst/>
          </a:prstGeom>
          <a:solidFill>
            <a:srgbClr val="EFE6DA"/>
          </a:solidFill>
          <a:ln/>
        </p:spPr>
      </p:sp>
      <p:sp>
        <p:nvSpPr>
          <p:cNvPr id="36" name="Shape 33"/>
          <p:cNvSpPr/>
          <p:nvPr/>
        </p:nvSpPr>
        <p:spPr>
          <a:xfrm>
            <a:off x="13439775" y="7395210"/>
            <a:ext cx="9525" cy="1337310"/>
          </a:xfrm>
          <a:prstGeom prst="rect">
            <a:avLst/>
          </a:prstGeom>
          <a:solidFill>
            <a:srgbClr val="EFE6DA"/>
          </a:solidFill>
          <a:ln/>
        </p:spPr>
      </p:sp>
      <p:sp>
        <p:nvSpPr>
          <p:cNvPr id="37" name="Shape 34"/>
          <p:cNvSpPr/>
          <p:nvPr/>
        </p:nvSpPr>
        <p:spPr>
          <a:xfrm>
            <a:off x="17327880" y="7395210"/>
            <a:ext cx="9525" cy="1337310"/>
          </a:xfrm>
          <a:prstGeom prst="rect">
            <a:avLst/>
          </a:prstGeom>
          <a:solidFill>
            <a:srgbClr val="EFE6DA"/>
          </a:solidFill>
          <a:ln/>
        </p:spPr>
      </p:sp>
      <p:sp>
        <p:nvSpPr>
          <p:cNvPr id="38" name="Text 35"/>
          <p:cNvSpPr/>
          <p:nvPr/>
        </p:nvSpPr>
        <p:spPr>
          <a:xfrm>
            <a:off x="13630275" y="7528560"/>
            <a:ext cx="3621405" cy="1101090"/>
          </a:xfrm>
          <a:prstGeom prst="rect">
            <a:avLst/>
          </a:prstGeom>
          <a:noFill/>
          <a:ln/>
        </p:spPr>
        <p:txBody>
          <a:bodyPr wrap="square" lIns="25400" tIns="25400" rIns="25400" bIns="25400" rtlCol="0" anchor="t">
            <a:normAutofit fontScale="92500" lnSpcReduction="20000"/>
          </a:bodyPr>
          <a:lstStyle/>
          <a:p>
            <a:pPr marL="160020" indent="-160020" algn="l">
              <a:lnSpc>
                <a:spcPct val="155000"/>
              </a:lnSpc>
              <a:buSzPct val="100000"/>
              <a:buChar char="•"/>
              <a:tabLst>
                <a:tab pos="160020" algn="l"/>
              </a:tabLst>
            </a:pPr>
            <a:r>
              <a:rPr lang="en-US" sz="1800" dirty="0">
                <a:solidFill>
                  <a:srgbClr val="3A3A3A"/>
                </a:solidFill>
                <a:latin typeface="Arial" pitchFamily="34" charset="0"/>
                <a:ea typeface="Arial" pitchFamily="34" charset="-122"/>
                <a:cs typeface="Arial" pitchFamily="34" charset="-120"/>
              </a:rPr>
              <a:t>My Records (read-only)</a:t>
            </a:r>
            <a:endParaRPr lang="en-US" sz="1800" dirty="0"/>
          </a:p>
          <a:p>
            <a:pPr marL="160020" indent="-160020" algn="l">
              <a:lnSpc>
                <a:spcPct val="155000"/>
              </a:lnSpc>
              <a:buSzPct val="100000"/>
              <a:buChar char="•"/>
              <a:tabLst>
                <a:tab pos="160020" algn="l"/>
              </a:tabLst>
            </a:pPr>
            <a:r>
              <a:rPr lang="en-US" sz="1800" dirty="0">
                <a:solidFill>
                  <a:srgbClr val="3A3A3A"/>
                </a:solidFill>
                <a:latin typeface="Arial" pitchFamily="34" charset="0"/>
                <a:ea typeface="Arial" pitchFamily="34" charset="-122"/>
                <a:cs typeface="Arial" pitchFamily="34" charset="-120"/>
              </a:rPr>
              <a:t>My Appointments</a:t>
            </a:r>
            <a:endParaRPr lang="en-US" sz="1800" dirty="0"/>
          </a:p>
          <a:p>
            <a:pPr marL="160020" indent="-160020" algn="l">
              <a:lnSpc>
                <a:spcPct val="155000"/>
              </a:lnSpc>
              <a:buSzPct val="100000"/>
              <a:buChar char="•"/>
              <a:tabLst>
                <a:tab pos="160020" algn="l"/>
              </a:tabLst>
            </a:pPr>
            <a:r>
              <a:rPr lang="en-US" sz="1800" dirty="0">
                <a:solidFill>
                  <a:srgbClr val="3A3A3A"/>
                </a:solidFill>
                <a:latin typeface="Arial" pitchFamily="34" charset="0"/>
                <a:ea typeface="Arial" pitchFamily="34" charset="-122"/>
                <a:cs typeface="Arial" pitchFamily="34" charset="-120"/>
              </a:rPr>
              <a:t>No edit or delete controls</a:t>
            </a:r>
          </a:p>
          <a:p>
            <a:pPr algn="l">
              <a:lnSpc>
                <a:spcPct val="155000"/>
              </a:lnSpc>
              <a:buSzPct val="100000"/>
              <a:tabLst>
                <a:tab pos="160020" algn="l"/>
              </a:tabLst>
            </a:pPr>
            <a:endParaRPr lang="en-US" sz="1800" dirty="0"/>
          </a:p>
        </p:txBody>
      </p:sp>
      <p:sp>
        <p:nvSpPr>
          <p:cNvPr id="39" name="Text 36"/>
          <p:cNvSpPr/>
          <p:nvPr/>
        </p:nvSpPr>
        <p:spPr>
          <a:xfrm>
            <a:off x="952500" y="898017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i="1" dirty="0">
                <a:solidFill>
                  <a:srgbClr val="74121D"/>
                </a:solidFill>
                <a:latin typeface="Arial" pitchFamily="34" charset="0"/>
                <a:ea typeface="Arial" pitchFamily="34" charset="-122"/>
                <a:cs typeface="Arial" pitchFamily="34" charset="-120"/>
              </a:rPr>
              <a:t>Key principle: role isolation is enforced visually — each screen surfaces only what that role is permitted to access.</a:t>
            </a:r>
            <a:endParaRPr lang="en-US" sz="1800" dirty="0"/>
          </a:p>
        </p:txBody>
      </p:sp>
      <p:sp>
        <p:nvSpPr>
          <p:cNvPr id="40" name="Text 37"/>
          <p:cNvSpPr/>
          <p:nvPr/>
        </p:nvSpPr>
        <p:spPr>
          <a:xfrm>
            <a:off x="952500" y="9742170"/>
            <a:ext cx="553604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Secure AWS Patient Data System · PSM 1 Viva</a:t>
            </a:r>
            <a:endParaRPr lang="en-US" sz="1800" dirty="0"/>
          </a:p>
        </p:txBody>
      </p:sp>
      <p:sp>
        <p:nvSpPr>
          <p:cNvPr id="41" name="Text 38"/>
          <p:cNvSpPr/>
          <p:nvPr/>
        </p:nvSpPr>
        <p:spPr>
          <a:xfrm>
            <a:off x="16619934" y="9742170"/>
            <a:ext cx="791766"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11 / 14</a:t>
            </a:r>
            <a:endParaRPr lang="en-US" sz="1800" dirty="0"/>
          </a:p>
        </p:txBody>
      </p:sp>
      <p:pic>
        <p:nvPicPr>
          <p:cNvPr id="43" name="Picture 42">
            <a:extLst>
              <a:ext uri="{FF2B5EF4-FFF2-40B4-BE49-F238E27FC236}">
                <a16:creationId xmlns:a16="http://schemas.microsoft.com/office/drawing/2014/main" id="{7920C5AF-DE98-3F69-7A6E-1422EB5BE73C}"/>
              </a:ext>
            </a:extLst>
          </p:cNvPr>
          <p:cNvPicPr>
            <a:picLocks noChangeAspect="1"/>
          </p:cNvPicPr>
          <p:nvPr/>
        </p:nvPicPr>
        <p:blipFill>
          <a:blip r:embed="rId4"/>
          <a:stretch>
            <a:fillRect/>
          </a:stretch>
        </p:blipFill>
        <p:spPr>
          <a:xfrm>
            <a:off x="970429" y="4217670"/>
            <a:ext cx="3657607" cy="2438405"/>
          </a:xfrm>
          <a:prstGeom prst="rect">
            <a:avLst/>
          </a:prstGeom>
        </p:spPr>
      </p:pic>
      <p:pic>
        <p:nvPicPr>
          <p:cNvPr id="45" name="Picture 44">
            <a:extLst>
              <a:ext uri="{FF2B5EF4-FFF2-40B4-BE49-F238E27FC236}">
                <a16:creationId xmlns:a16="http://schemas.microsoft.com/office/drawing/2014/main" id="{88ED6F0B-E8AB-42A3-9376-3E4F8DDB3397}"/>
              </a:ext>
            </a:extLst>
          </p:cNvPr>
          <p:cNvPicPr>
            <a:picLocks noChangeAspect="1"/>
          </p:cNvPicPr>
          <p:nvPr/>
        </p:nvPicPr>
        <p:blipFill>
          <a:blip r:embed="rId5"/>
          <a:stretch>
            <a:fillRect/>
          </a:stretch>
        </p:blipFill>
        <p:spPr>
          <a:xfrm>
            <a:off x="5166250" y="4217670"/>
            <a:ext cx="3793074" cy="2438405"/>
          </a:xfrm>
          <a:prstGeom prst="rect">
            <a:avLst/>
          </a:prstGeom>
        </p:spPr>
      </p:pic>
      <p:pic>
        <p:nvPicPr>
          <p:cNvPr id="47" name="Picture 46">
            <a:extLst>
              <a:ext uri="{FF2B5EF4-FFF2-40B4-BE49-F238E27FC236}">
                <a16:creationId xmlns:a16="http://schemas.microsoft.com/office/drawing/2014/main" id="{E0156BA9-6BBE-C981-2504-96B6C2F49F23}"/>
              </a:ext>
            </a:extLst>
          </p:cNvPr>
          <p:cNvPicPr>
            <a:picLocks noChangeAspect="1"/>
          </p:cNvPicPr>
          <p:nvPr/>
        </p:nvPicPr>
        <p:blipFill>
          <a:blip r:embed="rId6"/>
          <a:stretch>
            <a:fillRect/>
          </a:stretch>
        </p:blipFill>
        <p:spPr>
          <a:xfrm>
            <a:off x="13630275" y="4408492"/>
            <a:ext cx="3496240" cy="2247583"/>
          </a:xfrm>
          <a:prstGeom prst="rect">
            <a:avLst/>
          </a:prstGeom>
        </p:spPr>
      </p:pic>
      <p:pic>
        <p:nvPicPr>
          <p:cNvPr id="49" name="Picture 48">
            <a:extLst>
              <a:ext uri="{FF2B5EF4-FFF2-40B4-BE49-F238E27FC236}">
                <a16:creationId xmlns:a16="http://schemas.microsoft.com/office/drawing/2014/main" id="{CC97CB56-327B-920C-4AE4-304E83C587D1}"/>
              </a:ext>
            </a:extLst>
          </p:cNvPr>
          <p:cNvPicPr>
            <a:picLocks noChangeAspect="1"/>
          </p:cNvPicPr>
          <p:nvPr/>
        </p:nvPicPr>
        <p:blipFill>
          <a:blip r:embed="rId7"/>
          <a:stretch>
            <a:fillRect/>
          </a:stretch>
        </p:blipFill>
        <p:spPr>
          <a:xfrm>
            <a:off x="9631618" y="4356727"/>
            <a:ext cx="3576762" cy="22993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icPr>
            <a:picLocks noChangeAspect="1"/>
          </p:cNvPicPr>
          <p:nvPr/>
        </p:nvPicPr>
        <p:blipFill>
          <a:blip r:embed="rId3"/>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B19C7D"/>
                </a:solidFill>
                <a:latin typeface="Arial" pitchFamily="34" charset="0"/>
                <a:ea typeface="Arial" pitchFamily="34" charset="-122"/>
                <a:cs typeface="Arial" pitchFamily="34" charset="-120"/>
              </a:rPr>
              <a:t>CHAPTER 4.9</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37" dirty="0">
                <a:solidFill>
                  <a:srgbClr val="74121D"/>
                </a:solidFill>
                <a:latin typeface="Arial" pitchFamily="34" charset="0"/>
                <a:ea typeface="Arial" pitchFamily="34" charset="-122"/>
                <a:cs typeface="Arial" pitchFamily="34" charset="-120"/>
              </a:rPr>
              <a:t>Evaluation Plan</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952500" y="2868930"/>
            <a:ext cx="3108960" cy="5440680"/>
          </a:xfrm>
          <a:prstGeom prst="rect">
            <a:avLst/>
          </a:prstGeom>
          <a:ln w="15240">
            <a:solidFill>
              <a:srgbClr val="EFE6DA"/>
            </a:solidFill>
            <a:prstDash val="solid"/>
          </a:ln>
        </p:spPr>
      </p:sp>
      <p:sp>
        <p:nvSpPr>
          <p:cNvPr id="8" name="Shape 5"/>
          <p:cNvSpPr/>
          <p:nvPr/>
        </p:nvSpPr>
        <p:spPr>
          <a:xfrm>
            <a:off x="967740" y="2884170"/>
            <a:ext cx="3078480" cy="906780"/>
          </a:xfrm>
          <a:prstGeom prst="rect">
            <a:avLst/>
          </a:prstGeom>
          <a:solidFill>
            <a:srgbClr val="74121D"/>
          </a:solidFill>
          <a:ln/>
        </p:spPr>
      </p:sp>
      <p:sp>
        <p:nvSpPr>
          <p:cNvPr id="9" name="Text 6"/>
          <p:cNvSpPr/>
          <p:nvPr/>
        </p:nvSpPr>
        <p:spPr>
          <a:xfrm>
            <a:off x="1158240" y="3055620"/>
            <a:ext cx="296722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50" dirty="0">
                <a:solidFill>
                  <a:srgbClr val="E7D7C1"/>
                </a:solidFill>
                <a:latin typeface="Arial" pitchFamily="34" charset="0"/>
                <a:ea typeface="Arial" pitchFamily="34" charset="-122"/>
                <a:cs typeface="Arial" pitchFamily="34" charset="-120"/>
              </a:rPr>
              <a:t>01</a:t>
            </a:r>
            <a:endParaRPr lang="en-US" sz="1650" dirty="0"/>
          </a:p>
        </p:txBody>
      </p:sp>
      <p:sp>
        <p:nvSpPr>
          <p:cNvPr id="10" name="Text 7"/>
          <p:cNvSpPr/>
          <p:nvPr/>
        </p:nvSpPr>
        <p:spPr>
          <a:xfrm>
            <a:off x="1158240" y="3337560"/>
            <a:ext cx="2967228" cy="32004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FFFFF"/>
                </a:solidFill>
                <a:latin typeface="Arial" pitchFamily="34" charset="0"/>
                <a:ea typeface="Arial" pitchFamily="34" charset="-122"/>
                <a:cs typeface="Arial" pitchFamily="34" charset="-120"/>
              </a:rPr>
              <a:t>Functional Testing</a:t>
            </a:r>
            <a:endParaRPr lang="en-US" sz="1950" dirty="0"/>
          </a:p>
        </p:txBody>
      </p:sp>
      <p:sp>
        <p:nvSpPr>
          <p:cNvPr id="11" name="Text 8"/>
          <p:cNvSpPr/>
          <p:nvPr/>
        </p:nvSpPr>
        <p:spPr>
          <a:xfrm>
            <a:off x="1158240" y="4000500"/>
            <a:ext cx="2789835" cy="4122420"/>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3A3A3A"/>
                </a:solidFill>
                <a:latin typeface="Arial" pitchFamily="34" charset="0"/>
                <a:ea typeface="Arial" pitchFamily="34" charset="-122"/>
                <a:cs typeface="Arial" pitchFamily="34" charset="-120"/>
              </a:rPr>
              <a:t>Test cases for all 18 use cases · positive and negative scenarios · covers all 12 FRs</a:t>
            </a:r>
            <a:endParaRPr lang="en-US" sz="1800" dirty="0"/>
          </a:p>
        </p:txBody>
      </p:sp>
      <p:sp>
        <p:nvSpPr>
          <p:cNvPr id="12" name="Shape 9"/>
          <p:cNvSpPr/>
          <p:nvPr/>
        </p:nvSpPr>
        <p:spPr>
          <a:xfrm>
            <a:off x="4271010" y="2868930"/>
            <a:ext cx="3108960" cy="5440680"/>
          </a:xfrm>
          <a:prstGeom prst="rect">
            <a:avLst/>
          </a:prstGeom>
          <a:ln w="15240">
            <a:solidFill>
              <a:srgbClr val="EFE6DA"/>
            </a:solidFill>
            <a:prstDash val="solid"/>
          </a:ln>
        </p:spPr>
      </p:sp>
      <p:sp>
        <p:nvSpPr>
          <p:cNvPr id="13" name="Shape 10"/>
          <p:cNvSpPr/>
          <p:nvPr/>
        </p:nvSpPr>
        <p:spPr>
          <a:xfrm>
            <a:off x="4286250" y="2884170"/>
            <a:ext cx="3078480" cy="906780"/>
          </a:xfrm>
          <a:prstGeom prst="rect">
            <a:avLst/>
          </a:prstGeom>
          <a:solidFill>
            <a:srgbClr val="A7333F"/>
          </a:solidFill>
          <a:ln/>
        </p:spPr>
      </p:sp>
      <p:sp>
        <p:nvSpPr>
          <p:cNvPr id="14" name="Text 11"/>
          <p:cNvSpPr/>
          <p:nvPr/>
        </p:nvSpPr>
        <p:spPr>
          <a:xfrm>
            <a:off x="4476750" y="3055620"/>
            <a:ext cx="296722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50" dirty="0">
                <a:solidFill>
                  <a:srgbClr val="E7D7C1"/>
                </a:solidFill>
                <a:latin typeface="Arial" pitchFamily="34" charset="0"/>
                <a:ea typeface="Arial" pitchFamily="34" charset="-122"/>
                <a:cs typeface="Arial" pitchFamily="34" charset="-120"/>
              </a:rPr>
              <a:t>02</a:t>
            </a:r>
            <a:endParaRPr lang="en-US" sz="1650" dirty="0"/>
          </a:p>
        </p:txBody>
      </p:sp>
      <p:sp>
        <p:nvSpPr>
          <p:cNvPr id="15" name="Text 12"/>
          <p:cNvSpPr/>
          <p:nvPr/>
        </p:nvSpPr>
        <p:spPr>
          <a:xfrm>
            <a:off x="4476750" y="3337560"/>
            <a:ext cx="2967228" cy="32004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FFFFF"/>
                </a:solidFill>
                <a:latin typeface="Arial" pitchFamily="34" charset="0"/>
                <a:ea typeface="Arial" pitchFamily="34" charset="-122"/>
                <a:cs typeface="Arial" pitchFamily="34" charset="-120"/>
              </a:rPr>
              <a:t>Security Testing</a:t>
            </a:r>
            <a:endParaRPr lang="en-US" sz="1950" dirty="0"/>
          </a:p>
        </p:txBody>
      </p:sp>
      <p:sp>
        <p:nvSpPr>
          <p:cNvPr id="16" name="Text 13"/>
          <p:cNvSpPr/>
          <p:nvPr/>
        </p:nvSpPr>
        <p:spPr>
          <a:xfrm>
            <a:off x="4476750" y="4000500"/>
            <a:ext cx="2789835" cy="4122420"/>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3A3A3A"/>
                </a:solidFill>
                <a:latin typeface="Arial" pitchFamily="34" charset="0"/>
                <a:ea typeface="Arial" pitchFamily="34" charset="-122"/>
                <a:cs typeface="Arial" pitchFamily="34" charset="-120"/>
              </a:rPr>
              <a:t>Penetration testing to validate 3-layer RBAC · confirm RLS cannot be bypassed from app layer</a:t>
            </a:r>
            <a:endParaRPr lang="en-US" sz="1800" dirty="0"/>
          </a:p>
        </p:txBody>
      </p:sp>
      <p:sp>
        <p:nvSpPr>
          <p:cNvPr id="17" name="Shape 14"/>
          <p:cNvSpPr/>
          <p:nvPr/>
        </p:nvSpPr>
        <p:spPr>
          <a:xfrm>
            <a:off x="7589520" y="2868930"/>
            <a:ext cx="3108960" cy="5440680"/>
          </a:xfrm>
          <a:prstGeom prst="rect">
            <a:avLst/>
          </a:prstGeom>
          <a:ln w="15240">
            <a:solidFill>
              <a:srgbClr val="EFE6DA"/>
            </a:solidFill>
            <a:prstDash val="solid"/>
          </a:ln>
        </p:spPr>
      </p:sp>
      <p:sp>
        <p:nvSpPr>
          <p:cNvPr id="18" name="Shape 15"/>
          <p:cNvSpPr/>
          <p:nvPr/>
        </p:nvSpPr>
        <p:spPr>
          <a:xfrm>
            <a:off x="7604760" y="2884170"/>
            <a:ext cx="3078480" cy="906780"/>
          </a:xfrm>
          <a:prstGeom prst="rect">
            <a:avLst/>
          </a:prstGeom>
          <a:solidFill>
            <a:srgbClr val="74121D"/>
          </a:solidFill>
          <a:ln/>
        </p:spPr>
      </p:sp>
      <p:sp>
        <p:nvSpPr>
          <p:cNvPr id="19" name="Text 16"/>
          <p:cNvSpPr/>
          <p:nvPr/>
        </p:nvSpPr>
        <p:spPr>
          <a:xfrm>
            <a:off x="7795260" y="3055620"/>
            <a:ext cx="296722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50" dirty="0">
                <a:solidFill>
                  <a:srgbClr val="E7D7C1"/>
                </a:solidFill>
                <a:latin typeface="Arial" pitchFamily="34" charset="0"/>
                <a:ea typeface="Arial" pitchFamily="34" charset="-122"/>
                <a:cs typeface="Arial" pitchFamily="34" charset="-120"/>
              </a:rPr>
              <a:t>03</a:t>
            </a:r>
            <a:endParaRPr lang="en-US" sz="1650" dirty="0"/>
          </a:p>
        </p:txBody>
      </p:sp>
      <p:sp>
        <p:nvSpPr>
          <p:cNvPr id="20" name="Text 17"/>
          <p:cNvSpPr/>
          <p:nvPr/>
        </p:nvSpPr>
        <p:spPr>
          <a:xfrm>
            <a:off x="7795260" y="3337560"/>
            <a:ext cx="2967228" cy="32004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FFFFF"/>
                </a:solidFill>
                <a:latin typeface="Arial" pitchFamily="34" charset="0"/>
                <a:ea typeface="Arial" pitchFamily="34" charset="-122"/>
                <a:cs typeface="Arial" pitchFamily="34" charset="-120"/>
              </a:rPr>
              <a:t>Pipeline Testing</a:t>
            </a:r>
            <a:endParaRPr lang="en-US" sz="1950" dirty="0"/>
          </a:p>
        </p:txBody>
      </p:sp>
      <p:sp>
        <p:nvSpPr>
          <p:cNvPr id="21" name="Text 18"/>
          <p:cNvSpPr/>
          <p:nvPr/>
        </p:nvSpPr>
        <p:spPr>
          <a:xfrm>
            <a:off x="7795260" y="4000500"/>
            <a:ext cx="2789835" cy="4122420"/>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3A3A3A"/>
                </a:solidFill>
                <a:latin typeface="Arial" pitchFamily="34" charset="0"/>
                <a:ea typeface="Arial" pitchFamily="34" charset="-122"/>
                <a:cs typeface="Arial" pitchFamily="34" charset="-120"/>
              </a:rPr>
              <a:t>Confirm each security gate blocks on CRITICAL · confirm Terraform apply only runs on full pass</a:t>
            </a:r>
            <a:endParaRPr lang="en-US" sz="1800" dirty="0"/>
          </a:p>
        </p:txBody>
      </p:sp>
      <p:sp>
        <p:nvSpPr>
          <p:cNvPr id="22" name="Shape 19"/>
          <p:cNvSpPr/>
          <p:nvPr/>
        </p:nvSpPr>
        <p:spPr>
          <a:xfrm>
            <a:off x="10908031" y="2868930"/>
            <a:ext cx="3108960" cy="5440680"/>
          </a:xfrm>
          <a:prstGeom prst="rect">
            <a:avLst/>
          </a:prstGeom>
          <a:ln w="15240">
            <a:solidFill>
              <a:srgbClr val="EFE6DA"/>
            </a:solidFill>
            <a:prstDash val="solid"/>
          </a:ln>
        </p:spPr>
      </p:sp>
      <p:sp>
        <p:nvSpPr>
          <p:cNvPr id="23" name="Shape 20"/>
          <p:cNvSpPr/>
          <p:nvPr/>
        </p:nvSpPr>
        <p:spPr>
          <a:xfrm>
            <a:off x="10923270" y="2884170"/>
            <a:ext cx="3078480" cy="906780"/>
          </a:xfrm>
          <a:prstGeom prst="rect">
            <a:avLst/>
          </a:prstGeom>
          <a:solidFill>
            <a:srgbClr val="A7333F"/>
          </a:solidFill>
          <a:ln/>
        </p:spPr>
      </p:sp>
      <p:sp>
        <p:nvSpPr>
          <p:cNvPr id="24" name="Text 21"/>
          <p:cNvSpPr/>
          <p:nvPr/>
        </p:nvSpPr>
        <p:spPr>
          <a:xfrm>
            <a:off x="11113770" y="3055620"/>
            <a:ext cx="296722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50" dirty="0">
                <a:solidFill>
                  <a:srgbClr val="E7D7C1"/>
                </a:solidFill>
                <a:latin typeface="Arial" pitchFamily="34" charset="0"/>
                <a:ea typeface="Arial" pitchFamily="34" charset="-122"/>
                <a:cs typeface="Arial" pitchFamily="34" charset="-120"/>
              </a:rPr>
              <a:t>04</a:t>
            </a:r>
            <a:endParaRPr lang="en-US" sz="1650" dirty="0"/>
          </a:p>
        </p:txBody>
      </p:sp>
      <p:sp>
        <p:nvSpPr>
          <p:cNvPr id="25" name="Text 22"/>
          <p:cNvSpPr/>
          <p:nvPr/>
        </p:nvSpPr>
        <p:spPr>
          <a:xfrm>
            <a:off x="11113770" y="3337560"/>
            <a:ext cx="2967228" cy="32004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FFFFF"/>
                </a:solidFill>
                <a:latin typeface="Arial" pitchFamily="34" charset="0"/>
                <a:ea typeface="Arial" pitchFamily="34" charset="-122"/>
                <a:cs typeface="Arial" pitchFamily="34" charset="-120"/>
              </a:rPr>
              <a:t>Recovery Testing</a:t>
            </a:r>
            <a:endParaRPr lang="en-US" sz="1950" dirty="0"/>
          </a:p>
        </p:txBody>
      </p:sp>
      <p:sp>
        <p:nvSpPr>
          <p:cNvPr id="26" name="Text 23"/>
          <p:cNvSpPr/>
          <p:nvPr/>
        </p:nvSpPr>
        <p:spPr>
          <a:xfrm>
            <a:off x="11113770" y="4000500"/>
            <a:ext cx="2789835" cy="4122420"/>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3A3A3A"/>
                </a:solidFill>
                <a:latin typeface="Arial" pitchFamily="34" charset="0"/>
                <a:ea typeface="Arial" pitchFamily="34" charset="-122"/>
                <a:cs typeface="Arial" pitchFamily="34" charset="-120"/>
              </a:rPr>
              <a:t>Destroy test environment → terraform apply → measure RTO · Target: &lt; 15 minutes</a:t>
            </a:r>
            <a:endParaRPr lang="en-US" sz="1800" dirty="0"/>
          </a:p>
        </p:txBody>
      </p:sp>
      <p:sp>
        <p:nvSpPr>
          <p:cNvPr id="27" name="Shape 24"/>
          <p:cNvSpPr/>
          <p:nvPr/>
        </p:nvSpPr>
        <p:spPr>
          <a:xfrm>
            <a:off x="14226540" y="2868930"/>
            <a:ext cx="3108960" cy="5440680"/>
          </a:xfrm>
          <a:prstGeom prst="rect">
            <a:avLst/>
          </a:prstGeom>
          <a:ln w="15240">
            <a:solidFill>
              <a:srgbClr val="EFE6DA"/>
            </a:solidFill>
            <a:prstDash val="solid"/>
          </a:ln>
        </p:spPr>
      </p:sp>
      <p:sp>
        <p:nvSpPr>
          <p:cNvPr id="28" name="Shape 25"/>
          <p:cNvSpPr/>
          <p:nvPr/>
        </p:nvSpPr>
        <p:spPr>
          <a:xfrm>
            <a:off x="14241781" y="2884170"/>
            <a:ext cx="3078480" cy="906780"/>
          </a:xfrm>
          <a:prstGeom prst="rect">
            <a:avLst/>
          </a:prstGeom>
          <a:solidFill>
            <a:srgbClr val="B19C7D"/>
          </a:solidFill>
          <a:ln/>
        </p:spPr>
      </p:sp>
      <p:sp>
        <p:nvSpPr>
          <p:cNvPr id="29" name="Text 26"/>
          <p:cNvSpPr/>
          <p:nvPr/>
        </p:nvSpPr>
        <p:spPr>
          <a:xfrm>
            <a:off x="14432281" y="3055620"/>
            <a:ext cx="296722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50" dirty="0">
                <a:solidFill>
                  <a:srgbClr val="FBF6EE"/>
                </a:solidFill>
                <a:latin typeface="Arial" pitchFamily="34" charset="0"/>
                <a:ea typeface="Arial" pitchFamily="34" charset="-122"/>
                <a:cs typeface="Arial" pitchFamily="34" charset="-120"/>
              </a:rPr>
              <a:t>05</a:t>
            </a:r>
            <a:endParaRPr lang="en-US" sz="1650" dirty="0"/>
          </a:p>
        </p:txBody>
      </p:sp>
      <p:sp>
        <p:nvSpPr>
          <p:cNvPr id="30" name="Text 27"/>
          <p:cNvSpPr/>
          <p:nvPr/>
        </p:nvSpPr>
        <p:spPr>
          <a:xfrm>
            <a:off x="14432281" y="3337560"/>
            <a:ext cx="2967228" cy="32004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FFFFF"/>
                </a:solidFill>
                <a:latin typeface="Arial" pitchFamily="34" charset="0"/>
                <a:ea typeface="Arial" pitchFamily="34" charset="-122"/>
                <a:cs typeface="Arial" pitchFamily="34" charset="-120"/>
              </a:rPr>
              <a:t>Compliance Audit</a:t>
            </a:r>
            <a:endParaRPr lang="en-US" sz="1950" dirty="0"/>
          </a:p>
        </p:txBody>
      </p:sp>
      <p:sp>
        <p:nvSpPr>
          <p:cNvPr id="31" name="Text 28"/>
          <p:cNvSpPr/>
          <p:nvPr/>
        </p:nvSpPr>
        <p:spPr>
          <a:xfrm>
            <a:off x="14432281" y="4000500"/>
            <a:ext cx="2789835" cy="4122420"/>
          </a:xfrm>
          <a:prstGeom prst="rect">
            <a:avLst/>
          </a:prstGeom>
          <a:noFill/>
          <a:ln/>
        </p:spPr>
        <p:txBody>
          <a:bodyPr wrap="square" lIns="25400" tIns="25400" rIns="25400" bIns="25400" rtlCol="0" anchor="t">
            <a:normAutofit/>
          </a:bodyPr>
          <a:lstStyle/>
          <a:p>
            <a:pPr marL="0" indent="0" algn="l">
              <a:lnSpc>
                <a:spcPct val="150000"/>
              </a:lnSpc>
              <a:buNone/>
            </a:pPr>
            <a:r>
              <a:rPr lang="en-US" sz="1800" dirty="0">
                <a:solidFill>
                  <a:srgbClr val="3A3A3A"/>
                </a:solidFill>
                <a:latin typeface="Arial" pitchFamily="34" charset="0"/>
                <a:ea typeface="Arial" pitchFamily="34" charset="-122"/>
                <a:cs typeface="Arial" pitchFamily="34" charset="-120"/>
              </a:rPr>
              <a:t>HIPAA §164.312 compliance validation · Malaysia PDPA 2010 review</a:t>
            </a:r>
            <a:endParaRPr lang="en-US" sz="1800" dirty="0"/>
          </a:p>
        </p:txBody>
      </p:sp>
      <p:sp>
        <p:nvSpPr>
          <p:cNvPr id="32" name="Shape 29"/>
          <p:cNvSpPr/>
          <p:nvPr/>
        </p:nvSpPr>
        <p:spPr>
          <a:xfrm>
            <a:off x="952500" y="8576310"/>
            <a:ext cx="16383000" cy="662940"/>
          </a:xfrm>
          <a:prstGeom prst="rect">
            <a:avLst/>
          </a:prstGeom>
          <a:solidFill>
            <a:srgbClr val="FBF6EE"/>
          </a:solidFill>
          <a:ln/>
        </p:spPr>
      </p:sp>
      <p:sp>
        <p:nvSpPr>
          <p:cNvPr id="33" name="Shape 30"/>
          <p:cNvSpPr/>
          <p:nvPr/>
        </p:nvSpPr>
        <p:spPr>
          <a:xfrm>
            <a:off x="952500" y="8576310"/>
            <a:ext cx="76200" cy="662940"/>
          </a:xfrm>
          <a:prstGeom prst="rect">
            <a:avLst/>
          </a:prstGeom>
          <a:solidFill>
            <a:srgbClr val="74121D"/>
          </a:solidFill>
          <a:ln/>
        </p:spPr>
      </p:sp>
      <p:sp>
        <p:nvSpPr>
          <p:cNvPr id="34" name="Text 31"/>
          <p:cNvSpPr/>
          <p:nvPr/>
        </p:nvSpPr>
        <p:spPr>
          <a:xfrm>
            <a:off x="1295400" y="8747760"/>
            <a:ext cx="16264890"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A2A2A"/>
                </a:solidFill>
                <a:highlight>
                  <a:srgbClr val="FBF6EE"/>
                </a:highlight>
                <a:latin typeface="Arial" pitchFamily="34" charset="0"/>
                <a:ea typeface="Arial" pitchFamily="34" charset="-122"/>
                <a:cs typeface="Arial" pitchFamily="34" charset="-120"/>
              </a:rPr>
              <a:t>All evaluation activities planned for </a:t>
            </a:r>
            <a:r>
              <a:rPr lang="en-US" sz="1800" b="1" dirty="0">
                <a:solidFill>
                  <a:srgbClr val="74121D"/>
                </a:solidFill>
                <a:latin typeface="Arial" pitchFamily="34" charset="0"/>
                <a:ea typeface="Arial" pitchFamily="34" charset="-122"/>
                <a:cs typeface="Arial" pitchFamily="34" charset="-120"/>
              </a:rPr>
              <a:t>PSM 2 </a:t>
            </a:r>
            <a:r>
              <a:rPr lang="en-US" sz="1800" dirty="0">
                <a:solidFill>
                  <a:srgbClr val="2A2A2A"/>
                </a:solidFill>
                <a:highlight>
                  <a:srgbClr val="FBF6EE"/>
                </a:highlight>
                <a:latin typeface="Arial" pitchFamily="34" charset="0"/>
                <a:ea typeface="Arial" pitchFamily="34" charset="-122"/>
                <a:cs typeface="Arial" pitchFamily="34" charset="-120"/>
              </a:rPr>
              <a:t>— the system has not yet been implemented.</a:t>
            </a:r>
            <a:endParaRPr lang="en-US" sz="1800" dirty="0"/>
          </a:p>
        </p:txBody>
      </p:sp>
      <p:sp>
        <p:nvSpPr>
          <p:cNvPr id="35" name="Text 32"/>
          <p:cNvSpPr/>
          <p:nvPr/>
        </p:nvSpPr>
        <p:spPr>
          <a:xfrm>
            <a:off x="952500" y="9742170"/>
            <a:ext cx="553604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Secure AWS Patient Data System · PSM 1 Viva</a:t>
            </a:r>
            <a:endParaRPr lang="en-US" sz="1800" dirty="0"/>
          </a:p>
        </p:txBody>
      </p:sp>
      <p:sp>
        <p:nvSpPr>
          <p:cNvPr id="36" name="Text 33"/>
          <p:cNvSpPr/>
          <p:nvPr/>
        </p:nvSpPr>
        <p:spPr>
          <a:xfrm>
            <a:off x="16603027" y="9742170"/>
            <a:ext cx="80867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12 / 14</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33350"/>
          </a:xfrm>
          <a:prstGeom prst="rect">
            <a:avLst/>
          </a:prstGeom>
          <a:solidFill>
            <a:srgbClr val="74121D"/>
          </a:solidFill>
          <a:ln/>
        </p:spPr>
      </p:sp>
      <p:pic>
        <p:nvPicPr>
          <p:cNvPr id="3" name="Image 0" descr="preencoded.png"/>
          <p:cNvPicPr>
            <a:picLocks noChangeAspect="1"/>
          </p:cNvPicPr>
          <p:nvPr/>
        </p:nvPicPr>
        <p:blipFill>
          <a:blip r:embed="rId3"/>
          <a:stretch>
            <a:fillRect/>
          </a:stretch>
        </p:blipFill>
        <p:spPr>
          <a:xfrm>
            <a:off x="16004143" y="361950"/>
            <a:ext cx="1521857" cy="514350"/>
          </a:xfrm>
          <a:prstGeom prst="rect">
            <a:avLst/>
          </a:prstGeom>
        </p:spPr>
      </p:pic>
      <p:sp>
        <p:nvSpPr>
          <p:cNvPr id="4" name="Text 1"/>
          <p:cNvSpPr/>
          <p:nvPr/>
        </p:nvSpPr>
        <p:spPr>
          <a:xfrm>
            <a:off x="952500" y="1238250"/>
            <a:ext cx="1802130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225" dirty="0">
                <a:solidFill>
                  <a:srgbClr val="B19C7D"/>
                </a:solidFill>
                <a:latin typeface="Arial" pitchFamily="34" charset="0"/>
                <a:ea typeface="Arial" pitchFamily="34" charset="-122"/>
                <a:cs typeface="Arial" pitchFamily="34" charset="-120"/>
              </a:rPr>
              <a:t>CHAPTER 5</a:t>
            </a:r>
            <a:endParaRPr lang="en-US" sz="1800" dirty="0"/>
          </a:p>
        </p:txBody>
      </p:sp>
      <p:sp>
        <p:nvSpPr>
          <p:cNvPr id="5" name="Text 2"/>
          <p:cNvSpPr/>
          <p:nvPr/>
        </p:nvSpPr>
        <p:spPr>
          <a:xfrm>
            <a:off x="952500" y="1611630"/>
            <a:ext cx="18021300" cy="63817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500" b="1" kern="0" spc="-37" dirty="0">
                <a:solidFill>
                  <a:srgbClr val="74121D"/>
                </a:solidFill>
                <a:latin typeface="Arial" pitchFamily="34" charset="0"/>
                <a:ea typeface="Arial" pitchFamily="34" charset="-122"/>
                <a:cs typeface="Arial" pitchFamily="34" charset="-120"/>
              </a:rPr>
              <a:t>PSM 1 Achievements and PSM 2 Plan</a:t>
            </a:r>
            <a:endParaRPr lang="en-US" sz="4500" dirty="0"/>
          </a:p>
        </p:txBody>
      </p:sp>
      <p:sp>
        <p:nvSpPr>
          <p:cNvPr id="6" name="Shape 3"/>
          <p:cNvSpPr/>
          <p:nvPr/>
        </p:nvSpPr>
        <p:spPr>
          <a:xfrm>
            <a:off x="952500" y="2402205"/>
            <a:ext cx="857250" cy="47625"/>
          </a:xfrm>
          <a:prstGeom prst="roundRect">
            <a:avLst>
              <a:gd name="adj" fmla="val 50000"/>
            </a:avLst>
          </a:prstGeom>
          <a:solidFill>
            <a:srgbClr val="B19C7D"/>
          </a:solidFill>
          <a:ln/>
        </p:spPr>
      </p:sp>
      <p:sp>
        <p:nvSpPr>
          <p:cNvPr id="7" name="Shape 4"/>
          <p:cNvSpPr/>
          <p:nvPr/>
        </p:nvSpPr>
        <p:spPr>
          <a:xfrm>
            <a:off x="952500" y="2868930"/>
            <a:ext cx="7953375" cy="6370320"/>
          </a:xfrm>
          <a:prstGeom prst="rect">
            <a:avLst/>
          </a:prstGeom>
          <a:solidFill>
            <a:srgbClr val="FBF6EE"/>
          </a:solidFill>
          <a:ln/>
        </p:spPr>
      </p:sp>
      <p:sp>
        <p:nvSpPr>
          <p:cNvPr id="8" name="Shape 5"/>
          <p:cNvSpPr/>
          <p:nvPr/>
        </p:nvSpPr>
        <p:spPr>
          <a:xfrm>
            <a:off x="1295400" y="3211830"/>
            <a:ext cx="1028938" cy="358140"/>
          </a:xfrm>
          <a:prstGeom prst="rect">
            <a:avLst/>
          </a:prstGeom>
          <a:solidFill>
            <a:srgbClr val="74121D"/>
          </a:solidFill>
          <a:ln/>
        </p:spPr>
      </p:sp>
      <p:sp>
        <p:nvSpPr>
          <p:cNvPr id="9" name="Text 6"/>
          <p:cNvSpPr/>
          <p:nvPr/>
        </p:nvSpPr>
        <p:spPr>
          <a:xfrm>
            <a:off x="1447800" y="3268980"/>
            <a:ext cx="80033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50" dirty="0">
                <a:solidFill>
                  <a:srgbClr val="FFFFFF"/>
                </a:solidFill>
                <a:latin typeface="Arial" pitchFamily="34" charset="0"/>
                <a:ea typeface="Arial" pitchFamily="34" charset="-122"/>
                <a:cs typeface="Arial" pitchFamily="34" charset="-120"/>
              </a:rPr>
              <a:t>PSM 1</a:t>
            </a:r>
            <a:endParaRPr lang="en-US" sz="1650" dirty="0"/>
          </a:p>
        </p:txBody>
      </p:sp>
      <p:sp>
        <p:nvSpPr>
          <p:cNvPr id="10" name="Text 7"/>
          <p:cNvSpPr/>
          <p:nvPr/>
        </p:nvSpPr>
        <p:spPr>
          <a:xfrm>
            <a:off x="2457688" y="3261360"/>
            <a:ext cx="139363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5" dirty="0">
                <a:solidFill>
                  <a:srgbClr val="74121D"/>
                </a:solidFill>
                <a:latin typeface="Arial" pitchFamily="34" charset="0"/>
                <a:ea typeface="Arial" pitchFamily="34" charset="-122"/>
                <a:cs typeface="Arial" pitchFamily="34" charset="-120"/>
              </a:rPr>
              <a:t>Completed</a:t>
            </a:r>
            <a:endParaRPr lang="en-US" sz="1800" dirty="0"/>
          </a:p>
        </p:txBody>
      </p:sp>
      <p:sp>
        <p:nvSpPr>
          <p:cNvPr id="11" name="Text 8"/>
          <p:cNvSpPr/>
          <p:nvPr/>
        </p:nvSpPr>
        <p:spPr>
          <a:xfrm>
            <a:off x="1295400" y="3865245"/>
            <a:ext cx="25467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74121D"/>
                </a:solidFill>
                <a:latin typeface="Arial" pitchFamily="34" charset="0"/>
                <a:ea typeface="Arial" pitchFamily="34" charset="-122"/>
                <a:cs typeface="Arial" pitchFamily="34" charset="-120"/>
              </a:rPr>
              <a:t>✓</a:t>
            </a:r>
            <a:endParaRPr lang="en-US" sz="1875" dirty="0"/>
          </a:p>
        </p:txBody>
      </p:sp>
      <p:sp>
        <p:nvSpPr>
          <p:cNvPr id="12" name="Text 9"/>
          <p:cNvSpPr/>
          <p:nvPr/>
        </p:nvSpPr>
        <p:spPr>
          <a:xfrm>
            <a:off x="1562100" y="3903345"/>
            <a:ext cx="5261628"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3A3A3A"/>
                </a:solidFill>
                <a:latin typeface="Arial" pitchFamily="34" charset="0"/>
                <a:ea typeface="Arial" pitchFamily="34" charset="-122"/>
                <a:cs typeface="Arial" pitchFamily="34" charset="-120"/>
              </a:rPr>
              <a:t>Ransomware root cause analysis (Alamin Clinic)</a:t>
            </a:r>
            <a:endParaRPr lang="en-US" sz="1875" dirty="0"/>
          </a:p>
        </p:txBody>
      </p:sp>
      <p:sp>
        <p:nvSpPr>
          <p:cNvPr id="13" name="Text 10"/>
          <p:cNvSpPr/>
          <p:nvPr/>
        </p:nvSpPr>
        <p:spPr>
          <a:xfrm>
            <a:off x="1295400" y="4355783"/>
            <a:ext cx="25467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74121D"/>
                </a:solidFill>
                <a:latin typeface="Arial" pitchFamily="34" charset="0"/>
                <a:ea typeface="Arial" pitchFamily="34" charset="-122"/>
                <a:cs typeface="Arial" pitchFamily="34" charset="-120"/>
              </a:rPr>
              <a:t>✓</a:t>
            </a:r>
            <a:endParaRPr lang="en-US" sz="1875" dirty="0"/>
          </a:p>
        </p:txBody>
      </p:sp>
      <p:sp>
        <p:nvSpPr>
          <p:cNvPr id="14" name="Text 11"/>
          <p:cNvSpPr/>
          <p:nvPr/>
        </p:nvSpPr>
        <p:spPr>
          <a:xfrm>
            <a:off x="1562100" y="4393883"/>
            <a:ext cx="3831221"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3A3A3A"/>
                </a:solidFill>
                <a:latin typeface="Arial" pitchFamily="34" charset="0"/>
                <a:ea typeface="Arial" pitchFamily="34" charset="-122"/>
                <a:cs typeface="Arial" pitchFamily="34" charset="-120"/>
              </a:rPr>
              <a:t>2 stakeholder interviews conducted</a:t>
            </a:r>
            <a:endParaRPr lang="en-US" sz="1875" dirty="0"/>
          </a:p>
        </p:txBody>
      </p:sp>
      <p:sp>
        <p:nvSpPr>
          <p:cNvPr id="15" name="Text 12"/>
          <p:cNvSpPr/>
          <p:nvPr/>
        </p:nvSpPr>
        <p:spPr>
          <a:xfrm>
            <a:off x="1295400" y="4846320"/>
            <a:ext cx="25467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74121D"/>
                </a:solidFill>
                <a:latin typeface="Arial" pitchFamily="34" charset="0"/>
                <a:ea typeface="Arial" pitchFamily="34" charset="-122"/>
                <a:cs typeface="Arial" pitchFamily="34" charset="-120"/>
              </a:rPr>
              <a:t>✓</a:t>
            </a:r>
            <a:endParaRPr lang="en-US" sz="1875" dirty="0"/>
          </a:p>
        </p:txBody>
      </p:sp>
      <p:sp>
        <p:nvSpPr>
          <p:cNvPr id="16" name="Text 13"/>
          <p:cNvSpPr/>
          <p:nvPr/>
        </p:nvSpPr>
        <p:spPr>
          <a:xfrm>
            <a:off x="1562100" y="4884420"/>
            <a:ext cx="3376002"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3A3A3A"/>
                </a:solidFill>
                <a:latin typeface="Arial" pitchFamily="34" charset="0"/>
                <a:ea typeface="Arial" pitchFamily="34" charset="-122"/>
                <a:cs typeface="Arial" pitchFamily="34" charset="-120"/>
              </a:rPr>
              <a:t>18 use cases · 12 FR · 11 NFR</a:t>
            </a:r>
            <a:endParaRPr lang="en-US" sz="1875" dirty="0"/>
          </a:p>
        </p:txBody>
      </p:sp>
      <p:sp>
        <p:nvSpPr>
          <p:cNvPr id="17" name="Text 14"/>
          <p:cNvSpPr/>
          <p:nvPr/>
        </p:nvSpPr>
        <p:spPr>
          <a:xfrm>
            <a:off x="1295400" y="5336857"/>
            <a:ext cx="25467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74121D"/>
                </a:solidFill>
                <a:latin typeface="Arial" pitchFamily="34" charset="0"/>
                <a:ea typeface="Arial" pitchFamily="34" charset="-122"/>
                <a:cs typeface="Arial" pitchFamily="34" charset="-120"/>
              </a:rPr>
              <a:t>✓</a:t>
            </a:r>
            <a:endParaRPr lang="en-US" sz="1875" dirty="0"/>
          </a:p>
        </p:txBody>
      </p:sp>
      <p:sp>
        <p:nvSpPr>
          <p:cNvPr id="18" name="Text 15"/>
          <p:cNvSpPr/>
          <p:nvPr/>
        </p:nvSpPr>
        <p:spPr>
          <a:xfrm>
            <a:off x="1562100" y="5374957"/>
            <a:ext cx="4653116"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3A3A3A"/>
                </a:solidFill>
                <a:latin typeface="Arial" pitchFamily="34" charset="0"/>
                <a:ea typeface="Arial" pitchFamily="34" charset="-122"/>
                <a:cs typeface="Arial" pitchFamily="34" charset="-120"/>
              </a:rPr>
              <a:t>Three-tier AWS VPC architecture designed</a:t>
            </a:r>
            <a:endParaRPr lang="en-US" sz="1875" dirty="0"/>
          </a:p>
        </p:txBody>
      </p:sp>
      <p:sp>
        <p:nvSpPr>
          <p:cNvPr id="19" name="Text 16"/>
          <p:cNvSpPr/>
          <p:nvPr/>
        </p:nvSpPr>
        <p:spPr>
          <a:xfrm>
            <a:off x="1295400" y="5827395"/>
            <a:ext cx="25467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74121D"/>
                </a:solidFill>
                <a:latin typeface="Arial" pitchFamily="34" charset="0"/>
                <a:ea typeface="Arial" pitchFamily="34" charset="-122"/>
                <a:cs typeface="Arial" pitchFamily="34" charset="-120"/>
              </a:rPr>
              <a:t>✓</a:t>
            </a:r>
            <a:endParaRPr lang="en-US" sz="1875" dirty="0"/>
          </a:p>
        </p:txBody>
      </p:sp>
      <p:sp>
        <p:nvSpPr>
          <p:cNvPr id="20" name="Text 17"/>
          <p:cNvSpPr/>
          <p:nvPr/>
        </p:nvSpPr>
        <p:spPr>
          <a:xfrm>
            <a:off x="1562100" y="5865495"/>
            <a:ext cx="5311540"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3A3A3A"/>
                </a:solidFill>
                <a:latin typeface="Arial" pitchFamily="34" charset="0"/>
                <a:ea typeface="Arial" pitchFamily="34" charset="-122"/>
                <a:cs typeface="Arial" pitchFamily="34" charset="-120"/>
              </a:rPr>
              <a:t>3-layer RBAC model defined (JWT + IAM + RLS)</a:t>
            </a:r>
            <a:endParaRPr lang="en-US" sz="1875" dirty="0"/>
          </a:p>
        </p:txBody>
      </p:sp>
      <p:sp>
        <p:nvSpPr>
          <p:cNvPr id="21" name="Text 18"/>
          <p:cNvSpPr/>
          <p:nvPr/>
        </p:nvSpPr>
        <p:spPr>
          <a:xfrm>
            <a:off x="1295400" y="6317932"/>
            <a:ext cx="25467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74121D"/>
                </a:solidFill>
                <a:latin typeface="Arial" pitchFamily="34" charset="0"/>
                <a:ea typeface="Arial" pitchFamily="34" charset="-122"/>
                <a:cs typeface="Arial" pitchFamily="34" charset="-120"/>
              </a:rPr>
              <a:t>✓</a:t>
            </a:r>
            <a:endParaRPr lang="en-US" sz="1875" dirty="0"/>
          </a:p>
        </p:txBody>
      </p:sp>
      <p:sp>
        <p:nvSpPr>
          <p:cNvPr id="22" name="Text 19"/>
          <p:cNvSpPr/>
          <p:nvPr/>
        </p:nvSpPr>
        <p:spPr>
          <a:xfrm>
            <a:off x="1562100" y="6356032"/>
            <a:ext cx="4172267"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3A3A3A"/>
                </a:solidFill>
                <a:latin typeface="Arial" pitchFamily="34" charset="0"/>
                <a:ea typeface="Arial" pitchFamily="34" charset="-122"/>
                <a:cs typeface="Arial" pitchFamily="34" charset="-120"/>
              </a:rPr>
              <a:t>6-stage DevSecOps pipeline designed</a:t>
            </a:r>
            <a:endParaRPr lang="en-US" sz="1875" dirty="0"/>
          </a:p>
        </p:txBody>
      </p:sp>
      <p:sp>
        <p:nvSpPr>
          <p:cNvPr id="23" name="Text 20"/>
          <p:cNvSpPr/>
          <p:nvPr/>
        </p:nvSpPr>
        <p:spPr>
          <a:xfrm>
            <a:off x="1295400" y="6808470"/>
            <a:ext cx="25467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74121D"/>
                </a:solidFill>
                <a:latin typeface="Arial" pitchFamily="34" charset="0"/>
                <a:ea typeface="Arial" pitchFamily="34" charset="-122"/>
                <a:cs typeface="Arial" pitchFamily="34" charset="-120"/>
              </a:rPr>
              <a:t>✓</a:t>
            </a:r>
            <a:endParaRPr lang="en-US" sz="1875" dirty="0"/>
          </a:p>
        </p:txBody>
      </p:sp>
      <p:sp>
        <p:nvSpPr>
          <p:cNvPr id="24" name="Text 21"/>
          <p:cNvSpPr/>
          <p:nvPr/>
        </p:nvSpPr>
        <p:spPr>
          <a:xfrm>
            <a:off x="1562100" y="6846570"/>
            <a:ext cx="4710264"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3A3A3A"/>
                </a:solidFill>
                <a:latin typeface="Arial" pitchFamily="34" charset="0"/>
                <a:ea typeface="Arial" pitchFamily="34" charset="-122"/>
                <a:cs typeface="Arial" pitchFamily="34" charset="-120"/>
              </a:rPr>
              <a:t>Database schema + RLS policies (6 tables)</a:t>
            </a:r>
            <a:endParaRPr lang="en-US" sz="1875" dirty="0"/>
          </a:p>
        </p:txBody>
      </p:sp>
      <p:sp>
        <p:nvSpPr>
          <p:cNvPr id="25" name="Text 22"/>
          <p:cNvSpPr/>
          <p:nvPr/>
        </p:nvSpPr>
        <p:spPr>
          <a:xfrm>
            <a:off x="1295400" y="7299007"/>
            <a:ext cx="25467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74121D"/>
                </a:solidFill>
                <a:latin typeface="Arial" pitchFamily="34" charset="0"/>
                <a:ea typeface="Arial" pitchFamily="34" charset="-122"/>
                <a:cs typeface="Arial" pitchFamily="34" charset="-120"/>
              </a:rPr>
              <a:t>✓</a:t>
            </a:r>
            <a:endParaRPr lang="en-US" sz="1875" dirty="0"/>
          </a:p>
        </p:txBody>
      </p:sp>
      <p:sp>
        <p:nvSpPr>
          <p:cNvPr id="26" name="Text 23"/>
          <p:cNvSpPr/>
          <p:nvPr/>
        </p:nvSpPr>
        <p:spPr>
          <a:xfrm>
            <a:off x="1562100" y="7337107"/>
            <a:ext cx="4116959"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3A3A3A"/>
                </a:solidFill>
                <a:latin typeface="Arial" pitchFamily="34" charset="0"/>
                <a:ea typeface="Arial" pitchFamily="34" charset="-122"/>
                <a:cs typeface="Arial" pitchFamily="34" charset="-120"/>
              </a:rPr>
              <a:t>4 role-based wireframes (Appendix E)</a:t>
            </a:r>
            <a:endParaRPr lang="en-US" sz="1875" dirty="0"/>
          </a:p>
        </p:txBody>
      </p:sp>
      <p:sp>
        <p:nvSpPr>
          <p:cNvPr id="27" name="Text 24"/>
          <p:cNvSpPr/>
          <p:nvPr/>
        </p:nvSpPr>
        <p:spPr>
          <a:xfrm>
            <a:off x="1295400" y="7789545"/>
            <a:ext cx="25467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74121D"/>
                </a:solidFill>
                <a:latin typeface="Arial" pitchFamily="34" charset="0"/>
                <a:ea typeface="Arial" pitchFamily="34" charset="-122"/>
                <a:cs typeface="Arial" pitchFamily="34" charset="-120"/>
              </a:rPr>
              <a:t>✓</a:t>
            </a:r>
            <a:endParaRPr lang="en-US" sz="1875" dirty="0"/>
          </a:p>
        </p:txBody>
      </p:sp>
      <p:sp>
        <p:nvSpPr>
          <p:cNvPr id="28" name="Text 25"/>
          <p:cNvSpPr/>
          <p:nvPr/>
        </p:nvSpPr>
        <p:spPr>
          <a:xfrm>
            <a:off x="1562100" y="7827645"/>
            <a:ext cx="4113280"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3A3A3A"/>
                </a:solidFill>
                <a:latin typeface="Arial" pitchFamily="34" charset="0"/>
                <a:ea typeface="Arial" pitchFamily="34" charset="-122"/>
                <a:cs typeface="Arial" pitchFamily="34" charset="-120"/>
              </a:rPr>
              <a:t>HIPAA §164.312 compliance mapping</a:t>
            </a:r>
            <a:endParaRPr lang="en-US" sz="1875" dirty="0"/>
          </a:p>
        </p:txBody>
      </p:sp>
      <p:sp>
        <p:nvSpPr>
          <p:cNvPr id="29" name="Shape 26"/>
          <p:cNvSpPr/>
          <p:nvPr/>
        </p:nvSpPr>
        <p:spPr>
          <a:xfrm>
            <a:off x="9382125" y="2868930"/>
            <a:ext cx="7953375" cy="6370320"/>
          </a:xfrm>
          <a:prstGeom prst="rect">
            <a:avLst/>
          </a:prstGeom>
          <a:solidFill>
            <a:srgbClr val="74121D"/>
          </a:solidFill>
          <a:ln/>
        </p:spPr>
      </p:sp>
      <p:sp>
        <p:nvSpPr>
          <p:cNvPr id="30" name="Shape 27"/>
          <p:cNvSpPr/>
          <p:nvPr/>
        </p:nvSpPr>
        <p:spPr>
          <a:xfrm>
            <a:off x="9725025" y="3211830"/>
            <a:ext cx="1028938" cy="358140"/>
          </a:xfrm>
          <a:prstGeom prst="rect">
            <a:avLst/>
          </a:prstGeom>
          <a:solidFill>
            <a:srgbClr val="FFFFFF"/>
          </a:solidFill>
          <a:ln/>
        </p:spPr>
      </p:sp>
      <p:sp>
        <p:nvSpPr>
          <p:cNvPr id="31" name="Text 28"/>
          <p:cNvSpPr/>
          <p:nvPr/>
        </p:nvSpPr>
        <p:spPr>
          <a:xfrm>
            <a:off x="9877425" y="3268980"/>
            <a:ext cx="800338"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150" dirty="0">
                <a:solidFill>
                  <a:srgbClr val="74121D"/>
                </a:solidFill>
                <a:latin typeface="Arial" pitchFamily="34" charset="0"/>
                <a:ea typeface="Arial" pitchFamily="34" charset="-122"/>
                <a:cs typeface="Arial" pitchFamily="34" charset="-120"/>
              </a:rPr>
              <a:t>PSM 2</a:t>
            </a:r>
            <a:endParaRPr lang="en-US" sz="1650" dirty="0"/>
          </a:p>
        </p:txBody>
      </p:sp>
      <p:sp>
        <p:nvSpPr>
          <p:cNvPr id="32" name="Text 29"/>
          <p:cNvSpPr/>
          <p:nvPr/>
        </p:nvSpPr>
        <p:spPr>
          <a:xfrm>
            <a:off x="10887313" y="3261360"/>
            <a:ext cx="4080855"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b="1" kern="0" spc="75" dirty="0">
                <a:solidFill>
                  <a:srgbClr val="E7D7C1"/>
                </a:solidFill>
                <a:latin typeface="Arial" pitchFamily="34" charset="0"/>
                <a:ea typeface="Arial" pitchFamily="34" charset="-122"/>
                <a:cs typeface="Arial" pitchFamily="34" charset="-120"/>
              </a:rPr>
              <a:t>Planned · June–November 2026</a:t>
            </a:r>
            <a:endParaRPr lang="en-US" sz="1800" dirty="0"/>
          </a:p>
        </p:txBody>
      </p:sp>
      <p:sp>
        <p:nvSpPr>
          <p:cNvPr id="33" name="Text 30"/>
          <p:cNvSpPr/>
          <p:nvPr/>
        </p:nvSpPr>
        <p:spPr>
          <a:xfrm>
            <a:off x="9725025" y="3865245"/>
            <a:ext cx="31432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B19C7D"/>
                </a:solidFill>
                <a:latin typeface="Arial" pitchFamily="34" charset="0"/>
                <a:ea typeface="Arial" pitchFamily="34" charset="-122"/>
                <a:cs typeface="Arial" pitchFamily="34" charset="-120"/>
              </a:rPr>
              <a:t>→</a:t>
            </a:r>
            <a:endParaRPr lang="en-US" sz="1875" dirty="0"/>
          </a:p>
        </p:txBody>
      </p:sp>
      <p:sp>
        <p:nvSpPr>
          <p:cNvPr id="34" name="Text 31"/>
          <p:cNvSpPr/>
          <p:nvPr/>
        </p:nvSpPr>
        <p:spPr>
          <a:xfrm>
            <a:off x="9991725" y="3903345"/>
            <a:ext cx="4848228"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FFFFFF"/>
                </a:solidFill>
                <a:latin typeface="Arial" pitchFamily="34" charset="0"/>
                <a:ea typeface="Arial" pitchFamily="34" charset="-122"/>
                <a:cs typeface="Arial" pitchFamily="34" charset="-120"/>
              </a:rPr>
              <a:t>VPC + RDS + IAM deployment via Terraform</a:t>
            </a:r>
            <a:endParaRPr lang="en-US" sz="1875" dirty="0"/>
          </a:p>
        </p:txBody>
      </p:sp>
      <p:sp>
        <p:nvSpPr>
          <p:cNvPr id="35" name="Text 32"/>
          <p:cNvSpPr/>
          <p:nvPr/>
        </p:nvSpPr>
        <p:spPr>
          <a:xfrm>
            <a:off x="9725025" y="4355783"/>
            <a:ext cx="31432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B19C7D"/>
                </a:solidFill>
                <a:latin typeface="Arial" pitchFamily="34" charset="0"/>
                <a:ea typeface="Arial" pitchFamily="34" charset="-122"/>
                <a:cs typeface="Arial" pitchFamily="34" charset="-120"/>
              </a:rPr>
              <a:t>→</a:t>
            </a:r>
            <a:endParaRPr lang="en-US" sz="1875" dirty="0"/>
          </a:p>
        </p:txBody>
      </p:sp>
      <p:sp>
        <p:nvSpPr>
          <p:cNvPr id="36" name="Text 33"/>
          <p:cNvSpPr/>
          <p:nvPr/>
        </p:nvSpPr>
        <p:spPr>
          <a:xfrm>
            <a:off x="9991725" y="4393883"/>
            <a:ext cx="4805919"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FFFFFF"/>
                </a:solidFill>
                <a:latin typeface="Arial" pitchFamily="34" charset="0"/>
                <a:ea typeface="Arial" pitchFamily="34" charset="-122"/>
                <a:cs typeface="Arial" pitchFamily="34" charset="-120"/>
              </a:rPr>
              <a:t>Node.js / Express backend + React frontend</a:t>
            </a:r>
            <a:endParaRPr lang="en-US" sz="1875" dirty="0"/>
          </a:p>
        </p:txBody>
      </p:sp>
      <p:sp>
        <p:nvSpPr>
          <p:cNvPr id="37" name="Text 34"/>
          <p:cNvSpPr/>
          <p:nvPr/>
        </p:nvSpPr>
        <p:spPr>
          <a:xfrm>
            <a:off x="9725025" y="4846320"/>
            <a:ext cx="31432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B19C7D"/>
                </a:solidFill>
                <a:latin typeface="Arial" pitchFamily="34" charset="0"/>
                <a:ea typeface="Arial" pitchFamily="34" charset="-122"/>
                <a:cs typeface="Arial" pitchFamily="34" charset="-120"/>
              </a:rPr>
              <a:t>→</a:t>
            </a:r>
            <a:endParaRPr lang="en-US" sz="1875" dirty="0"/>
          </a:p>
        </p:txBody>
      </p:sp>
      <p:sp>
        <p:nvSpPr>
          <p:cNvPr id="38" name="Text 35"/>
          <p:cNvSpPr/>
          <p:nvPr/>
        </p:nvSpPr>
        <p:spPr>
          <a:xfrm>
            <a:off x="9991725" y="4884420"/>
            <a:ext cx="5351029"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FFFFFF"/>
                </a:solidFill>
                <a:latin typeface="Arial" pitchFamily="34" charset="0"/>
                <a:ea typeface="Arial" pitchFamily="34" charset="-122"/>
                <a:cs typeface="Arial" pitchFamily="34" charset="-120"/>
              </a:rPr>
              <a:t>JWT authentication + PostgreSQL RLS activation</a:t>
            </a:r>
            <a:endParaRPr lang="en-US" sz="1875" dirty="0"/>
          </a:p>
        </p:txBody>
      </p:sp>
      <p:sp>
        <p:nvSpPr>
          <p:cNvPr id="39" name="Text 36"/>
          <p:cNvSpPr/>
          <p:nvPr/>
        </p:nvSpPr>
        <p:spPr>
          <a:xfrm>
            <a:off x="9725025" y="5336857"/>
            <a:ext cx="31432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B19C7D"/>
                </a:solidFill>
                <a:latin typeface="Arial" pitchFamily="34" charset="0"/>
                <a:ea typeface="Arial" pitchFamily="34" charset="-122"/>
                <a:cs typeface="Arial" pitchFamily="34" charset="-120"/>
              </a:rPr>
              <a:t>→</a:t>
            </a:r>
            <a:endParaRPr lang="en-US" sz="1875" dirty="0"/>
          </a:p>
        </p:txBody>
      </p:sp>
      <p:sp>
        <p:nvSpPr>
          <p:cNvPr id="40" name="Text 37"/>
          <p:cNvSpPr/>
          <p:nvPr/>
        </p:nvSpPr>
        <p:spPr>
          <a:xfrm>
            <a:off x="9991725" y="5374957"/>
            <a:ext cx="4594742"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FFFFFF"/>
                </a:solidFill>
                <a:latin typeface="Arial" pitchFamily="34" charset="0"/>
                <a:ea typeface="Arial" pitchFamily="34" charset="-122"/>
                <a:cs typeface="Arial" pitchFamily="34" charset="-120"/>
              </a:rPr>
              <a:t>DevSecOps pipeline activation and testing</a:t>
            </a:r>
            <a:endParaRPr lang="en-US" sz="1875" dirty="0"/>
          </a:p>
        </p:txBody>
      </p:sp>
      <p:sp>
        <p:nvSpPr>
          <p:cNvPr id="41" name="Text 38"/>
          <p:cNvSpPr/>
          <p:nvPr/>
        </p:nvSpPr>
        <p:spPr>
          <a:xfrm>
            <a:off x="9725025" y="5827395"/>
            <a:ext cx="31432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B19C7D"/>
                </a:solidFill>
                <a:latin typeface="Arial" pitchFamily="34" charset="0"/>
                <a:ea typeface="Arial" pitchFamily="34" charset="-122"/>
                <a:cs typeface="Arial" pitchFamily="34" charset="-120"/>
              </a:rPr>
              <a:t>→</a:t>
            </a:r>
            <a:endParaRPr lang="en-US" sz="1875" dirty="0"/>
          </a:p>
        </p:txBody>
      </p:sp>
      <p:sp>
        <p:nvSpPr>
          <p:cNvPr id="42" name="Text 39"/>
          <p:cNvSpPr/>
          <p:nvPr/>
        </p:nvSpPr>
        <p:spPr>
          <a:xfrm>
            <a:off x="9991725" y="5865495"/>
            <a:ext cx="4519444"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FFFFFF"/>
                </a:solidFill>
                <a:latin typeface="Arial" pitchFamily="34" charset="0"/>
                <a:ea typeface="Arial" pitchFamily="34" charset="-122"/>
                <a:cs typeface="Arial" pitchFamily="34" charset="-120"/>
              </a:rPr>
              <a:t>Penetration testing + formal security audit</a:t>
            </a:r>
            <a:endParaRPr lang="en-US" sz="1875" dirty="0"/>
          </a:p>
        </p:txBody>
      </p:sp>
      <p:sp>
        <p:nvSpPr>
          <p:cNvPr id="43" name="Text 40"/>
          <p:cNvSpPr/>
          <p:nvPr/>
        </p:nvSpPr>
        <p:spPr>
          <a:xfrm>
            <a:off x="9725025" y="6317932"/>
            <a:ext cx="31432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B19C7D"/>
                </a:solidFill>
                <a:latin typeface="Arial" pitchFamily="34" charset="0"/>
                <a:ea typeface="Arial" pitchFamily="34" charset="-122"/>
                <a:cs typeface="Arial" pitchFamily="34" charset="-120"/>
              </a:rPr>
              <a:t>→</a:t>
            </a:r>
            <a:endParaRPr lang="en-US" sz="1875" dirty="0"/>
          </a:p>
        </p:txBody>
      </p:sp>
      <p:sp>
        <p:nvSpPr>
          <p:cNvPr id="44" name="Text 41"/>
          <p:cNvSpPr/>
          <p:nvPr/>
        </p:nvSpPr>
        <p:spPr>
          <a:xfrm>
            <a:off x="9991725" y="6356032"/>
            <a:ext cx="3335655"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FFFFFF"/>
                </a:solidFill>
                <a:latin typeface="Arial" pitchFamily="34" charset="0"/>
                <a:ea typeface="Arial" pitchFamily="34" charset="-122"/>
                <a:cs typeface="Arial" pitchFamily="34" charset="-120"/>
              </a:rPr>
              <a:t>PDPA 2010 compliance review</a:t>
            </a:r>
            <a:endParaRPr lang="en-US" sz="1875" dirty="0"/>
          </a:p>
        </p:txBody>
      </p:sp>
      <p:sp>
        <p:nvSpPr>
          <p:cNvPr id="45" name="Text 42"/>
          <p:cNvSpPr/>
          <p:nvPr/>
        </p:nvSpPr>
        <p:spPr>
          <a:xfrm>
            <a:off x="9725025" y="6808470"/>
            <a:ext cx="31432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B19C7D"/>
                </a:solidFill>
                <a:latin typeface="Arial" pitchFamily="34" charset="0"/>
                <a:ea typeface="Arial" pitchFamily="34" charset="-122"/>
                <a:cs typeface="Arial" pitchFamily="34" charset="-120"/>
              </a:rPr>
              <a:t>→</a:t>
            </a:r>
            <a:endParaRPr lang="en-US" sz="1875" dirty="0"/>
          </a:p>
        </p:txBody>
      </p:sp>
      <p:sp>
        <p:nvSpPr>
          <p:cNvPr id="46" name="Text 43"/>
          <p:cNvSpPr/>
          <p:nvPr/>
        </p:nvSpPr>
        <p:spPr>
          <a:xfrm>
            <a:off x="9991725" y="6846570"/>
            <a:ext cx="3128894" cy="304800"/>
          </a:xfrm>
          <a:prstGeom prst="rect">
            <a:avLst/>
          </a:prstGeom>
          <a:noFill/>
          <a:ln/>
        </p:spPr>
        <p:txBody>
          <a:bodyPr wrap="square" lIns="0" tIns="0" rIns="0" bIns="0" rtlCol="0" anchor="t">
            <a:normAutofit fontScale="85000" lnSpcReduction="20000"/>
          </a:bodyPr>
          <a:lstStyle/>
          <a:p>
            <a:pPr marL="0" indent="0" algn="l">
              <a:lnSpc>
                <a:spcPct val="150000"/>
              </a:lnSpc>
              <a:buNone/>
            </a:pPr>
            <a:r>
              <a:rPr lang="en-US" sz="1875" dirty="0">
                <a:solidFill>
                  <a:srgbClr val="FFFFFF"/>
                </a:solidFill>
                <a:latin typeface="Arial" pitchFamily="34" charset="0"/>
                <a:ea typeface="Arial" pitchFamily="34" charset="-122"/>
                <a:cs typeface="Arial" pitchFamily="34" charset="-120"/>
              </a:rPr>
              <a:t>PSM 2 documentation + viva</a:t>
            </a:r>
            <a:endParaRPr lang="en-US" sz="1875" dirty="0"/>
          </a:p>
        </p:txBody>
      </p:sp>
      <p:sp>
        <p:nvSpPr>
          <p:cNvPr id="47" name="Text 44"/>
          <p:cNvSpPr/>
          <p:nvPr/>
        </p:nvSpPr>
        <p:spPr>
          <a:xfrm>
            <a:off x="952500" y="9742170"/>
            <a:ext cx="5536049"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Secure AWS Patient Data System · PSM 1 Viva</a:t>
            </a:r>
            <a:endParaRPr lang="en-US" sz="1800" dirty="0"/>
          </a:p>
        </p:txBody>
      </p:sp>
      <p:sp>
        <p:nvSpPr>
          <p:cNvPr id="48" name="Text 45"/>
          <p:cNvSpPr/>
          <p:nvPr/>
        </p:nvSpPr>
        <p:spPr>
          <a:xfrm>
            <a:off x="16603027" y="9742170"/>
            <a:ext cx="80867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8" dirty="0">
                <a:solidFill>
                  <a:srgbClr val="9A8C7E"/>
                </a:solidFill>
                <a:latin typeface="Arial" pitchFamily="34" charset="0"/>
                <a:ea typeface="Arial" pitchFamily="34" charset="-122"/>
                <a:cs typeface="Arial" pitchFamily="34" charset="-120"/>
              </a:rPr>
              <a:t>13 / 14</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74121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7250" y="476250"/>
            <a:ext cx="1808083" cy="609600"/>
          </a:xfrm>
          <a:prstGeom prst="rect">
            <a:avLst/>
          </a:prstGeom>
        </p:spPr>
      </p:pic>
      <p:sp>
        <p:nvSpPr>
          <p:cNvPr id="3" name="Text 0"/>
          <p:cNvSpPr/>
          <p:nvPr/>
        </p:nvSpPr>
        <p:spPr>
          <a:xfrm>
            <a:off x="14830425" y="590550"/>
            <a:ext cx="2860358"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00" dirty="0">
                <a:solidFill>
                  <a:srgbClr val="E7D7C1"/>
                </a:solidFill>
                <a:latin typeface="Arial" pitchFamily="34" charset="0"/>
                <a:ea typeface="Arial" pitchFamily="34" charset="-122"/>
                <a:cs typeface="Arial" pitchFamily="34" charset="-120"/>
              </a:rPr>
              <a:t>PSM 1 VIVA · 2026</a:t>
            </a:r>
            <a:endParaRPr lang="en-US" sz="1800" dirty="0"/>
          </a:p>
        </p:txBody>
      </p:sp>
      <p:sp>
        <p:nvSpPr>
          <p:cNvPr id="4" name="Shape 1"/>
          <p:cNvSpPr/>
          <p:nvPr/>
        </p:nvSpPr>
        <p:spPr>
          <a:xfrm>
            <a:off x="13335000" y="0"/>
            <a:ext cx="4953000" cy="10287000"/>
          </a:xfrm>
          <a:prstGeom prst="rect">
            <a:avLst/>
          </a:prstGeom>
          <a:gradFill rotWithShape="1">
            <a:gsLst>
              <a:gs pos="0">
                <a:srgbClr val="B19C7D">
                  <a:alpha val="18000"/>
                </a:srgbClr>
              </a:gs>
              <a:gs pos="70000">
                <a:srgbClr val="B19C7D">
                  <a:alpha val="0"/>
                </a:srgbClr>
              </a:gs>
            </a:gsLst>
            <a:lin ang="2700000" scaled="0"/>
          </a:gradFill>
          <a:ln/>
        </p:spPr>
      </p:sp>
      <p:sp>
        <p:nvSpPr>
          <p:cNvPr id="5" name="Text 2"/>
          <p:cNvSpPr/>
          <p:nvPr/>
        </p:nvSpPr>
        <p:spPr>
          <a:xfrm>
            <a:off x="857250" y="2809875"/>
            <a:ext cx="18230850" cy="342900"/>
          </a:xfrm>
          <a:prstGeom prst="rect">
            <a:avLst/>
          </a:prstGeom>
          <a:noFill/>
          <a:ln/>
        </p:spPr>
        <p:txBody>
          <a:bodyPr wrap="square" lIns="25400" tIns="25400" rIns="25400" bIns="25400" rtlCol="0" anchor="t">
            <a:normAutofit lnSpcReduction="10000"/>
          </a:bodyPr>
          <a:lstStyle/>
          <a:p>
            <a:pPr marL="0" indent="0" algn="l">
              <a:buNone/>
            </a:pPr>
            <a:r>
              <a:rPr lang="en-US" sz="2100" kern="0" spc="450" dirty="0">
                <a:solidFill>
                  <a:srgbClr val="B19C7D"/>
                </a:solidFill>
                <a:latin typeface="Arial" pitchFamily="34" charset="0"/>
                <a:ea typeface="Arial" pitchFamily="34" charset="-122"/>
                <a:cs typeface="Arial" pitchFamily="34" charset="-120"/>
              </a:rPr>
              <a:t>QUESTIONS &amp; DISCUSSION</a:t>
            </a:r>
            <a:endParaRPr lang="en-US" sz="2100" dirty="0"/>
          </a:p>
        </p:txBody>
      </p:sp>
      <p:sp>
        <p:nvSpPr>
          <p:cNvPr id="6" name="Text 3"/>
          <p:cNvSpPr/>
          <p:nvPr/>
        </p:nvSpPr>
        <p:spPr>
          <a:xfrm>
            <a:off x="857250" y="3286125"/>
            <a:ext cx="18230850" cy="1752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13500" b="1" kern="0" spc="-225" dirty="0">
                <a:solidFill>
                  <a:srgbClr val="FFFFFF"/>
                </a:solidFill>
                <a:latin typeface="Arial" pitchFamily="34" charset="0"/>
                <a:ea typeface="Arial" pitchFamily="34" charset="-122"/>
                <a:cs typeface="Arial" pitchFamily="34" charset="-120"/>
              </a:rPr>
              <a:t>Thank You.</a:t>
            </a:r>
            <a:endParaRPr lang="en-US" sz="13500" dirty="0"/>
          </a:p>
        </p:txBody>
      </p:sp>
      <p:sp>
        <p:nvSpPr>
          <p:cNvPr id="7" name="Shape 4"/>
          <p:cNvSpPr/>
          <p:nvPr/>
        </p:nvSpPr>
        <p:spPr>
          <a:xfrm>
            <a:off x="857250" y="5419725"/>
            <a:ext cx="1333500" cy="57150"/>
          </a:xfrm>
          <a:prstGeom prst="roundRect">
            <a:avLst>
              <a:gd name="adj" fmla="val 50000"/>
            </a:avLst>
          </a:prstGeom>
          <a:solidFill>
            <a:srgbClr val="B19C7D"/>
          </a:solidFill>
          <a:ln/>
        </p:spPr>
      </p:sp>
      <p:sp>
        <p:nvSpPr>
          <p:cNvPr id="8" name="Text 5"/>
          <p:cNvSpPr/>
          <p:nvPr/>
        </p:nvSpPr>
        <p:spPr>
          <a:xfrm>
            <a:off x="857250" y="5857875"/>
            <a:ext cx="1402283"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E7D7C1"/>
                </a:solidFill>
                <a:latin typeface="Arial" pitchFamily="34" charset="0"/>
                <a:ea typeface="Arial" pitchFamily="34" charset="-122"/>
                <a:cs typeface="Arial" pitchFamily="34" charset="-120"/>
              </a:rPr>
              <a:t>Project</a:t>
            </a:r>
            <a:endParaRPr lang="en-US" sz="2100" dirty="0"/>
          </a:p>
        </p:txBody>
      </p:sp>
      <p:sp>
        <p:nvSpPr>
          <p:cNvPr id="9" name="Text 6"/>
          <p:cNvSpPr/>
          <p:nvPr/>
        </p:nvSpPr>
        <p:spPr>
          <a:xfrm>
            <a:off x="2474952" y="5857875"/>
            <a:ext cx="13936777"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FFFFFF"/>
                </a:solidFill>
                <a:latin typeface="Arial" pitchFamily="34" charset="0"/>
                <a:ea typeface="Arial" pitchFamily="34" charset="-122"/>
                <a:cs typeface="Arial" pitchFamily="34" charset="-120"/>
              </a:rPr>
              <a:t>Secure Cloud-Based Patient Data Management System — Three-Tier Architecture on AWS</a:t>
            </a:r>
            <a:endParaRPr lang="en-US" sz="2100" dirty="0"/>
          </a:p>
        </p:txBody>
      </p:sp>
      <p:sp>
        <p:nvSpPr>
          <p:cNvPr id="10" name="Text 7"/>
          <p:cNvSpPr/>
          <p:nvPr/>
        </p:nvSpPr>
        <p:spPr>
          <a:xfrm>
            <a:off x="857250" y="6296025"/>
            <a:ext cx="1402283"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E7D7C1"/>
                </a:solidFill>
                <a:latin typeface="Arial" pitchFamily="34" charset="0"/>
                <a:ea typeface="Arial" pitchFamily="34" charset="-122"/>
                <a:cs typeface="Arial" pitchFamily="34" charset="-120"/>
              </a:rPr>
              <a:t>Presenter</a:t>
            </a:r>
            <a:endParaRPr lang="en-US" sz="2100" dirty="0"/>
          </a:p>
        </p:txBody>
      </p:sp>
      <p:sp>
        <p:nvSpPr>
          <p:cNvPr id="11" name="Text 8"/>
          <p:cNvSpPr/>
          <p:nvPr/>
        </p:nvSpPr>
        <p:spPr>
          <a:xfrm>
            <a:off x="2474952" y="6296025"/>
            <a:ext cx="13936777"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FFFFFF"/>
                </a:solidFill>
                <a:latin typeface="Arial" pitchFamily="34" charset="0"/>
                <a:ea typeface="Arial" pitchFamily="34" charset="-122"/>
                <a:cs typeface="Arial" pitchFamily="34" charset="-120"/>
              </a:rPr>
              <a:t>Mohamed Omar Makhlouf</a:t>
            </a:r>
            <a:endParaRPr lang="en-US" sz="2100" dirty="0"/>
          </a:p>
        </p:txBody>
      </p:sp>
      <p:sp>
        <p:nvSpPr>
          <p:cNvPr id="12" name="Text 9"/>
          <p:cNvSpPr/>
          <p:nvPr/>
        </p:nvSpPr>
        <p:spPr>
          <a:xfrm>
            <a:off x="857250" y="6734175"/>
            <a:ext cx="1402283"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E7D7C1"/>
                </a:solidFill>
                <a:latin typeface="Arial" pitchFamily="34" charset="0"/>
                <a:ea typeface="Arial" pitchFamily="34" charset="-122"/>
                <a:cs typeface="Arial" pitchFamily="34" charset="-120"/>
              </a:rPr>
              <a:t>Supervisor</a:t>
            </a:r>
            <a:endParaRPr lang="en-US" sz="2100" dirty="0"/>
          </a:p>
        </p:txBody>
      </p:sp>
      <p:sp>
        <p:nvSpPr>
          <p:cNvPr id="13" name="Text 10"/>
          <p:cNvSpPr/>
          <p:nvPr/>
        </p:nvSpPr>
        <p:spPr>
          <a:xfrm>
            <a:off x="2474952" y="6734175"/>
            <a:ext cx="13936777"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FFFFFF"/>
                </a:solidFill>
                <a:latin typeface="Arial" pitchFamily="34" charset="0"/>
                <a:ea typeface="Arial" pitchFamily="34" charset="-122"/>
                <a:cs typeface="Arial" pitchFamily="34" charset="-120"/>
              </a:rPr>
              <a:t>Mr. Johan Mohamed Sharif</a:t>
            </a:r>
            <a:endParaRPr lang="en-US" sz="2100" dirty="0"/>
          </a:p>
        </p:txBody>
      </p:sp>
      <p:sp>
        <p:nvSpPr>
          <p:cNvPr id="14" name="Text 11"/>
          <p:cNvSpPr/>
          <p:nvPr/>
        </p:nvSpPr>
        <p:spPr>
          <a:xfrm>
            <a:off x="857250" y="7172325"/>
            <a:ext cx="1402283"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E7D7C1"/>
                </a:solidFill>
                <a:latin typeface="Arial" pitchFamily="34" charset="0"/>
                <a:ea typeface="Arial" pitchFamily="34" charset="-122"/>
                <a:cs typeface="Arial" pitchFamily="34" charset="-120"/>
              </a:rPr>
              <a:t>Faculty</a:t>
            </a:r>
            <a:endParaRPr lang="en-US" sz="2100" dirty="0"/>
          </a:p>
        </p:txBody>
      </p:sp>
      <p:sp>
        <p:nvSpPr>
          <p:cNvPr id="15" name="Text 12"/>
          <p:cNvSpPr/>
          <p:nvPr/>
        </p:nvSpPr>
        <p:spPr>
          <a:xfrm>
            <a:off x="2474952" y="7172325"/>
            <a:ext cx="13936777" cy="3429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FFFFFF"/>
                </a:solidFill>
                <a:latin typeface="Arial" pitchFamily="34" charset="0"/>
                <a:ea typeface="Arial" pitchFamily="34" charset="-122"/>
                <a:cs typeface="Arial" pitchFamily="34" charset="-120"/>
              </a:rPr>
              <a:t>SECRH · Universiti Teknologi Malaysia, Johor Bahru</a:t>
            </a:r>
            <a:endParaRPr lang="en-US" sz="2100" dirty="0"/>
          </a:p>
        </p:txBody>
      </p:sp>
      <p:sp>
        <p:nvSpPr>
          <p:cNvPr id="16" name="Text 13"/>
          <p:cNvSpPr/>
          <p:nvPr/>
        </p:nvSpPr>
        <p:spPr>
          <a:xfrm>
            <a:off x="857250" y="9551670"/>
            <a:ext cx="2474393"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i="1" kern="0" spc="75" dirty="0">
                <a:solidFill>
                  <a:srgbClr val="B19C7D"/>
                </a:solidFill>
                <a:latin typeface="Arial" pitchFamily="34" charset="0"/>
                <a:ea typeface="Arial" pitchFamily="34" charset="-122"/>
                <a:cs typeface="Arial" pitchFamily="34" charset="-120"/>
              </a:rPr>
              <a:t>Innovating Solutions</a:t>
            </a:r>
            <a:endParaRPr lang="en-US" sz="1800" dirty="0"/>
          </a:p>
        </p:txBody>
      </p:sp>
      <p:sp>
        <p:nvSpPr>
          <p:cNvPr id="17" name="Text 14"/>
          <p:cNvSpPr/>
          <p:nvPr/>
        </p:nvSpPr>
        <p:spPr>
          <a:xfrm>
            <a:off x="16664940" y="9551670"/>
            <a:ext cx="84201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5" dirty="0">
                <a:solidFill>
                  <a:srgbClr val="B19C7D"/>
                </a:solidFill>
                <a:latin typeface="Arial" pitchFamily="34" charset="0"/>
                <a:ea typeface="Arial" pitchFamily="34" charset="-122"/>
                <a:cs typeface="Arial" pitchFamily="34" charset="-120"/>
              </a:rPr>
              <a:t>14 / 14</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3494</Words>
  <Application>Microsoft Office PowerPoint</Application>
  <PresentationFormat>Custom</PresentationFormat>
  <Paragraphs>336</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Muhammed omar</cp:lastModifiedBy>
  <cp:revision>4</cp:revision>
  <dcterms:created xsi:type="dcterms:W3CDTF">2026-06-25T19:59:45Z</dcterms:created>
  <dcterms:modified xsi:type="dcterms:W3CDTF">2026-06-26T08:46:19Z</dcterms:modified>
</cp:coreProperties>
</file>