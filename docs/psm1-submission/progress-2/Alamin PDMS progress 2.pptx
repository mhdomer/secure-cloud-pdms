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TC Avant Garde Gothic" charset="1" panose="020B0502020202020204"/>
      <p:regular r:id="rId22"/>
    </p:embeddedFont>
    <p:embeddedFont>
      <p:font typeface="TT Fors" charset="1" panose="020B0003030001020000"/>
      <p:regular r:id="rId23"/>
    </p:embeddedFont>
    <p:embeddedFont>
      <p:font typeface="TT Fors Bold" charset="1" panose="020B000303000102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Secure Cloud-Based Patient Data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UNIVERSITI TEKNOLOGI MALAYSIA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Mohamed Omar Mohamed Gad Makhlouf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4032858"/>
            <a:chOff x="0" y="0"/>
            <a:chExt cx="14935200" cy="5377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Presentation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This presentation discusses the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selection of methodologies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and the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detailed analysis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of requirements and design, providing insights into the system's architecture, security measures, and implementation strategies.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TT Fors"/>
                  <a:ea typeface="TT Fors"/>
                  <a:cs typeface="TT Fors"/>
                  <a:sym typeface="TT Fors"/>
                </a:rPr>
                <a:t>Chapters 3 and 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367627"/>
            <a:chOff x="0" y="0"/>
            <a:chExt cx="5346700" cy="44901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34576"/>
              <a:ext cx="5346700" cy="3355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Waterfall model is a linear approach, making it </a:t>
              </a:r>
              <a:r>
                <a:rPr lang="en-US" b="true" sz="2073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rigid and unsuitable</a:t>
              </a: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for evolving security requirements, limiting adaptability and responsiveness to change throughout the development process.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Waterfall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729577"/>
            <a:chOff x="0" y="0"/>
            <a:chExt cx="5346700" cy="4972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5346700" cy="3838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While Scrum offers iterative development, its structure lacks built-in security integration, potentially leaving critical vulnerabilities unaddressed during each sprint and impacting overall system security robustness.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Scrum Methodology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729577"/>
            <a:chOff x="0" y="0"/>
            <a:chExt cx="5346700" cy="4972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5346700" cy="3838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Agile DevSecOps is the chosen methodology, integrating security into every stage of development, ensuring continuous compliance, and allowing for </a:t>
              </a:r>
              <a:r>
                <a:rPr lang="en-US" b="true" sz="2073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adaptive security measures</a:t>
              </a: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that evolve alongside changing project needs.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Agile DevSecOps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Methodology Selection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2980B9"/>
                  </a:solidFill>
                  <a:latin typeface="TT Fors"/>
                  <a:ea typeface="TT Fors"/>
                  <a:cs typeface="TT Fors"/>
                  <a:sym typeface="TT Fors"/>
                </a:rPr>
                <a:t>Evaluating Best Practices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813810"/>
            <a:chOff x="0" y="0"/>
            <a:chExt cx="5346700" cy="5085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Security integration is crucial in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Agile DevSecOps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, ensuring that security measures are embedded throughout the development lifecycle, reducing vulnerabilities and enhancing overall system resilience effectively.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Integration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813810"/>
            <a:chOff x="0" y="0"/>
            <a:chExt cx="5346700" cy="50850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An iterative approach allows for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continuous feedback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, enabling teams to adapt to changing requirements while maintaining focus on delivering secure and high-quality solutions during every development phase.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Iterative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 comparative analysis of methodologies shows that while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Waterfall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lacks flexibility and built-in security, Agile DevSecOps uniquely addresses both iterative development and strict security requirements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Comparative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Methodology Comparison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5814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2980B9"/>
                  </a:solidFill>
                  <a:latin typeface="TT Fors"/>
                  <a:ea typeface="TT Fors"/>
                  <a:cs typeface="TT Fors"/>
                  <a:sym typeface="TT Fors"/>
                </a:rPr>
                <a:t>Iterative Development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Five-Sprint Structure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699609"/>
            <a:chOff x="0" y="0"/>
            <a:chExt cx="9182100" cy="22661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23121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</a:pP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five sprints focus on essential components, including architecture, application layers, and security evaluations, to ensure systematic progression.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Sprint Iterations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699609"/>
            <a:chOff x="0" y="0"/>
            <a:chExt cx="9182100" cy="226614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23121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</a:pP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Each sprint starts with a </a:t>
              </a:r>
              <a:r>
                <a:rPr lang="en-US" b="true" sz="1968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detailed planning session</a:t>
              </a: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 to outline tasks, objectives, and security gates for the upcoming stages.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Sprint Planning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699609"/>
            <a:chOff x="0" y="0"/>
            <a:chExt cx="9182100" cy="226614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23121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</a:pP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Regular evaluations during each sprint allow for </a:t>
              </a:r>
              <a:r>
                <a:rPr lang="en-US" b="true" sz="1968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immediate adjustments</a:t>
              </a: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, ensuring that security measures remain effective and aligned with project objectives.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Continuous Evaluation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699609"/>
            <a:chOff x="0" y="0"/>
            <a:chExt cx="9182100" cy="226614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23121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</a:pP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Security gates ensure that every </a:t>
              </a:r>
              <a:r>
                <a:rPr lang="en-US" b="true" sz="1968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sprint meets compliance</a:t>
              </a:r>
              <a:r>
                <a:rPr lang="en-US" sz="1968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, conducting necessary reviews and tests to maintain system integrity throughout development.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Gates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Technology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54146"/>
            <a:chOff x="0" y="0"/>
            <a:chExt cx="9182100" cy="23388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13667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Tools like Trivy and SonarQube integrate into the pipeline to automatically scan for vulnerabilities and enforce security best practices throughout development.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Automation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2116096"/>
            <a:chOff x="0" y="0"/>
            <a:chExt cx="9182100" cy="282146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13667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Docker encapsulates applications within containers, ensuring consistency across environments and simplifying deployment and scaling processes for the application.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Containerization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754146"/>
            <a:chOff x="0" y="0"/>
            <a:chExt cx="9182100" cy="23388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13667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AWS provides a robust cloud infrastructure, offering services like EC2, RDS, and ALB for scalable application deployment and management.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AWS Infrastructure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7829550"/>
            <a:ext cx="6886575" cy="1754146"/>
            <a:chOff x="0" y="0"/>
            <a:chExt cx="9182100" cy="23388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13667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PostgreSQL, as a relational database, ensures reliable data storage with advanced features like row-level security and automated backups for data protection.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Database Management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5143500"/>
            <a:ext cx="6886575" cy="2116096"/>
            <a:chOff x="0" y="0"/>
            <a:chExt cx="9182100" cy="282146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13667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GitHub Actions automates the software development lifecycle, enabling seamless integration and delivery pipelines that enhance deployment efficiency and accuracy.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CI/CD Tools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2457450"/>
            <a:ext cx="6886575" cy="1754146"/>
            <a:chOff x="0" y="0"/>
            <a:chExt cx="9182100" cy="233886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13667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Terraform allows for declarative infrastructure management, enabling automated provisioning and configuration of cloud resources in a consistent manner.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Infrastructure as Code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 Case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Exploring Doctor, Admin, and Patient Roles and Interactions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doctor can view assigned patients, create, update medical records, and access medical histories and appointments efficiently through the system.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Doctor Role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admin manages patient registrations, schedules appointments, and oversees user accounts while ensuring system integrity and patient privacy.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Admin Role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Patients can view their own medical records and appointments in a read-only format, promoting transparency and patient engagement in their care.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Patient Role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AWS Three-Tier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PostgreSQL databases are hosted on Amazon RDS within isolated subnets, ensuring high availability and security with no direct internet access.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Tier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Presentation Tier utilizes a React frontend, served by an Application Load Balancer, ensuring accessibility and responsive user experiences.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Presentation Tier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architecture consists of six subnets across two Availability Zones, enhancing reliability and ensuring operational continuity during failures.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High Availability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2162175"/>
            <a:chOff x="0" y="0"/>
            <a:chExt cx="9182100" cy="28829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Node.js Express applications run on EC2 instances within private application subnets, providing a secure environment for processing requests and data management.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Application Tier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Network Security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Network Access Control Lists (NACLs) manage traffic at the subnet level, providing an additional layer of security through stateless rules.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NACLs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Defense-in-depth implements layers of security controls to protect data, providing multiple barriers against potential threats and vulnerabilities.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Defense-in-Depth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Isolating sensitive components ensures that critical systems, such as databases, remain secure from external access, reducing the risk of data breaches.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Isolation Measures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Security groups act as virtual firewalls, controlling traffic to resources, allowing only desired connections while blocking all unsolicited access.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Groups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Design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Implementing a Robust Three-Layer RBAC Framework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JWT Authentication ensures secure user login and session management, utilizing bcrypt hashing for password protection and account lockout mechanisms.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Layer 1: JWT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Application RBAC middleware validates user roles via JWT on every API call, returning HTTP 403 status for unauthorized access attempts.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Layer 2: Application RBAC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PostgreSQL Row-Level Security enforces strict data isolation at the storage layer, preventing unauthorized access regardless of application logic or behavior.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Layer 3: PostgreSQL RLS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DevSecOps Pipeline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53"/>
            <a:chOff x="0" y="0"/>
            <a:chExt cx="9182100" cy="23876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infrastructure as code (IaC) scan with Checkov checks for policy violations, blocking the pipeline for any high or critical issues.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IaC Scan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1790753"/>
            <a:chOff x="0" y="0"/>
            <a:chExt cx="9182100" cy="23876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next stage involves building the application image using Docker, packaging all dependencies for a consistent runtime environment.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Docker Build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790753"/>
            <a:chOff x="0" y="0"/>
            <a:chExt cx="9182100" cy="238767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pipeline begins with code checkout and dependency installation, ensuring all necessary components are ready for the build process.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Code Checkout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7829550"/>
            <a:ext cx="6886575" cy="1790753"/>
            <a:chOff x="0" y="0"/>
            <a:chExt cx="9182100" cy="23876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Finally, the Terraform Apply stage is executed only after all preceding scans pass, ensuring secure and compliant infrastructure deployment.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Terraform Apply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5143500"/>
            <a:ext cx="6886575" cy="1790753"/>
            <a:chOff x="0" y="0"/>
            <a:chExt cx="9182100" cy="23876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 Trivy container image scan checks for critical CVEs, ensuring the application image is secure before deployment to production.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Container Image Scan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2457450"/>
            <a:ext cx="6886575" cy="1790753"/>
            <a:chOff x="0" y="0"/>
            <a:chExt cx="9182100" cy="238767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 SonarQube SAST scan is performed to identify critical blocker findings, preventing vulnerabilities from entering the codebase early.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SAST Scan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Database Schema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53"/>
            <a:chOff x="0" y="0"/>
            <a:chExt cx="9182100" cy="23876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appointments table tracks scheduled visits, cancellations, and updates, facilitating effective patient-doctor interaction and time management.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Appointments Table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1790753"/>
            <a:chOff x="0" y="0"/>
            <a:chExt cx="9182100" cy="23876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doctors table maintains profiles of healthcare professionals, linking them to their assigned patients and specialties for efficient management.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Doctors Table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790753"/>
            <a:chOff x="0" y="0"/>
            <a:chExt cx="9182100" cy="238767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users table stores unique identifiers, user roles, and authentication credentials for secure access management.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Users Table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7829550"/>
            <a:ext cx="6886575" cy="1790753"/>
            <a:chOff x="0" y="0"/>
            <a:chExt cx="9182100" cy="23876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audit log records all user actions, providing a transparent trail for compliance and security monitoring throughout the system.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Audit Log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5143500"/>
            <a:ext cx="6886575" cy="1790753"/>
            <a:chOff x="0" y="0"/>
            <a:chExt cx="9182100" cy="23876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records table captures medical records, treatment histories, and notes for each patient, ensuring easy retrieval and compliance with regulations.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Records Table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2457450"/>
            <a:ext cx="6886575" cy="1790753"/>
            <a:chOff x="0" y="0"/>
            <a:chExt cx="9182100" cy="238767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The patients table contains patient-specific information, including demographic data and medical histories, ensuring comprehensive record-keeping.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Patients Table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698115"/>
            <a:chOff x="0" y="0"/>
            <a:chExt cx="3429000" cy="35974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Access control enforced through RBAC middleware and PostgreSQL RLS policies.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Audit controls implemented via an audit log and AWS CloudTrail integration.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1955165"/>
            <a:chOff x="0" y="0"/>
            <a:chExt cx="3429000" cy="2606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Encryption for data at rest and in transit using KMS and TLS.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698115"/>
            <a:chOff x="0" y="0"/>
            <a:chExt cx="3429000" cy="35974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Authentication strengthened by bcrypt hashing and account lockout mechanisms.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HIPAA Compliance 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2C3E5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Interface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1524000"/>
            <a:ext cx="6886575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The Interface Design includes the following components: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2C3E50"/>
                </a:solidFill>
                <a:latin typeface="TT Fors Bold"/>
                <a:ea typeface="TT Fors Bold"/>
                <a:cs typeface="TT Fors Bold"/>
                <a:sym typeface="TT Fors Bold"/>
              </a:rPr>
              <a:t>Login Screen</a:t>
            </a:r>
            <a:r>
              <a:rPr lang="en-US" sz="21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: Single entry point for all roles, with JWT handling redirection to the appropriate dashboard.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2C3E50"/>
                </a:solidFill>
                <a:latin typeface="TT Fors Bold"/>
                <a:ea typeface="TT Fors Bold"/>
                <a:cs typeface="TT Fors Bold"/>
                <a:sym typeface="TT Fors Bold"/>
              </a:rPr>
              <a:t>Doctor Dashboard</a:t>
            </a:r>
            <a:r>
              <a:rPr lang="en-US" sz="21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: Displays assigned patient list and today's appointments, along with actions for viewing records and creating new entries.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2C3E50"/>
                </a:solidFill>
                <a:latin typeface="TT Fors Bold"/>
                <a:ea typeface="TT Fors Bold"/>
                <a:cs typeface="TT Fors Bold"/>
                <a:sym typeface="TT Fors Bold"/>
              </a:rPr>
              <a:t>Admin Dashboard</a:t>
            </a:r>
            <a:r>
              <a:rPr lang="en-US" sz="21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: Features an upcoming appointments table with functionalities to edit, cancel, and quick register new patients, without exposing any medical record content.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2C3E50"/>
                </a:solidFill>
                <a:latin typeface="TT Fors Bold"/>
                <a:ea typeface="TT Fors Bold"/>
                <a:cs typeface="TT Fors Bold"/>
                <a:sym typeface="TT Fors Bold"/>
              </a:rPr>
              <a:t>Patient Portal</a:t>
            </a:r>
            <a:r>
              <a:rPr lang="en-US" sz="2100">
                <a:solidFill>
                  <a:srgbClr val="2C3E50"/>
                </a:solidFill>
                <a:latin typeface="TT Fors"/>
                <a:ea typeface="TT Fors"/>
                <a:cs typeface="TT Fors"/>
                <a:sym typeface="TT Fors"/>
              </a:rPr>
              <a:t>: Offers a read-only timeline of medical records, ensuring no create, edit, or delete controls are available for enhanced data security.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4032858"/>
            <a:chOff x="0" y="0"/>
            <a:chExt cx="14935200" cy="5377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Chapter Summary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This presentation detailed </a:t>
              </a:r>
              <a:r>
                <a:rPr lang="en-US" b="true" sz="2100">
                  <a:solidFill>
                    <a:srgbClr val="2C3E5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Agile DevSecOps methodology</a:t>
              </a:r>
              <a:r>
                <a:rPr lang="en-US" sz="2100">
                  <a:solidFill>
                    <a:srgbClr val="2C3E50"/>
                  </a:solidFill>
                  <a:latin typeface="TT Fors"/>
                  <a:ea typeface="TT Fors"/>
                  <a:cs typeface="TT Fors"/>
                  <a:sym typeface="TT Fors"/>
                </a:rPr>
                <a:t>, three-tier architecture, and robust security measures, ensuring full HIPAA compliance. The system is now ready for implementation in the PSM2 phase.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980B9"/>
                  </a:solidFill>
                  <a:latin typeface="TT Fors"/>
                  <a:ea typeface="TT Fors"/>
                  <a:cs typeface="TT Fors"/>
                  <a:sym typeface="TT Fors"/>
                </a:rPr>
                <a:t>Key Concepts and Findings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171825"/>
            <a:chOff x="0" y="0"/>
            <a:chExt cx="11099800" cy="4229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or feedback?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2C3E5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 for your attention today!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عرض تقديمي - Secure Cloud-Based Patient Data</dc:description>
  <dc:identifier>DAHLO58EL3s</dc:identifier>
  <dcterms:modified xsi:type="dcterms:W3CDTF">2011-08-01T06:04:30Z</dcterms:modified>
  <cp:revision>1</cp:revision>
  <dc:title>عرض تقديمي - Secure Cloud-Based Patient Data</dc:title>
</cp:coreProperties>
</file>